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Two parts today: first, Vespa — the search engine I evaluated and built a hands-on exercise with; second, the Financial Assistant that's live on AWS and the issues I'm tackling next. About ten minutes including a quick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what Vespa is and why it matters; the hands-on exercise and its measured results; then the Financial Assistant — a quick demo and the three issues I'm picking up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Most teams that build search or RAG run three separate systems — a keyword engine like Elasticsearch, a vector database like Pinecone, and a separate reranking service. That means two copies of the data, ranking that happens far from the data across the network, a freshness lag, and a lot of glue. Turn: Vespa is one open-source engine that does all three, in a single query, computed on the same nodes that store the data. Built inside Yahoo at the scale of a billion users, open-sourced in 2017, independent company since 2023. Proof of life: it's the engine behind Perplexity's retrieval, Spotify's podcast search, and Vinted's marketplace.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the important part: I didn't just read about it — I built a hybrid-search app on Vespa in Python and ran it locally. Deployed in Docker, fed 171,332 documents — Vespa embedded each one itself — and compared keyword-only, semantic-only, and hybrid using nDCG@10, a standard search-quality metric with human relevance judgments. Hybrid won clearly: 0.74 vs 0.59 vs 0.51, a 25% lift — and queries came back in 5 to 14 milliseconds across all 171k docs, on one laptop, scaling horizontally to billions. Walk the three differentiators; land real-time updates. Be honest about the trade-offs — it builds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timed take-home exercise: build a conversational agent that answers practitioner questions — "a good magnesium for sleep?", "vitamin D without soy?" — grounded in real supplement data. My solution: a FastAPI /chat endpoint parses the question with a lightweight rule parser, filters a SQLite product store behind a swappable DataSource adapter, then the LLM synthesizes a grounded answer streamed over SSE, with the source products cited in the UI. Real OpenAI call, with a mock fallback for no-cost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submission we recorded a short video covering decisions, what worked, and what I'd improve. Decisions: a curated mock dataset over a live API for demo control and speed, with an adapter seam so NIH DSLD or USDA is a drop-in; a rule-based parser for speed and zero token cost; SSE streaming with cited sources for transparency. What worked: clean extensibility, grounded answers with no hallucination, a real LLM with a mock fallback for no-cost dev, and shipping end-to-end inside the time box. What I'd improve: swap the mock for the 200k-label NIH DSLD API, upgrade intent extraction to an LLM function call, and add auth, persistence and tests beyond prototype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live on AWS. A DecisionAgent routes each question and streams its reasoning, then delegates to specialists — Price (PostgreSQL + Alpha Vantage), News (Alpha Vantage), and SEC RAG over a hybrid Qdrant index (dense + BM25, fused with RRF — the same idea from the Vespa exercise). Answers stream token by token over SSE. Quality is tracked in Phoenix with six graders; on FinanceBench we sit at 28% qa-correctness, inside the published 29-34% range. Quick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pending item, and the easiest win. Today specialists run one after another, so a price-plus-news question takes about 60 seconds. The routing schema already supports execution_order parallel — only the executor is missing. A roughly ten-line ThreadPoolExecutor change runs independent specialists at once and drops multi-agent latency to about 35 seconds. Low effort, immediate user-facing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item. The News agent's get_news only takes a ticker, so topic questions like AI regulation or semiconductor news can't be answered. And the raw Alpha Vantage response — 50 articles of JSON — overflows the 6,000-character tool limit, so the model sees truncated data. Fix is an aggregator: one common connector interface behind the agent, combining Alpha Vantage for tickers and sentiment, NewsAPI for keyword search across 150k sources, and GDELT for unlimited global coverage. Add a get_news_by_keywords tool. This unlocks a whole class of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item, and the one I'd do first because it's risk, not features. Three gaps stand out. Admin endpoints have no auth — anyone can trigger destructive ingestion; fix is a one-line API-key dependency. The Phoenix UI is public on the ALB at port 6006 and it stores full prompts and responses, including financial queries — restrict it to a VPN CIDR. And the decision endpoint has no rate limit, where one query can fan out to roughly sixteen LLM calls — a single user could exhaust the quota; add slowapi at ten per minute. The first two are low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 order of work. First the two security quick wins, days not weeks. Then parallel execution for the latency win. Then the news aggregator to expand what the assistant can answer. And in parallel on the Vespa side, I'd propose a short spike on a real client use case — RAG at scale or search consolidation — where the hybrid approach pays off.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7E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6528" b="6528"/>
          <a:stretch/>
        </p:blipFill>
        <p:spPr>
          <a:xfrm>
            <a:off x="0" y="0"/>
            <a:ext cx="18288000" cy="10287000"/>
          </a:xfrm>
          <a:prstGeom prst="rect">
            <a:avLst/>
          </a:prstGeom>
        </p:spPr>
      </p:pic>
      <p:pic>
        <p:nvPicPr>
          <p:cNvPr id="3" name="Image 1" descr="preencoded.png">    </p:cNvPr>
          <p:cNvPicPr>
            <a:picLocks noChangeAspect="1"/>
          </p:cNvPicPr>
          <p:nvPr/>
        </p:nvPicPr>
        <p:blipFill>
          <a:blip r:embed="rId2"/>
          <a:stretch>
            <a:fillRect/>
          </a:stretch>
        </p:blipFill>
        <p:spPr>
          <a:xfrm>
            <a:off x="952500" y="800100"/>
            <a:ext cx="1550715" cy="361950"/>
          </a:xfrm>
          <a:prstGeom prst="rect">
            <a:avLst/>
          </a:prstGeom>
        </p:spPr>
      </p:pic>
      <p:sp>
        <p:nvSpPr>
          <p:cNvPr id="4" name="Text 0"/>
          <p:cNvSpPr/>
          <p:nvPr/>
        </p:nvSpPr>
        <p:spPr>
          <a:xfrm>
            <a:off x="952500" y="3900488"/>
            <a:ext cx="18021300" cy="219075"/>
          </a:xfrm>
          <a:prstGeom prst="rect">
            <a:avLst/>
          </a:prstGeom>
          <a:noFill/>
          <a:ln/>
        </p:spPr>
        <p:txBody>
          <a:bodyPr wrap="square" lIns="25400" tIns="25400" rIns="25400" bIns="25400" rtlCol="0" anchor="t">
            <a:normAutofit/>
          </a:bodyPr>
          <a:lstStyle/>
          <a:p>
            <a:pPr algn="l" indent="0" marL="0">
              <a:buNone/>
            </a:pPr>
            <a:r>
              <a:rPr lang="en-US" sz="1200" b="1" spc="300" kern="0" dirty="0">
                <a:solidFill>
                  <a:srgbClr val="FFFFFF">
                    <a:alpha val="80000"/>
                  </a:srgbClr>
                </a:solidFill>
                <a:latin typeface="Roboto" pitchFamily="34" charset="0"/>
                <a:ea typeface="Roboto" pitchFamily="34" charset="-122"/>
                <a:cs typeface="Roboto" pitchFamily="34" charset="-120"/>
              </a:rPr>
              <a:t>FACTORED · TECHNICAL REVIEW</a:t>
            </a:r>
            <a:endParaRPr lang="en-US" sz="1200" dirty="0"/>
          </a:p>
        </p:txBody>
      </p:sp>
      <p:sp>
        <p:nvSpPr>
          <p:cNvPr id="5" name="Text 1"/>
          <p:cNvSpPr/>
          <p:nvPr/>
        </p:nvSpPr>
        <p:spPr>
          <a:xfrm>
            <a:off x="952500" y="4252913"/>
            <a:ext cx="12753975" cy="1790700"/>
          </a:xfrm>
          <a:prstGeom prst="rect">
            <a:avLst/>
          </a:prstGeom>
          <a:noFill/>
          <a:ln/>
        </p:spPr>
        <p:txBody>
          <a:bodyPr wrap="square" lIns="25400" tIns="25400" rIns="25400" bIns="25400" rtlCol="0" anchor="t">
            <a:normAutofit/>
          </a:bodyPr>
          <a:lstStyle/>
          <a:p>
            <a:pPr algn="l" indent="0" marL="0">
              <a:lnSpc>
                <a:spcPct val="100000"/>
              </a:lnSpc>
              <a:buNone/>
            </a:pPr>
            <a:r>
              <a:rPr lang="en-US" sz="6900" b="1" spc="-150" kern="0" dirty="0">
                <a:solidFill>
                  <a:srgbClr val="FFFFFF"/>
                </a:solidFill>
                <a:latin typeface="Roboto" pitchFamily="34" charset="0"/>
                <a:ea typeface="Roboto" pitchFamily="34" charset="-122"/>
                <a:cs typeface="Roboto" pitchFamily="34" charset="-120"/>
              </a:rPr>
              <a:t>Hybrid search, and what's next.</a:t>
            </a:r>
            <a:endParaRPr lang="en-US" sz="6900" dirty="0"/>
          </a:p>
        </p:txBody>
      </p:sp>
      <p:sp>
        <p:nvSpPr>
          <p:cNvPr id="6" name="Text 2"/>
          <p:cNvSpPr/>
          <p:nvPr/>
        </p:nvSpPr>
        <p:spPr>
          <a:xfrm>
            <a:off x="952500" y="6253163"/>
            <a:ext cx="1802130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FFFFFF">
                    <a:alpha val="85000"/>
                  </a:srgbClr>
                </a:solidFill>
                <a:latin typeface="Roboto" pitchFamily="34" charset="0"/>
                <a:ea typeface="Roboto" pitchFamily="34" charset="-122"/>
                <a:cs typeface="Roboto" pitchFamily="34" charset="-120"/>
              </a:rPr>
              <a:t>Vespa upskilling exercise · the Financial Assistant roadmap</a:t>
            </a:r>
            <a:endParaRPr lang="en-US" sz="1950" dirty="0"/>
          </a:p>
        </p:txBody>
      </p:sp>
      <p:sp>
        <p:nvSpPr>
          <p:cNvPr id="7" name="Text 3"/>
          <p:cNvSpPr/>
          <p:nvPr/>
        </p:nvSpPr>
        <p:spPr>
          <a:xfrm>
            <a:off x="952500" y="9282113"/>
            <a:ext cx="1710206" cy="242888"/>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80000"/>
                  </a:srgbClr>
                </a:solidFill>
                <a:latin typeface="Roboto Mono" pitchFamily="34" charset="0"/>
                <a:ea typeface="Roboto Mono" pitchFamily="34" charset="-122"/>
                <a:cs typeface="Roboto Mono" pitchFamily="34" charset="-120"/>
              </a:rPr>
              <a:t>Daniel Montenegro</a:t>
            </a:r>
            <a:endParaRPr lang="en-US" sz="1200" dirty="0"/>
          </a:p>
        </p:txBody>
      </p:sp>
      <p:sp>
        <p:nvSpPr>
          <p:cNvPr id="8" name="Text 4"/>
          <p:cNvSpPr/>
          <p:nvPr/>
        </p:nvSpPr>
        <p:spPr>
          <a:xfrm>
            <a:off x="16512406" y="9282113"/>
            <a:ext cx="899294" cy="242888"/>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80000"/>
                  </a:srgbClr>
                </a:solidFill>
                <a:latin typeface="Roboto Mono" pitchFamily="34" charset="0"/>
                <a:ea typeface="Roboto Mono" pitchFamily="34" charset="-122"/>
                <a:cs typeface="Roboto Mono" pitchFamily="34" charset="-120"/>
              </a:rPr>
              <a:t>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704850"/>
            <a:ext cx="1387525" cy="323850"/>
          </a:xfrm>
          <a:prstGeom prst="rect">
            <a:avLst/>
          </a:prstGeom>
        </p:spPr>
      </p:pic>
      <p:sp>
        <p:nvSpPr>
          <p:cNvPr id="3" name="Text 0"/>
          <p:cNvSpPr/>
          <p:nvPr/>
        </p:nvSpPr>
        <p:spPr>
          <a:xfrm>
            <a:off x="16603340" y="783431"/>
            <a:ext cx="808360"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047E5"/>
                </a:solidFill>
                <a:latin typeface="Roboto" pitchFamily="34" charset="0"/>
                <a:ea typeface="Roboto" pitchFamily="34" charset="-122"/>
                <a:cs typeface="Roboto" pitchFamily="34" charset="-120"/>
              </a:rPr>
              <a:t>AGENDA</a:t>
            </a:r>
            <a:endParaRPr lang="en-US" sz="1125" dirty="0"/>
          </a:p>
        </p:txBody>
      </p:sp>
      <p:sp>
        <p:nvSpPr>
          <p:cNvPr id="4" name="Text 1"/>
          <p:cNvSpPr/>
          <p:nvPr/>
        </p:nvSpPr>
        <p:spPr>
          <a:xfrm>
            <a:off x="952500" y="1447800"/>
            <a:ext cx="18021300" cy="704850"/>
          </a:xfrm>
          <a:prstGeom prst="rect">
            <a:avLst/>
          </a:prstGeom>
          <a:noFill/>
          <a:ln/>
        </p:spPr>
        <p:txBody>
          <a:bodyPr wrap="square" lIns="25400" tIns="25400" rIns="25400" bIns="25400" rtlCol="0" anchor="t">
            <a:normAutofit/>
          </a:bodyPr>
          <a:lstStyle/>
          <a:p>
            <a:pPr algn="l" indent="0" marL="0">
              <a:lnSpc>
                <a:spcPct val="100000"/>
              </a:lnSpc>
              <a:buNone/>
            </a:pPr>
            <a:r>
              <a:rPr lang="en-US" sz="5250" b="1" spc="-112" kern="0" dirty="0">
                <a:solidFill>
                  <a:srgbClr val="14254C"/>
                </a:solidFill>
                <a:latin typeface="Roboto" pitchFamily="34" charset="0"/>
                <a:ea typeface="Roboto" pitchFamily="34" charset="-122"/>
                <a:cs typeface="Roboto" pitchFamily="34" charset="-120"/>
              </a:rPr>
              <a:t>What we'll cover</a:t>
            </a:r>
            <a:endParaRPr lang="en-US" sz="5250" dirty="0"/>
          </a:p>
        </p:txBody>
      </p:sp>
      <p:sp>
        <p:nvSpPr>
          <p:cNvPr id="5" name="Shape 2"/>
          <p:cNvSpPr/>
          <p:nvPr/>
        </p:nvSpPr>
        <p:spPr>
          <a:xfrm>
            <a:off x="952500" y="4955381"/>
            <a:ext cx="13335000" cy="9525"/>
          </a:xfrm>
          <a:prstGeom prst="rect">
            <a:avLst/>
          </a:prstGeom>
          <a:solidFill>
            <a:srgbClr val="E2E8F0"/>
          </a:solidFill>
          <a:ln/>
        </p:spPr>
      </p:sp>
      <p:sp>
        <p:nvSpPr>
          <p:cNvPr id="6" name="Text 3"/>
          <p:cNvSpPr/>
          <p:nvPr/>
        </p:nvSpPr>
        <p:spPr>
          <a:xfrm>
            <a:off x="952500" y="3888581"/>
            <a:ext cx="933450" cy="819150"/>
          </a:xfrm>
          <a:prstGeom prst="rect">
            <a:avLst/>
          </a:prstGeom>
          <a:noFill/>
          <a:ln/>
        </p:spPr>
        <p:txBody>
          <a:bodyPr wrap="square" lIns="25400" tIns="25400" rIns="25400" bIns="25400" rtlCol="0" anchor="t">
            <a:normAutofit/>
          </a:bodyPr>
          <a:lstStyle/>
          <a:p>
            <a:pPr algn="l" indent="0" marL="0">
              <a:buNone/>
            </a:pPr>
            <a:r>
              <a:rPr lang="en-US" sz="4650" b="1" dirty="0">
                <a:solidFill>
                  <a:srgbClr val="C3D2F5"/>
                </a:solidFill>
                <a:latin typeface="Roboto Mono" pitchFamily="34" charset="0"/>
                <a:ea typeface="Roboto Mono" pitchFamily="34" charset="-122"/>
                <a:cs typeface="Roboto Mono" pitchFamily="34" charset="-120"/>
              </a:rPr>
              <a:t>01</a:t>
            </a:r>
            <a:endParaRPr lang="en-US" sz="4650" dirty="0"/>
          </a:p>
        </p:txBody>
      </p:sp>
      <p:pic>
        <p:nvPicPr>
          <p:cNvPr id="7" name="Image 1" descr="preencoded.png">    </p:cNvPr>
          <p:cNvPicPr>
            <a:picLocks noChangeAspect="1"/>
          </p:cNvPicPr>
          <p:nvPr/>
        </p:nvPicPr>
        <p:blipFill>
          <a:blip r:embed="rId2"/>
          <a:srcRect l="0" r="0" t="0" b="0"/>
          <a:stretch/>
        </p:blipFill>
        <p:spPr>
          <a:xfrm>
            <a:off x="2190750" y="4060031"/>
            <a:ext cx="438150" cy="438150"/>
          </a:xfrm>
          <a:prstGeom prst="rect">
            <a:avLst/>
          </a:prstGeom>
        </p:spPr>
      </p:pic>
      <p:sp>
        <p:nvSpPr>
          <p:cNvPr id="8" name="Text 4"/>
          <p:cNvSpPr/>
          <p:nvPr/>
        </p:nvSpPr>
        <p:spPr>
          <a:xfrm>
            <a:off x="3009900" y="3952875"/>
            <a:ext cx="12405360"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14254C"/>
                </a:solidFill>
                <a:latin typeface="Roboto" pitchFamily="34" charset="0"/>
                <a:ea typeface="Roboto" pitchFamily="34" charset="-122"/>
                <a:cs typeface="Roboto" pitchFamily="34" charset="-120"/>
              </a:rPr>
              <a:t>Vespa — one engine, measured</a:t>
            </a:r>
            <a:endParaRPr lang="en-US" sz="2550" dirty="0"/>
          </a:p>
        </p:txBody>
      </p:sp>
      <p:sp>
        <p:nvSpPr>
          <p:cNvPr id="9" name="Text 5"/>
          <p:cNvSpPr/>
          <p:nvPr/>
        </p:nvSpPr>
        <p:spPr>
          <a:xfrm>
            <a:off x="3009900" y="4371975"/>
            <a:ext cx="12405360" cy="271463"/>
          </a:xfrm>
          <a:prstGeom prst="rect">
            <a:avLst/>
          </a:prstGeom>
          <a:noFill/>
          <a:ln/>
        </p:spPr>
        <p:txBody>
          <a:bodyPr wrap="square" lIns="25400" tIns="25400" rIns="25400" bIns="25400" rtlCol="0" anchor="t">
            <a:normAutofit/>
          </a:bodyPr>
          <a:lstStyle/>
          <a:p>
            <a:pPr algn="l" indent="0" marL="0">
              <a:buNone/>
            </a:pPr>
            <a:r>
              <a:rPr lang="en-US" sz="1575" dirty="0">
                <a:solidFill>
                  <a:srgbClr val="64748B"/>
                </a:solidFill>
                <a:latin typeface="Roboto" pitchFamily="34" charset="0"/>
                <a:ea typeface="Roboto" pitchFamily="34" charset="-122"/>
                <a:cs typeface="Roboto" pitchFamily="34" charset="-120"/>
              </a:rPr>
              <a:t>What it is, and the hybrid-search results I measured</a:t>
            </a:r>
            <a:endParaRPr lang="en-US" sz="1575" dirty="0"/>
          </a:p>
        </p:txBody>
      </p:sp>
      <p:sp>
        <p:nvSpPr>
          <p:cNvPr id="10" name="Shape 6"/>
          <p:cNvSpPr/>
          <p:nvPr/>
        </p:nvSpPr>
        <p:spPr>
          <a:xfrm>
            <a:off x="952500" y="6393656"/>
            <a:ext cx="13335000" cy="9525"/>
          </a:xfrm>
          <a:prstGeom prst="rect">
            <a:avLst/>
          </a:prstGeom>
          <a:solidFill>
            <a:srgbClr val="E2E8F0"/>
          </a:solidFill>
          <a:ln/>
        </p:spPr>
      </p:sp>
      <p:sp>
        <p:nvSpPr>
          <p:cNvPr id="11" name="Text 7"/>
          <p:cNvSpPr/>
          <p:nvPr/>
        </p:nvSpPr>
        <p:spPr>
          <a:xfrm>
            <a:off x="952500" y="5326856"/>
            <a:ext cx="933450" cy="819150"/>
          </a:xfrm>
          <a:prstGeom prst="rect">
            <a:avLst/>
          </a:prstGeom>
          <a:noFill/>
          <a:ln/>
        </p:spPr>
        <p:txBody>
          <a:bodyPr wrap="square" lIns="25400" tIns="25400" rIns="25400" bIns="25400" rtlCol="0" anchor="t">
            <a:normAutofit/>
          </a:bodyPr>
          <a:lstStyle/>
          <a:p>
            <a:pPr algn="l" indent="0" marL="0">
              <a:buNone/>
            </a:pPr>
            <a:r>
              <a:rPr lang="en-US" sz="4650" b="1" dirty="0">
                <a:solidFill>
                  <a:srgbClr val="C3D2F5"/>
                </a:solidFill>
                <a:latin typeface="Roboto Mono" pitchFamily="34" charset="0"/>
                <a:ea typeface="Roboto Mono" pitchFamily="34" charset="-122"/>
                <a:cs typeface="Roboto Mono" pitchFamily="34" charset="-120"/>
              </a:rPr>
              <a:t>02</a:t>
            </a:r>
            <a:endParaRPr lang="en-US" sz="4650" dirty="0"/>
          </a:p>
        </p:txBody>
      </p:sp>
      <p:pic>
        <p:nvPicPr>
          <p:cNvPr id="12" name="Image 2" descr="preencoded.png">    </p:cNvPr>
          <p:cNvPicPr>
            <a:picLocks noChangeAspect="1"/>
          </p:cNvPicPr>
          <p:nvPr/>
        </p:nvPicPr>
        <p:blipFill>
          <a:blip r:embed="rId3"/>
          <a:srcRect l="0" r="0" t="0" b="0"/>
          <a:stretch/>
        </p:blipFill>
        <p:spPr>
          <a:xfrm>
            <a:off x="2190750" y="5498306"/>
            <a:ext cx="438150" cy="438150"/>
          </a:xfrm>
          <a:prstGeom prst="rect">
            <a:avLst/>
          </a:prstGeom>
        </p:spPr>
      </p:pic>
      <p:sp>
        <p:nvSpPr>
          <p:cNvPr id="13" name="Text 8"/>
          <p:cNvSpPr/>
          <p:nvPr/>
        </p:nvSpPr>
        <p:spPr>
          <a:xfrm>
            <a:off x="3009900" y="5391150"/>
            <a:ext cx="12405360"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14254C"/>
                </a:solidFill>
                <a:latin typeface="Roboto" pitchFamily="34" charset="0"/>
                <a:ea typeface="Roboto" pitchFamily="34" charset="-122"/>
                <a:cs typeface="Roboto" pitchFamily="34" charset="-120"/>
              </a:rPr>
              <a:t>Supplement Advisor — take-home exercise</a:t>
            </a:r>
            <a:endParaRPr lang="en-US" sz="2550" dirty="0"/>
          </a:p>
        </p:txBody>
      </p:sp>
      <p:sp>
        <p:nvSpPr>
          <p:cNvPr id="14" name="Text 9"/>
          <p:cNvSpPr/>
          <p:nvPr/>
        </p:nvSpPr>
        <p:spPr>
          <a:xfrm>
            <a:off x="3009900" y="5810250"/>
            <a:ext cx="12405360" cy="271463"/>
          </a:xfrm>
          <a:prstGeom prst="rect">
            <a:avLst/>
          </a:prstGeom>
          <a:noFill/>
          <a:ln/>
        </p:spPr>
        <p:txBody>
          <a:bodyPr wrap="square" lIns="25400" tIns="25400" rIns="25400" bIns="25400" rtlCol="0" anchor="t">
            <a:normAutofit/>
          </a:bodyPr>
          <a:lstStyle/>
          <a:p>
            <a:pPr algn="l" indent="0" marL="0">
              <a:buNone/>
            </a:pPr>
            <a:r>
              <a:rPr lang="en-US" sz="1575" dirty="0">
                <a:solidFill>
                  <a:srgbClr val="64748B"/>
                </a:solidFill>
                <a:latin typeface="Roboto" pitchFamily="34" charset="0"/>
                <a:ea typeface="Roboto" pitchFamily="34" charset="-122"/>
                <a:cs typeface="Roboto" pitchFamily="34" charset="-120"/>
              </a:rPr>
              <a:t>The problem, my solution, and what I'd improve</a:t>
            </a:r>
            <a:endParaRPr lang="en-US" sz="1575" dirty="0"/>
          </a:p>
        </p:txBody>
      </p:sp>
      <p:sp>
        <p:nvSpPr>
          <p:cNvPr id="15" name="Shape 10"/>
          <p:cNvSpPr/>
          <p:nvPr/>
        </p:nvSpPr>
        <p:spPr>
          <a:xfrm>
            <a:off x="952500" y="7831931"/>
            <a:ext cx="13335000" cy="9525"/>
          </a:xfrm>
          <a:prstGeom prst="rect">
            <a:avLst/>
          </a:prstGeom>
          <a:solidFill>
            <a:srgbClr val="E2E8F0"/>
          </a:solidFill>
          <a:ln/>
        </p:spPr>
      </p:sp>
      <p:sp>
        <p:nvSpPr>
          <p:cNvPr id="16" name="Text 11"/>
          <p:cNvSpPr/>
          <p:nvPr/>
        </p:nvSpPr>
        <p:spPr>
          <a:xfrm>
            <a:off x="952500" y="6765131"/>
            <a:ext cx="933450" cy="819150"/>
          </a:xfrm>
          <a:prstGeom prst="rect">
            <a:avLst/>
          </a:prstGeom>
          <a:noFill/>
          <a:ln/>
        </p:spPr>
        <p:txBody>
          <a:bodyPr wrap="square" lIns="25400" tIns="25400" rIns="25400" bIns="25400" rtlCol="0" anchor="t">
            <a:normAutofit/>
          </a:bodyPr>
          <a:lstStyle/>
          <a:p>
            <a:pPr algn="l" indent="0" marL="0">
              <a:buNone/>
            </a:pPr>
            <a:r>
              <a:rPr lang="en-US" sz="4650" b="1" dirty="0">
                <a:solidFill>
                  <a:srgbClr val="C3D2F5"/>
                </a:solidFill>
                <a:latin typeface="Roboto Mono" pitchFamily="34" charset="0"/>
                <a:ea typeface="Roboto Mono" pitchFamily="34" charset="-122"/>
                <a:cs typeface="Roboto Mono" pitchFamily="34" charset="-120"/>
              </a:rPr>
              <a:t>03</a:t>
            </a:r>
            <a:endParaRPr lang="en-US" sz="4650" dirty="0"/>
          </a:p>
        </p:txBody>
      </p:sp>
      <p:pic>
        <p:nvPicPr>
          <p:cNvPr id="17" name="Image 3" descr="preencoded.png">    </p:cNvPr>
          <p:cNvPicPr>
            <a:picLocks noChangeAspect="1"/>
          </p:cNvPicPr>
          <p:nvPr/>
        </p:nvPicPr>
        <p:blipFill>
          <a:blip r:embed="rId4"/>
          <a:srcRect l="0" r="0" t="0" b="0"/>
          <a:stretch/>
        </p:blipFill>
        <p:spPr>
          <a:xfrm>
            <a:off x="2190750" y="6936581"/>
            <a:ext cx="438150" cy="438150"/>
          </a:xfrm>
          <a:prstGeom prst="rect">
            <a:avLst/>
          </a:prstGeom>
        </p:spPr>
      </p:pic>
      <p:sp>
        <p:nvSpPr>
          <p:cNvPr id="18" name="Text 12"/>
          <p:cNvSpPr/>
          <p:nvPr/>
        </p:nvSpPr>
        <p:spPr>
          <a:xfrm>
            <a:off x="3009900" y="6829425"/>
            <a:ext cx="12405360"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14254C"/>
                </a:solidFill>
                <a:latin typeface="Roboto" pitchFamily="34" charset="0"/>
                <a:ea typeface="Roboto" pitchFamily="34" charset="-122"/>
                <a:cs typeface="Roboto" pitchFamily="34" charset="-120"/>
              </a:rPr>
              <a:t>Financial Assistant — what's next</a:t>
            </a:r>
            <a:endParaRPr lang="en-US" sz="2550" dirty="0"/>
          </a:p>
        </p:txBody>
      </p:sp>
      <p:sp>
        <p:nvSpPr>
          <p:cNvPr id="19" name="Text 13"/>
          <p:cNvSpPr/>
          <p:nvPr/>
        </p:nvSpPr>
        <p:spPr>
          <a:xfrm>
            <a:off x="3009900" y="7248525"/>
            <a:ext cx="12405360" cy="271463"/>
          </a:xfrm>
          <a:prstGeom prst="rect">
            <a:avLst/>
          </a:prstGeom>
          <a:noFill/>
          <a:ln/>
        </p:spPr>
        <p:txBody>
          <a:bodyPr wrap="square" lIns="25400" tIns="25400" rIns="25400" bIns="25400" rtlCol="0" anchor="t">
            <a:normAutofit/>
          </a:bodyPr>
          <a:lstStyle/>
          <a:p>
            <a:pPr algn="l" indent="0" marL="0">
              <a:buNone/>
            </a:pPr>
            <a:r>
              <a:rPr lang="en-US" sz="1575" dirty="0">
                <a:solidFill>
                  <a:srgbClr val="64748B"/>
                </a:solidFill>
                <a:latin typeface="Roboto" pitchFamily="34" charset="0"/>
                <a:ea typeface="Roboto" pitchFamily="34" charset="-122"/>
                <a:cs typeface="Roboto" pitchFamily="34" charset="-120"/>
              </a:rPr>
              <a:t>Live system, a quick demo, and the issues I'm tackling next</a:t>
            </a:r>
            <a:endParaRPr lang="en-US" sz="1575" dirty="0"/>
          </a:p>
        </p:txBody>
      </p:sp>
      <p:sp>
        <p:nvSpPr>
          <p:cNvPr id="20" name="Text 14"/>
          <p:cNvSpPr/>
          <p:nvPr/>
        </p:nvSpPr>
        <p:spPr>
          <a:xfrm>
            <a:off x="-685800" y="9501188"/>
            <a:ext cx="18021300" cy="214313"/>
          </a:xfrm>
          <a:prstGeom prst="rect">
            <a:avLst/>
          </a:prstGeom>
          <a:noFill/>
          <a:ln/>
        </p:spPr>
        <p:txBody>
          <a:bodyPr wrap="square" lIns="25400" tIns="25400" rIns="25400" bIns="25400" rtlCol="0" anchor="ctr">
            <a:normAutofit/>
          </a:bodyPr>
          <a:lstStyle/>
          <a:p>
            <a:pPr algn="r" indent="0" marL="0">
              <a:buNone/>
            </a:pPr>
            <a:r>
              <a:rPr lang="en-US" sz="1050" dirty="0">
                <a:solidFill>
                  <a:srgbClr val="94A3B8"/>
                </a:solidFill>
                <a:latin typeface="Roboto Mono" pitchFamily="34" charset="0"/>
                <a:ea typeface="Roboto Mono" pitchFamily="34" charset="-122"/>
                <a:cs typeface="Roboto Mono" pitchFamily="34" charset="-120"/>
              </a:rPr>
              <a:t>Factored · Technical review</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704850"/>
            <a:ext cx="1387525" cy="323850"/>
          </a:xfrm>
          <a:prstGeom prst="rect">
            <a:avLst/>
          </a:prstGeom>
        </p:spPr>
      </p:pic>
      <p:sp>
        <p:nvSpPr>
          <p:cNvPr id="3" name="Text 0"/>
          <p:cNvSpPr/>
          <p:nvPr/>
        </p:nvSpPr>
        <p:spPr>
          <a:xfrm>
            <a:off x="16333291" y="783431"/>
            <a:ext cx="1078409"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047E5"/>
                </a:solidFill>
                <a:latin typeface="Roboto" pitchFamily="34" charset="0"/>
                <a:ea typeface="Roboto" pitchFamily="34" charset="-122"/>
                <a:cs typeface="Roboto" pitchFamily="34" charset="-120"/>
              </a:rPr>
              <a:t>VESPA · 01</a:t>
            </a:r>
            <a:endParaRPr lang="en-US" sz="1125" dirty="0"/>
          </a:p>
        </p:txBody>
      </p:sp>
      <p:sp>
        <p:nvSpPr>
          <p:cNvPr id="4" name="Text 1"/>
          <p:cNvSpPr/>
          <p:nvPr/>
        </p:nvSpPr>
        <p:spPr>
          <a:xfrm>
            <a:off x="952500" y="1447800"/>
            <a:ext cx="18021300" cy="795858"/>
          </a:xfrm>
          <a:prstGeom prst="rect">
            <a:avLst/>
          </a:prstGeom>
          <a:noFill/>
          <a:ln/>
        </p:spPr>
        <p:txBody>
          <a:bodyPr wrap="square" lIns="25400" tIns="25400" rIns="25400" bIns="25400" rtlCol="0" anchor="t">
            <a:normAutofit/>
          </a:bodyPr>
          <a:lstStyle/>
          <a:p>
            <a:pPr algn="l" indent="0" marL="0">
              <a:lnSpc>
                <a:spcPct val="102000"/>
              </a:lnSpc>
              <a:buNone/>
            </a:pPr>
            <a:r>
              <a:rPr lang="en-US" sz="5850" b="1" spc="-112" kern="0" dirty="0">
                <a:solidFill>
                  <a:srgbClr val="14254C"/>
                </a:solidFill>
                <a:latin typeface="Roboto" pitchFamily="34" charset="0"/>
                <a:ea typeface="Roboto" pitchFamily="34" charset="-122"/>
                <a:cs typeface="Roboto" pitchFamily="34" charset="-120"/>
              </a:rPr>
              <a:t>One engine instead of three.</a:t>
            </a:r>
            <a:endParaRPr lang="en-US" sz="5850" dirty="0"/>
          </a:p>
        </p:txBody>
      </p:sp>
      <p:sp>
        <p:nvSpPr>
          <p:cNvPr id="5" name="Text 2"/>
          <p:cNvSpPr/>
          <p:nvPr/>
        </p:nvSpPr>
        <p:spPr>
          <a:xfrm>
            <a:off x="952500" y="2396058"/>
            <a:ext cx="11576685"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475569"/>
                </a:solidFill>
                <a:latin typeface="Roboto" pitchFamily="34" charset="0"/>
                <a:ea typeface="Roboto" pitchFamily="34" charset="-122"/>
                <a:cs typeface="Roboto" pitchFamily="34" charset="-120"/>
              </a:rPr>
              <a:t>Vespa runs keyword search, vector search, and machine-learned ranking in a single query — computed where the data already lives.</a:t>
            </a:r>
            <a:endParaRPr lang="en-US" sz="2250" dirty="0"/>
          </a:p>
        </p:txBody>
      </p:sp>
      <p:sp>
        <p:nvSpPr>
          <p:cNvPr id="6" name="Text 3"/>
          <p:cNvSpPr/>
          <p:nvPr/>
        </p:nvSpPr>
        <p:spPr>
          <a:xfrm>
            <a:off x="952500" y="4462314"/>
            <a:ext cx="6286500" cy="195263"/>
          </a:xfrm>
          <a:prstGeom prst="rect">
            <a:avLst/>
          </a:prstGeom>
          <a:noFill/>
          <a:ln/>
        </p:spPr>
        <p:txBody>
          <a:bodyPr wrap="square" lIns="25400" tIns="25400" rIns="25400" bIns="25400" rtlCol="0" anchor="t">
            <a:normAutofit/>
          </a:bodyPr>
          <a:lstStyle/>
          <a:p>
            <a:pPr algn="l" indent="0" marL="0">
              <a:buNone/>
            </a:pPr>
            <a:r>
              <a:rPr lang="en-US" sz="1050" b="1" spc="150" kern="0" dirty="0">
                <a:solidFill>
                  <a:srgbClr val="94A3B8"/>
                </a:solidFill>
                <a:latin typeface="Roboto" pitchFamily="34" charset="0"/>
                <a:ea typeface="Roboto" pitchFamily="34" charset="-122"/>
                <a:cs typeface="Roboto" pitchFamily="34" charset="-120"/>
              </a:rPr>
              <a:t>THE STACK TODAY</a:t>
            </a:r>
            <a:endParaRPr lang="en-US" sz="1050" dirty="0"/>
          </a:p>
        </p:txBody>
      </p:sp>
      <p:sp>
        <p:nvSpPr>
          <p:cNvPr id="7" name="Shape 4"/>
          <p:cNvSpPr/>
          <p:nvPr/>
        </p:nvSpPr>
        <p:spPr>
          <a:xfrm>
            <a:off x="952500" y="4771876"/>
            <a:ext cx="5715000" cy="816248"/>
          </a:xfrm>
          <a:prstGeom prst="roundRect">
            <a:avLst>
              <a:gd name="adj" fmla="val 16337"/>
            </a:avLst>
          </a:prstGeom>
          <a:solidFill>
            <a:srgbClr val="FFFFFF"/>
          </a:solidFill>
          <a:ln w="14288">
            <a:solidFill>
              <a:srgbClr val="E2E8F0"/>
            </a:solidFill>
            <a:prstDash val="solid"/>
          </a:ln>
        </p:spPr>
      </p:sp>
      <p:pic>
        <p:nvPicPr>
          <p:cNvPr id="8" name="Image 1" descr="preencoded.png">    </p:cNvPr>
          <p:cNvPicPr>
            <a:picLocks noChangeAspect="1"/>
          </p:cNvPicPr>
          <p:nvPr/>
        </p:nvPicPr>
        <p:blipFill>
          <a:blip r:embed="rId2"/>
          <a:srcRect l="0" r="0" t="0" b="0"/>
          <a:stretch/>
        </p:blipFill>
        <p:spPr>
          <a:xfrm>
            <a:off x="1195388" y="5037088"/>
            <a:ext cx="285750" cy="285750"/>
          </a:xfrm>
          <a:prstGeom prst="rect">
            <a:avLst/>
          </a:prstGeom>
        </p:spPr>
      </p:pic>
      <p:sp>
        <p:nvSpPr>
          <p:cNvPr id="9" name="Text 5"/>
          <p:cNvSpPr/>
          <p:nvPr/>
        </p:nvSpPr>
        <p:spPr>
          <a:xfrm>
            <a:off x="1652588" y="4957614"/>
            <a:ext cx="2452144" cy="268560"/>
          </a:xfrm>
          <a:prstGeom prst="rect">
            <a:avLst/>
          </a:prstGeom>
          <a:noFill/>
          <a:ln/>
        </p:spPr>
        <p:txBody>
          <a:bodyPr wrap="square" lIns="25400" tIns="25400" rIns="25400" bIns="25400" rtlCol="0" anchor="t">
            <a:normAutofit/>
          </a:bodyPr>
          <a:lstStyle/>
          <a:p>
            <a:pPr algn="l" indent="0" marL="0">
              <a:lnSpc>
                <a:spcPct val="110000"/>
              </a:lnSpc>
              <a:buNone/>
            </a:pPr>
            <a:r>
              <a:rPr lang="en-US" sz="1650" b="1" dirty="0">
                <a:solidFill>
                  <a:srgbClr val="14254C"/>
                </a:solidFill>
                <a:latin typeface="Roboto" pitchFamily="34" charset="0"/>
                <a:ea typeface="Roboto" pitchFamily="34" charset="-122"/>
                <a:cs typeface="Roboto" pitchFamily="34" charset="-120"/>
              </a:rPr>
              <a:t>Keyword engine</a:t>
            </a:r>
            <a:endParaRPr lang="en-US" sz="1650" dirty="0"/>
          </a:p>
        </p:txBody>
      </p:sp>
      <p:sp>
        <p:nvSpPr>
          <p:cNvPr id="10" name="Text 6"/>
          <p:cNvSpPr/>
          <p:nvPr/>
        </p:nvSpPr>
        <p:spPr>
          <a:xfrm>
            <a:off x="1652588" y="5216649"/>
            <a:ext cx="2452144" cy="223838"/>
          </a:xfrm>
          <a:prstGeom prst="rect">
            <a:avLst/>
          </a:prstGeom>
          <a:noFill/>
          <a:ln/>
        </p:spPr>
        <p:txBody>
          <a:bodyPr wrap="square" lIns="25400" tIns="25400" rIns="25400" bIns="25400" rtlCol="0" anchor="t">
            <a:normAutofit/>
          </a:bodyPr>
          <a:lstStyle/>
          <a:p>
            <a:pPr algn="l" indent="0" marL="0">
              <a:buNone/>
            </a:pPr>
            <a:r>
              <a:rPr lang="en-US" sz="1125" dirty="0">
                <a:solidFill>
                  <a:srgbClr val="94A3B8"/>
                </a:solidFill>
                <a:latin typeface="Roboto Mono" pitchFamily="34" charset="0"/>
                <a:ea typeface="Roboto Mono" pitchFamily="34" charset="-122"/>
                <a:cs typeface="Roboto Mono" pitchFamily="34" charset="-120"/>
              </a:rPr>
              <a:t>Elasticsearch / OpenSearch</a:t>
            </a:r>
            <a:endParaRPr lang="en-US" sz="1125" dirty="0"/>
          </a:p>
        </p:txBody>
      </p:sp>
      <p:sp>
        <p:nvSpPr>
          <p:cNvPr id="11" name="Shape 7"/>
          <p:cNvSpPr/>
          <p:nvPr/>
        </p:nvSpPr>
        <p:spPr>
          <a:xfrm>
            <a:off x="952500" y="5721474"/>
            <a:ext cx="5715000" cy="816248"/>
          </a:xfrm>
          <a:prstGeom prst="roundRect">
            <a:avLst>
              <a:gd name="adj" fmla="val 16337"/>
            </a:avLst>
          </a:prstGeom>
          <a:solidFill>
            <a:srgbClr val="FFFFFF"/>
          </a:solidFill>
          <a:ln w="14288">
            <a:solidFill>
              <a:srgbClr val="E2E8F0"/>
            </a:solidFill>
            <a:prstDash val="solid"/>
          </a:ln>
        </p:spPr>
      </p:sp>
      <p:pic>
        <p:nvPicPr>
          <p:cNvPr id="12" name="Image 2" descr="preencoded.png">    </p:cNvPr>
          <p:cNvPicPr>
            <a:picLocks noChangeAspect="1"/>
          </p:cNvPicPr>
          <p:nvPr/>
        </p:nvPicPr>
        <p:blipFill>
          <a:blip r:embed="rId3"/>
          <a:srcRect l="0" r="0" t="0" b="0"/>
          <a:stretch/>
        </p:blipFill>
        <p:spPr>
          <a:xfrm>
            <a:off x="1195388" y="5986686"/>
            <a:ext cx="285750" cy="285750"/>
          </a:xfrm>
          <a:prstGeom prst="rect">
            <a:avLst/>
          </a:prstGeom>
        </p:spPr>
      </p:pic>
      <p:sp>
        <p:nvSpPr>
          <p:cNvPr id="13" name="Text 8"/>
          <p:cNvSpPr/>
          <p:nvPr/>
        </p:nvSpPr>
        <p:spPr>
          <a:xfrm>
            <a:off x="1652588" y="5907212"/>
            <a:ext cx="1791980" cy="268560"/>
          </a:xfrm>
          <a:prstGeom prst="rect">
            <a:avLst/>
          </a:prstGeom>
          <a:noFill/>
          <a:ln/>
        </p:spPr>
        <p:txBody>
          <a:bodyPr wrap="square" lIns="25400" tIns="25400" rIns="25400" bIns="25400" rtlCol="0" anchor="t">
            <a:normAutofit/>
          </a:bodyPr>
          <a:lstStyle/>
          <a:p>
            <a:pPr algn="l" indent="0" marL="0">
              <a:lnSpc>
                <a:spcPct val="110000"/>
              </a:lnSpc>
              <a:buNone/>
            </a:pPr>
            <a:r>
              <a:rPr lang="en-US" sz="1650" b="1" dirty="0">
                <a:solidFill>
                  <a:srgbClr val="14254C"/>
                </a:solidFill>
                <a:latin typeface="Roboto" pitchFamily="34" charset="0"/>
                <a:ea typeface="Roboto" pitchFamily="34" charset="-122"/>
                <a:cs typeface="Roboto" pitchFamily="34" charset="-120"/>
              </a:rPr>
              <a:t>Vector database</a:t>
            </a:r>
            <a:endParaRPr lang="en-US" sz="1650" dirty="0"/>
          </a:p>
        </p:txBody>
      </p:sp>
      <p:sp>
        <p:nvSpPr>
          <p:cNvPr id="14" name="Text 9"/>
          <p:cNvSpPr/>
          <p:nvPr/>
        </p:nvSpPr>
        <p:spPr>
          <a:xfrm>
            <a:off x="1652588" y="6166247"/>
            <a:ext cx="1791980" cy="223838"/>
          </a:xfrm>
          <a:prstGeom prst="rect">
            <a:avLst/>
          </a:prstGeom>
          <a:noFill/>
          <a:ln/>
        </p:spPr>
        <p:txBody>
          <a:bodyPr wrap="square" lIns="25400" tIns="25400" rIns="25400" bIns="25400" rtlCol="0" anchor="t">
            <a:normAutofit/>
          </a:bodyPr>
          <a:lstStyle/>
          <a:p>
            <a:pPr algn="l" indent="0" marL="0">
              <a:buNone/>
            </a:pPr>
            <a:r>
              <a:rPr lang="en-US" sz="1125" dirty="0">
                <a:solidFill>
                  <a:srgbClr val="94A3B8"/>
                </a:solidFill>
                <a:latin typeface="Roboto Mono" pitchFamily="34" charset="0"/>
                <a:ea typeface="Roboto Mono" pitchFamily="34" charset="-122"/>
                <a:cs typeface="Roboto Mono" pitchFamily="34" charset="-120"/>
              </a:rPr>
              <a:t>Pinecone / Weaviate</a:t>
            </a:r>
            <a:endParaRPr lang="en-US" sz="1125" dirty="0"/>
          </a:p>
        </p:txBody>
      </p:sp>
      <p:sp>
        <p:nvSpPr>
          <p:cNvPr id="15" name="Shape 10"/>
          <p:cNvSpPr/>
          <p:nvPr/>
        </p:nvSpPr>
        <p:spPr>
          <a:xfrm>
            <a:off x="952500" y="6671072"/>
            <a:ext cx="5715000" cy="816248"/>
          </a:xfrm>
          <a:prstGeom prst="roundRect">
            <a:avLst>
              <a:gd name="adj" fmla="val 16337"/>
            </a:avLst>
          </a:prstGeom>
          <a:solidFill>
            <a:srgbClr val="FFFFFF"/>
          </a:solidFill>
          <a:ln w="14288">
            <a:solidFill>
              <a:srgbClr val="E2E8F0"/>
            </a:solidFill>
            <a:prstDash val="solid"/>
          </a:ln>
        </p:spPr>
      </p:sp>
      <p:pic>
        <p:nvPicPr>
          <p:cNvPr id="16" name="Image 3" descr="preencoded.png">    </p:cNvPr>
          <p:cNvPicPr>
            <a:picLocks noChangeAspect="1"/>
          </p:cNvPicPr>
          <p:nvPr/>
        </p:nvPicPr>
        <p:blipFill>
          <a:blip r:embed="rId4"/>
          <a:srcRect l="0" r="0" t="0" b="0"/>
          <a:stretch/>
        </p:blipFill>
        <p:spPr>
          <a:xfrm>
            <a:off x="1195388" y="6936284"/>
            <a:ext cx="285750" cy="285750"/>
          </a:xfrm>
          <a:prstGeom prst="rect">
            <a:avLst/>
          </a:prstGeom>
        </p:spPr>
      </p:pic>
      <p:sp>
        <p:nvSpPr>
          <p:cNvPr id="17" name="Text 11"/>
          <p:cNvSpPr/>
          <p:nvPr/>
        </p:nvSpPr>
        <p:spPr>
          <a:xfrm>
            <a:off x="1652588" y="6856809"/>
            <a:ext cx="2169252" cy="268560"/>
          </a:xfrm>
          <a:prstGeom prst="rect">
            <a:avLst/>
          </a:prstGeom>
          <a:noFill/>
          <a:ln/>
        </p:spPr>
        <p:txBody>
          <a:bodyPr wrap="square" lIns="25400" tIns="25400" rIns="25400" bIns="25400" rtlCol="0" anchor="t">
            <a:normAutofit/>
          </a:bodyPr>
          <a:lstStyle/>
          <a:p>
            <a:pPr algn="l" indent="0" marL="0">
              <a:lnSpc>
                <a:spcPct val="110000"/>
              </a:lnSpc>
              <a:buNone/>
            </a:pPr>
            <a:r>
              <a:rPr lang="en-US" sz="1650" b="1" dirty="0">
                <a:solidFill>
                  <a:srgbClr val="14254C"/>
                </a:solidFill>
                <a:latin typeface="Roboto" pitchFamily="34" charset="0"/>
                <a:ea typeface="Roboto" pitchFamily="34" charset="-122"/>
                <a:cs typeface="Roboto" pitchFamily="34" charset="-120"/>
              </a:rPr>
              <a:t>Re-ranking service</a:t>
            </a:r>
            <a:endParaRPr lang="en-US" sz="1650" dirty="0"/>
          </a:p>
        </p:txBody>
      </p:sp>
      <p:sp>
        <p:nvSpPr>
          <p:cNvPr id="18" name="Text 12"/>
          <p:cNvSpPr/>
          <p:nvPr/>
        </p:nvSpPr>
        <p:spPr>
          <a:xfrm>
            <a:off x="1652588" y="7115845"/>
            <a:ext cx="2169252" cy="223838"/>
          </a:xfrm>
          <a:prstGeom prst="rect">
            <a:avLst/>
          </a:prstGeom>
          <a:noFill/>
          <a:ln/>
        </p:spPr>
        <p:txBody>
          <a:bodyPr wrap="square" lIns="25400" tIns="25400" rIns="25400" bIns="25400" rtlCol="0" anchor="t">
            <a:normAutofit/>
          </a:bodyPr>
          <a:lstStyle/>
          <a:p>
            <a:pPr algn="l" indent="0" marL="0">
              <a:buNone/>
            </a:pPr>
            <a:r>
              <a:rPr lang="en-US" sz="1125" dirty="0">
                <a:solidFill>
                  <a:srgbClr val="94A3B8"/>
                </a:solidFill>
                <a:latin typeface="Roboto Mono" pitchFamily="34" charset="0"/>
                <a:ea typeface="Roboto Mono" pitchFamily="34" charset="-122"/>
                <a:cs typeface="Roboto Mono" pitchFamily="34" charset="-120"/>
              </a:rPr>
              <a:t>a separate model server</a:t>
            </a:r>
            <a:endParaRPr lang="en-US" sz="1125" dirty="0"/>
          </a:p>
        </p:txBody>
      </p:sp>
      <p:sp>
        <p:nvSpPr>
          <p:cNvPr id="19" name="Shape 13"/>
          <p:cNvSpPr/>
          <p:nvPr/>
        </p:nvSpPr>
        <p:spPr>
          <a:xfrm>
            <a:off x="952500" y="7620670"/>
            <a:ext cx="5715000" cy="457200"/>
          </a:xfrm>
          <a:prstGeom prst="roundRect">
            <a:avLst>
              <a:gd name="adj" fmla="val 20833"/>
            </a:avLst>
          </a:prstGeom>
          <a:ln w="14288">
            <a:solidFill>
              <a:srgbClr val="CBD5E1"/>
            </a:solidFill>
            <a:prstDash val="dash"/>
          </a:ln>
        </p:spPr>
      </p:sp>
      <p:sp>
        <p:nvSpPr>
          <p:cNvPr id="20" name="Text 14"/>
          <p:cNvSpPr/>
          <p:nvPr/>
        </p:nvSpPr>
        <p:spPr>
          <a:xfrm>
            <a:off x="1195388" y="7758782"/>
            <a:ext cx="5400675" cy="219075"/>
          </a:xfrm>
          <a:prstGeom prst="rect">
            <a:avLst/>
          </a:prstGeom>
          <a:noFill/>
          <a:ln/>
        </p:spPr>
        <p:txBody>
          <a:bodyPr wrap="square" lIns="25400" tIns="25400" rIns="25400" bIns="25400" rtlCol="0" anchor="t">
            <a:normAutofit/>
          </a:bodyPr>
          <a:lstStyle/>
          <a:p>
            <a:pPr algn="l" indent="0" marL="0">
              <a:buNone/>
            </a:pPr>
            <a:r>
              <a:rPr lang="en-US" sz="1200" i="1" dirty="0">
                <a:solidFill>
                  <a:srgbClr val="64748B"/>
                </a:solidFill>
                <a:latin typeface="Roboto" pitchFamily="34" charset="0"/>
                <a:ea typeface="Roboto" pitchFamily="34" charset="-122"/>
                <a:cs typeface="Roboto" pitchFamily="34" charset="-120"/>
              </a:rPr>
              <a:t>+ glue code to fan out queries and merge results</a:t>
            </a:r>
            <a:endParaRPr lang="en-US" sz="1200" dirty="0"/>
          </a:p>
        </p:txBody>
      </p:sp>
      <p:pic>
        <p:nvPicPr>
          <p:cNvPr id="21" name="Image 4" descr="preencoded.png">    </p:cNvPr>
          <p:cNvPicPr>
            <a:picLocks noChangeAspect="1"/>
          </p:cNvPicPr>
          <p:nvPr/>
        </p:nvPicPr>
        <p:blipFill>
          <a:blip r:embed="rId5"/>
          <a:srcRect l="0" r="0" t="0" b="0"/>
          <a:stretch/>
        </p:blipFill>
        <p:spPr>
          <a:xfrm>
            <a:off x="7162800" y="6070029"/>
            <a:ext cx="400050" cy="400050"/>
          </a:xfrm>
          <a:prstGeom prst="rect">
            <a:avLst/>
          </a:prstGeom>
        </p:spPr>
      </p:pic>
      <p:sp>
        <p:nvSpPr>
          <p:cNvPr id="22" name="Shape 15"/>
          <p:cNvSpPr/>
          <p:nvPr/>
        </p:nvSpPr>
        <p:spPr>
          <a:xfrm>
            <a:off x="8058150" y="3520008"/>
            <a:ext cx="9277350" cy="5500167"/>
          </a:xfrm>
          <a:prstGeom prst="roundRect">
            <a:avLst>
              <a:gd name="adj" fmla="val 3117"/>
            </a:avLst>
          </a:prstGeom>
          <a:solidFill>
            <a:srgbClr val="0047E5"/>
          </a:solidFill>
          <a:ln/>
          <a:effectLst>
            <a:outerShdw sx="100000" sy="100000" kx="0" ky="0" algn="bl" rotWithShape="0" blurRad="476250" dist="228600" dir="5400000">
              <a:srgbClr val="0047E5">
                <a:alpha val="28000"/>
              </a:srgbClr>
            </a:outerShdw>
          </a:effectLst>
        </p:spPr>
      </p:sp>
      <p:pic>
        <p:nvPicPr>
          <p:cNvPr id="23" name="Image 5" descr="preencoded.png">    </p:cNvPr>
          <p:cNvPicPr>
            <a:picLocks noChangeAspect="1"/>
          </p:cNvPicPr>
          <p:nvPr/>
        </p:nvPicPr>
        <p:blipFill>
          <a:blip r:embed="rId6"/>
          <a:srcRect l="0" r="0" t="4182" b="4182"/>
          <a:stretch/>
        </p:blipFill>
        <p:spPr>
          <a:xfrm>
            <a:off x="8058150" y="3520008"/>
            <a:ext cx="9277350" cy="5500167"/>
          </a:xfrm>
          <a:prstGeom prst="rect">
            <a:avLst/>
          </a:prstGeom>
        </p:spPr>
      </p:pic>
      <p:sp>
        <p:nvSpPr>
          <p:cNvPr id="24" name="Text 16"/>
          <p:cNvSpPr/>
          <p:nvPr/>
        </p:nvSpPr>
        <p:spPr>
          <a:xfrm>
            <a:off x="8477250" y="4952851"/>
            <a:ext cx="9283065"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FFFFFF">
                    <a:alpha val="85000"/>
                  </a:srgbClr>
                </a:solidFill>
                <a:latin typeface="Roboto" pitchFamily="34" charset="0"/>
                <a:ea typeface="Roboto" pitchFamily="34" charset="-122"/>
                <a:cs typeface="Roboto" pitchFamily="34" charset="-120"/>
              </a:rPr>
              <a:t>VESPA.AI · ONE SYSTEM</a:t>
            </a:r>
            <a:endParaRPr lang="en-US" sz="1125" dirty="0"/>
          </a:p>
        </p:txBody>
      </p:sp>
      <p:sp>
        <p:nvSpPr>
          <p:cNvPr id="25" name="Text 17"/>
          <p:cNvSpPr/>
          <p:nvPr/>
        </p:nvSpPr>
        <p:spPr>
          <a:xfrm>
            <a:off x="8477250" y="5252889"/>
            <a:ext cx="4120515" cy="819894"/>
          </a:xfrm>
          <a:prstGeom prst="rect">
            <a:avLst/>
          </a:prstGeom>
          <a:noFill/>
          <a:ln/>
        </p:spPr>
        <p:txBody>
          <a:bodyPr wrap="square" lIns="25400" tIns="25400" rIns="25400" bIns="25400" rtlCol="0" anchor="t">
            <a:normAutofit/>
          </a:bodyPr>
          <a:lstStyle/>
          <a:p>
            <a:pPr algn="l" indent="0" marL="0">
              <a:lnSpc>
                <a:spcPct val="108000"/>
              </a:lnSpc>
              <a:buNone/>
            </a:pPr>
            <a:r>
              <a:rPr lang="en-US" sz="2850" b="1" dirty="0">
                <a:solidFill>
                  <a:srgbClr val="FFFFFF"/>
                </a:solidFill>
                <a:latin typeface="Roboto" pitchFamily="34" charset="0"/>
                <a:ea typeface="Roboto" pitchFamily="34" charset="-122"/>
                <a:cs typeface="Roboto" pitchFamily="34" charset="-120"/>
              </a:rPr>
              <a:t>Find · match by meaning · rank</a:t>
            </a:r>
            <a:endParaRPr lang="en-US" sz="2850" dirty="0"/>
          </a:p>
        </p:txBody>
      </p:sp>
      <p:sp>
        <p:nvSpPr>
          <p:cNvPr id="26" name="Text 18"/>
          <p:cNvSpPr/>
          <p:nvPr/>
        </p:nvSpPr>
        <p:spPr>
          <a:xfrm>
            <a:off x="8477250" y="6129933"/>
            <a:ext cx="3728085" cy="457200"/>
          </a:xfrm>
          <a:prstGeom prst="rect">
            <a:avLst/>
          </a:prstGeom>
          <a:noFill/>
          <a:ln/>
        </p:spPr>
        <p:txBody>
          <a:bodyPr wrap="square" lIns="25400" tIns="25400" rIns="25400" bIns="25400" rtlCol="0" anchor="t">
            <a:normAutofit/>
          </a:bodyPr>
          <a:lstStyle/>
          <a:p>
            <a:pPr algn="l" indent="0" marL="0">
              <a:buNone/>
            </a:pPr>
            <a:r>
              <a:rPr lang="en-US" sz="1425" dirty="0">
                <a:solidFill>
                  <a:srgbClr val="FFFFFF">
                    <a:alpha val="82000"/>
                  </a:srgbClr>
                </a:solidFill>
                <a:latin typeface="Roboto" pitchFamily="34" charset="0"/>
                <a:ea typeface="Roboto" pitchFamily="34" charset="-122"/>
                <a:cs typeface="Roboto" pitchFamily="34" charset="-120"/>
              </a:rPr>
              <a:t>All in one query, on the nodes that hold the data.</a:t>
            </a:r>
            <a:endParaRPr lang="en-US" sz="1425" dirty="0"/>
          </a:p>
        </p:txBody>
      </p:sp>
      <p:sp>
        <p:nvSpPr>
          <p:cNvPr id="27" name="Shape 19"/>
          <p:cNvSpPr/>
          <p:nvPr/>
        </p:nvSpPr>
        <p:spPr>
          <a:xfrm>
            <a:off x="8477250" y="6796683"/>
            <a:ext cx="1381348" cy="347663"/>
          </a:xfrm>
          <a:prstGeom prst="roundRect">
            <a:avLst>
              <a:gd name="adj" fmla="val 50000"/>
            </a:avLst>
          </a:prstGeom>
          <a:ln w="14288">
            <a:solidFill>
              <a:srgbClr val="FFFFFF">
                <a:alpha val="55000"/>
              </a:srgbClr>
            </a:solidFill>
            <a:prstDash val="solid"/>
          </a:ln>
        </p:spPr>
      </p:sp>
      <p:sp>
        <p:nvSpPr>
          <p:cNvPr id="28" name="Text 20"/>
          <p:cNvSpPr/>
          <p:nvPr/>
        </p:nvSpPr>
        <p:spPr>
          <a:xfrm>
            <a:off x="8643938" y="6887170"/>
            <a:ext cx="1124173" cy="204787"/>
          </a:xfrm>
          <a:prstGeom prst="rect">
            <a:avLst/>
          </a:prstGeom>
          <a:noFill/>
          <a:ln/>
        </p:spPr>
        <p:txBody>
          <a:bodyPr wrap="square" lIns="25400" tIns="25400" rIns="25400" bIns="25400" rtlCol="0" anchor="t">
            <a:normAutofit/>
          </a:bodyPr>
          <a:lstStyle/>
          <a:p>
            <a:pPr algn="l" indent="0" marL="0">
              <a:buNone/>
            </a:pPr>
            <a:r>
              <a:rPr lang="en-US" sz="1125" dirty="0">
                <a:solidFill>
                  <a:srgbClr val="FFFFFF"/>
                </a:solidFill>
                <a:latin typeface="Roboto" pitchFamily="34" charset="0"/>
                <a:ea typeface="Roboto" pitchFamily="34" charset="-122"/>
                <a:cs typeface="Roboto" pitchFamily="34" charset="-120"/>
              </a:rPr>
              <a:t>keyword (BM25)</a:t>
            </a:r>
            <a:endParaRPr lang="en-US" sz="1125" dirty="0"/>
          </a:p>
        </p:txBody>
      </p:sp>
      <p:sp>
        <p:nvSpPr>
          <p:cNvPr id="29" name="Shape 21"/>
          <p:cNvSpPr/>
          <p:nvPr/>
        </p:nvSpPr>
        <p:spPr>
          <a:xfrm>
            <a:off x="9953848" y="6796683"/>
            <a:ext cx="1237952" cy="347663"/>
          </a:xfrm>
          <a:prstGeom prst="roundRect">
            <a:avLst>
              <a:gd name="adj" fmla="val 50000"/>
            </a:avLst>
          </a:prstGeom>
          <a:ln w="14288">
            <a:solidFill>
              <a:srgbClr val="FFFFFF">
                <a:alpha val="55000"/>
              </a:srgbClr>
            </a:solidFill>
            <a:prstDash val="solid"/>
          </a:ln>
        </p:spPr>
      </p:sp>
      <p:sp>
        <p:nvSpPr>
          <p:cNvPr id="30" name="Text 22"/>
          <p:cNvSpPr/>
          <p:nvPr/>
        </p:nvSpPr>
        <p:spPr>
          <a:xfrm>
            <a:off x="10120536" y="6887170"/>
            <a:ext cx="980777" cy="204787"/>
          </a:xfrm>
          <a:prstGeom prst="rect">
            <a:avLst/>
          </a:prstGeom>
          <a:noFill/>
          <a:ln/>
        </p:spPr>
        <p:txBody>
          <a:bodyPr wrap="square" lIns="25400" tIns="25400" rIns="25400" bIns="25400" rtlCol="0" anchor="t">
            <a:normAutofit/>
          </a:bodyPr>
          <a:lstStyle/>
          <a:p>
            <a:pPr algn="l" indent="0" marL="0">
              <a:buNone/>
            </a:pPr>
            <a:r>
              <a:rPr lang="en-US" sz="1125" dirty="0">
                <a:solidFill>
                  <a:srgbClr val="FFFFFF"/>
                </a:solidFill>
                <a:latin typeface="Roboto" pitchFamily="34" charset="0"/>
                <a:ea typeface="Roboto" pitchFamily="34" charset="-122"/>
                <a:cs typeface="Roboto" pitchFamily="34" charset="-120"/>
              </a:rPr>
              <a:t>vectors (ANN)</a:t>
            </a:r>
            <a:endParaRPr lang="en-US" sz="1125" dirty="0"/>
          </a:p>
        </p:txBody>
      </p:sp>
      <p:sp>
        <p:nvSpPr>
          <p:cNvPr id="31" name="Shape 23"/>
          <p:cNvSpPr/>
          <p:nvPr/>
        </p:nvSpPr>
        <p:spPr>
          <a:xfrm>
            <a:off x="11287051" y="6796683"/>
            <a:ext cx="701501" cy="347663"/>
          </a:xfrm>
          <a:prstGeom prst="roundRect">
            <a:avLst>
              <a:gd name="adj" fmla="val 50000"/>
            </a:avLst>
          </a:prstGeom>
          <a:ln w="14288">
            <a:solidFill>
              <a:srgbClr val="FFFFFF">
                <a:alpha val="55000"/>
              </a:srgbClr>
            </a:solidFill>
            <a:prstDash val="solid"/>
          </a:ln>
        </p:spPr>
      </p:sp>
      <p:sp>
        <p:nvSpPr>
          <p:cNvPr id="32" name="Text 24"/>
          <p:cNvSpPr/>
          <p:nvPr/>
        </p:nvSpPr>
        <p:spPr>
          <a:xfrm>
            <a:off x="11453738" y="6887170"/>
            <a:ext cx="444326" cy="204787"/>
          </a:xfrm>
          <a:prstGeom prst="rect">
            <a:avLst/>
          </a:prstGeom>
          <a:noFill/>
          <a:ln/>
        </p:spPr>
        <p:txBody>
          <a:bodyPr wrap="square" lIns="25400" tIns="25400" rIns="25400" bIns="25400" rtlCol="0" anchor="t">
            <a:normAutofit/>
          </a:bodyPr>
          <a:lstStyle/>
          <a:p>
            <a:pPr algn="l" indent="0" marL="0">
              <a:buNone/>
            </a:pPr>
            <a:r>
              <a:rPr lang="en-US" sz="1125" dirty="0">
                <a:solidFill>
                  <a:srgbClr val="FFFFFF"/>
                </a:solidFill>
                <a:latin typeface="Roboto" pitchFamily="34" charset="0"/>
                <a:ea typeface="Roboto" pitchFamily="34" charset="-122"/>
                <a:cs typeface="Roboto" pitchFamily="34" charset="-120"/>
              </a:rPr>
              <a:t>filters</a:t>
            </a:r>
            <a:endParaRPr lang="en-US" sz="1125" dirty="0"/>
          </a:p>
        </p:txBody>
      </p:sp>
      <p:sp>
        <p:nvSpPr>
          <p:cNvPr id="33" name="Shape 25"/>
          <p:cNvSpPr/>
          <p:nvPr/>
        </p:nvSpPr>
        <p:spPr>
          <a:xfrm>
            <a:off x="8477250" y="7239595"/>
            <a:ext cx="1046931" cy="347663"/>
          </a:xfrm>
          <a:prstGeom prst="roundRect">
            <a:avLst>
              <a:gd name="adj" fmla="val 50000"/>
            </a:avLst>
          </a:prstGeom>
          <a:ln w="14288">
            <a:solidFill>
              <a:srgbClr val="FFFFFF">
                <a:alpha val="55000"/>
              </a:srgbClr>
            </a:solidFill>
            <a:prstDash val="solid"/>
          </a:ln>
        </p:spPr>
      </p:sp>
      <p:sp>
        <p:nvSpPr>
          <p:cNvPr id="34" name="Text 26"/>
          <p:cNvSpPr/>
          <p:nvPr/>
        </p:nvSpPr>
        <p:spPr>
          <a:xfrm>
            <a:off x="8643938" y="7330083"/>
            <a:ext cx="789756" cy="204787"/>
          </a:xfrm>
          <a:prstGeom prst="rect">
            <a:avLst/>
          </a:prstGeom>
          <a:noFill/>
          <a:ln/>
        </p:spPr>
        <p:txBody>
          <a:bodyPr wrap="square" lIns="25400" tIns="25400" rIns="25400" bIns="25400" rtlCol="0" anchor="t">
            <a:normAutofit/>
          </a:bodyPr>
          <a:lstStyle/>
          <a:p>
            <a:pPr algn="l" indent="0" marL="0">
              <a:buNone/>
            </a:pPr>
            <a:r>
              <a:rPr lang="en-US" sz="1125" dirty="0">
                <a:solidFill>
                  <a:srgbClr val="FFFFFF"/>
                </a:solidFill>
                <a:latin typeface="Roboto" pitchFamily="34" charset="0"/>
                <a:ea typeface="Roboto" pitchFamily="34" charset="-122"/>
                <a:cs typeface="Roboto" pitchFamily="34" charset="-120"/>
              </a:rPr>
              <a:t>ML ranking</a:t>
            </a:r>
            <a:endParaRPr lang="en-US" sz="1125" dirty="0"/>
          </a:p>
        </p:txBody>
      </p:sp>
      <p:sp>
        <p:nvSpPr>
          <p:cNvPr id="35" name="Shape 27"/>
          <p:cNvSpPr/>
          <p:nvPr/>
        </p:nvSpPr>
        <p:spPr>
          <a:xfrm>
            <a:off x="952500" y="9305925"/>
            <a:ext cx="16383000" cy="9525"/>
          </a:xfrm>
          <a:prstGeom prst="rect">
            <a:avLst/>
          </a:prstGeom>
          <a:solidFill>
            <a:srgbClr val="E2E8F0"/>
          </a:solidFill>
          <a:ln/>
        </p:spPr>
      </p:sp>
      <p:sp>
        <p:nvSpPr>
          <p:cNvPr id="36" name="Text 28"/>
          <p:cNvSpPr/>
          <p:nvPr/>
        </p:nvSpPr>
        <p:spPr>
          <a:xfrm>
            <a:off x="952500" y="9525000"/>
            <a:ext cx="8293023" cy="228600"/>
          </a:xfrm>
          <a:prstGeom prst="rect">
            <a:avLst/>
          </a:prstGeom>
          <a:noFill/>
          <a:ln/>
        </p:spPr>
        <p:txBody>
          <a:bodyPr wrap="square" lIns="25400" tIns="25400" rIns="25400" bIns="25400" rtlCol="0" anchor="t">
            <a:normAutofit/>
          </a:bodyPr>
          <a:lstStyle/>
          <a:p>
            <a:pPr algn="l" indent="0" marL="0">
              <a:buNone/>
            </a:pPr>
            <a:r>
              <a:rPr lang="en-US" sz="1275" dirty="0">
                <a:solidFill>
                  <a:srgbClr val="64748B"/>
                </a:solidFill>
                <a:latin typeface="Roboto" pitchFamily="34" charset="0"/>
                <a:ea typeface="Roboto" pitchFamily="34" charset="-122"/>
                <a:cs typeface="Roboto" pitchFamily="34" charset="-120"/>
              </a:rPr>
              <a:t>Open source · proven at Yahoo scale (~1B users, ~800k queries/sec) · powers </a:t>
            </a:r>
            <a:pPr algn="l" indent="0" marL="0">
              <a:buNone/>
            </a:pPr>
            <a:r>
              <a:rPr lang="en-US" sz="1275" b="1" dirty="0">
                <a:solidFill>
                  <a:srgbClr val="14254C"/>
                </a:solidFill>
                <a:latin typeface="Roboto" pitchFamily="34" charset="0"/>
                <a:ea typeface="Roboto" pitchFamily="34" charset="-122"/>
                <a:cs typeface="Roboto" pitchFamily="34" charset="-120"/>
              </a:rPr>
              <a:t>Perplexity</a:t>
            </a:r>
            <a:pPr algn="l" indent="0" marL="0">
              <a:buNone/>
            </a:pPr>
            <a:r>
              <a:rPr lang="en-US" sz="1275" dirty="0">
                <a:solidFill>
                  <a:srgbClr val="64748B"/>
                </a:solidFill>
                <a:latin typeface="Roboto" pitchFamily="34" charset="0"/>
                <a:ea typeface="Roboto" pitchFamily="34" charset="-122"/>
                <a:cs typeface="Roboto" pitchFamily="34" charset="-120"/>
              </a:rPr>
              <a:t>, </a:t>
            </a:r>
            <a:pPr algn="l" indent="0" marL="0">
              <a:buNone/>
            </a:pPr>
            <a:r>
              <a:rPr lang="en-US" sz="1275" b="1" dirty="0">
                <a:solidFill>
                  <a:srgbClr val="14254C"/>
                </a:solidFill>
                <a:latin typeface="Roboto" pitchFamily="34" charset="0"/>
                <a:ea typeface="Roboto" pitchFamily="34" charset="-122"/>
                <a:cs typeface="Roboto" pitchFamily="34" charset="-120"/>
              </a:rPr>
              <a:t>Spotify</a:t>
            </a:r>
            <a:pPr algn="l" indent="0" marL="0">
              <a:buNone/>
            </a:pPr>
            <a:r>
              <a:rPr lang="en-US" sz="1275" dirty="0">
                <a:solidFill>
                  <a:srgbClr val="64748B"/>
                </a:solidFill>
                <a:latin typeface="Roboto" pitchFamily="34" charset="0"/>
                <a:ea typeface="Roboto" pitchFamily="34" charset="-122"/>
                <a:cs typeface="Roboto" pitchFamily="34" charset="-120"/>
              </a:rPr>
              <a:t>, </a:t>
            </a:r>
            <a:pPr algn="l" indent="0" marL="0">
              <a:buNone/>
            </a:pPr>
            <a:r>
              <a:rPr lang="en-US" sz="1275" b="1" dirty="0">
                <a:solidFill>
                  <a:srgbClr val="14254C"/>
                </a:solidFill>
                <a:latin typeface="Roboto" pitchFamily="34" charset="0"/>
                <a:ea typeface="Roboto" pitchFamily="34" charset="-122"/>
                <a:cs typeface="Roboto" pitchFamily="34" charset="-120"/>
              </a:rPr>
              <a:t>Vinted</a:t>
            </a:r>
            <a:pPr algn="l" indent="0" marL="0">
              <a:buNone/>
            </a:pPr>
            <a:r>
              <a:rPr lang="en-US" sz="1275" dirty="0">
                <a:solidFill>
                  <a:srgbClr val="64748B"/>
                </a:solidFill>
                <a:latin typeface="Roboto" pitchFamily="34" charset="0"/>
                <a:ea typeface="Roboto" pitchFamily="34" charset="-122"/>
                <a:cs typeface="Roboto" pitchFamily="34" charset="-120"/>
              </a:rPr>
              <a:t>.</a:t>
            </a:r>
            <a:endParaRPr lang="en-US" sz="1275" dirty="0"/>
          </a:p>
        </p:txBody>
      </p:sp>
      <p:sp>
        <p:nvSpPr>
          <p:cNvPr id="37" name="Text 29"/>
          <p:cNvSpPr/>
          <p:nvPr/>
        </p:nvSpPr>
        <p:spPr>
          <a:xfrm>
            <a:off x="16055132" y="9532144"/>
            <a:ext cx="1408405" cy="214313"/>
          </a:xfrm>
          <a:prstGeom prst="rect">
            <a:avLst/>
          </a:prstGeom>
          <a:noFill/>
          <a:ln/>
        </p:spPr>
        <p:txBody>
          <a:bodyPr wrap="square" lIns="25400" tIns="25400" rIns="25400" bIns="25400" rtlCol="0" anchor="t">
            <a:normAutofit/>
          </a:bodyPr>
          <a:lstStyle/>
          <a:p>
            <a:pPr algn="l" indent="0" marL="0">
              <a:buNone/>
            </a:pPr>
            <a:r>
              <a:rPr lang="en-US" sz="1050" dirty="0">
                <a:solidFill>
                  <a:srgbClr val="94A3B8"/>
                </a:solidFill>
                <a:latin typeface="Roboto Mono" pitchFamily="34" charset="0"/>
                <a:ea typeface="Roboto Mono" pitchFamily="34" charset="-122"/>
                <a:cs typeface="Roboto Mono" pitchFamily="34" charset="-120"/>
              </a:rPr>
              <a:t>Factored · Vespa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704850"/>
            <a:ext cx="1387525" cy="323850"/>
          </a:xfrm>
          <a:prstGeom prst="rect">
            <a:avLst/>
          </a:prstGeom>
        </p:spPr>
      </p:pic>
      <p:sp>
        <p:nvSpPr>
          <p:cNvPr id="3" name="Text 0"/>
          <p:cNvSpPr/>
          <p:nvPr/>
        </p:nvSpPr>
        <p:spPr>
          <a:xfrm>
            <a:off x="14389373" y="783431"/>
            <a:ext cx="3240740"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047E5"/>
                </a:solidFill>
                <a:latin typeface="Roboto" pitchFamily="34" charset="0"/>
                <a:ea typeface="Roboto" pitchFamily="34" charset="-122"/>
                <a:cs typeface="Roboto" pitchFamily="34" charset="-120"/>
              </a:rPr>
              <a:t>VESPA · 02 · BUILT &amp; MEASURED</a:t>
            </a:r>
            <a:endParaRPr lang="en-US" sz="1125" dirty="0"/>
          </a:p>
        </p:txBody>
      </p:sp>
      <p:sp>
        <p:nvSpPr>
          <p:cNvPr id="4" name="Text 1"/>
          <p:cNvSpPr/>
          <p:nvPr/>
        </p:nvSpPr>
        <p:spPr>
          <a:xfrm>
            <a:off x="952500" y="1409700"/>
            <a:ext cx="18021300" cy="640407"/>
          </a:xfrm>
          <a:prstGeom prst="rect">
            <a:avLst/>
          </a:prstGeom>
          <a:noFill/>
          <a:ln/>
        </p:spPr>
        <p:txBody>
          <a:bodyPr wrap="square" lIns="25400" tIns="25400" rIns="25400" bIns="25400" rtlCol="0" anchor="t">
            <a:normAutofit/>
          </a:bodyPr>
          <a:lstStyle/>
          <a:p>
            <a:pPr algn="l" indent="0" marL="0">
              <a:lnSpc>
                <a:spcPct val="102000"/>
              </a:lnSpc>
              <a:buNone/>
            </a:pPr>
            <a:r>
              <a:rPr lang="en-US" sz="4650" b="1" spc="-90" kern="0" dirty="0">
                <a:solidFill>
                  <a:srgbClr val="14254C"/>
                </a:solidFill>
                <a:latin typeface="Roboto" pitchFamily="34" charset="0"/>
                <a:ea typeface="Roboto" pitchFamily="34" charset="-122"/>
                <a:cs typeface="Roboto" pitchFamily="34" charset="-120"/>
              </a:rPr>
              <a:t>Hybrid search, measured.</a:t>
            </a:r>
            <a:endParaRPr lang="en-US" sz="4650" dirty="0"/>
          </a:p>
        </p:txBody>
      </p:sp>
      <p:sp>
        <p:nvSpPr>
          <p:cNvPr id="5" name="Shape 2"/>
          <p:cNvSpPr/>
          <p:nvPr/>
        </p:nvSpPr>
        <p:spPr>
          <a:xfrm>
            <a:off x="952500" y="2335857"/>
            <a:ext cx="9350201" cy="6665268"/>
          </a:xfrm>
          <a:prstGeom prst="roundRect">
            <a:avLst>
              <a:gd name="adj" fmla="val 2572"/>
            </a:avLst>
          </a:prstGeom>
          <a:solidFill>
            <a:srgbClr val="F6F8FC"/>
          </a:solidFill>
          <a:ln/>
        </p:spPr>
      </p:sp>
      <p:sp>
        <p:nvSpPr>
          <p:cNvPr id="6" name="Text 3"/>
          <p:cNvSpPr/>
          <p:nvPr/>
        </p:nvSpPr>
        <p:spPr>
          <a:xfrm>
            <a:off x="1390650" y="2750195"/>
            <a:ext cx="2635009" cy="204787"/>
          </a:xfrm>
          <a:prstGeom prst="rect">
            <a:avLst/>
          </a:prstGeom>
          <a:noFill/>
          <a:ln/>
        </p:spPr>
        <p:txBody>
          <a:bodyPr wrap="square" lIns="25400" tIns="25400" rIns="25400" bIns="25400" rtlCol="0" anchor="t">
            <a:normAutofit/>
          </a:bodyPr>
          <a:lstStyle/>
          <a:p>
            <a:pPr algn="l" indent="0" marL="0">
              <a:buNone/>
            </a:pPr>
            <a:r>
              <a:rPr lang="en-US" sz="1125" b="1" spc="150" kern="0" dirty="0">
                <a:solidFill>
                  <a:srgbClr val="0047E5"/>
                </a:solidFill>
                <a:latin typeface="Roboto" pitchFamily="34" charset="0"/>
                <a:ea typeface="Roboto" pitchFamily="34" charset="-122"/>
                <a:cs typeface="Roboto" pitchFamily="34" charset="-120"/>
              </a:rPr>
              <a:t>SEARCH QUALITY · nDCG@10</a:t>
            </a:r>
            <a:endParaRPr lang="en-US" sz="1125" dirty="0"/>
          </a:p>
        </p:txBody>
      </p:sp>
      <p:sp>
        <p:nvSpPr>
          <p:cNvPr id="7" name="Text 4"/>
          <p:cNvSpPr/>
          <p:nvPr/>
        </p:nvSpPr>
        <p:spPr>
          <a:xfrm>
            <a:off x="7721054" y="2735907"/>
            <a:ext cx="2357847" cy="223838"/>
          </a:xfrm>
          <a:prstGeom prst="rect">
            <a:avLst/>
          </a:prstGeom>
          <a:noFill/>
          <a:ln/>
        </p:spPr>
        <p:txBody>
          <a:bodyPr wrap="square" lIns="25400" tIns="25400" rIns="25400" bIns="25400" rtlCol="0" anchor="t">
            <a:normAutofit/>
          </a:bodyPr>
          <a:lstStyle/>
          <a:p>
            <a:pPr algn="l" indent="0" marL="0">
              <a:buNone/>
            </a:pPr>
            <a:r>
              <a:rPr lang="en-US" sz="1125" dirty="0">
                <a:solidFill>
                  <a:srgbClr val="64748B"/>
                </a:solidFill>
                <a:latin typeface="Roboto Mono" pitchFamily="34" charset="0"/>
                <a:ea typeface="Roboto Mono" pitchFamily="34" charset="-122"/>
                <a:cs typeface="Roboto Mono" pitchFamily="34" charset="-120"/>
              </a:rPr>
              <a:t>171,332 docs · one laptop</a:t>
            </a:r>
            <a:endParaRPr lang="en-US" sz="1125" dirty="0"/>
          </a:p>
        </p:txBody>
      </p:sp>
      <p:sp>
        <p:nvSpPr>
          <p:cNvPr id="8" name="Text 5"/>
          <p:cNvSpPr/>
          <p:nvPr/>
        </p:nvSpPr>
        <p:spPr>
          <a:xfrm>
            <a:off x="1390650" y="3309789"/>
            <a:ext cx="2095500" cy="271463"/>
          </a:xfrm>
          <a:prstGeom prst="rect">
            <a:avLst/>
          </a:prstGeom>
          <a:noFill/>
          <a:ln/>
        </p:spPr>
        <p:txBody>
          <a:bodyPr wrap="square" lIns="25400" tIns="25400" rIns="25400" bIns="25400" rtlCol="0" anchor="t">
            <a:normAutofit/>
          </a:bodyPr>
          <a:lstStyle/>
          <a:p>
            <a:pPr algn="l" indent="0" marL="0">
              <a:buNone/>
            </a:pPr>
            <a:r>
              <a:rPr lang="en-US" sz="1575" b="1" dirty="0">
                <a:solidFill>
                  <a:srgbClr val="14254C"/>
                </a:solidFill>
                <a:latin typeface="Roboto" pitchFamily="34" charset="0"/>
                <a:ea typeface="Roboto" pitchFamily="34" charset="-122"/>
                <a:cs typeface="Roboto" pitchFamily="34" charset="-120"/>
              </a:rPr>
              <a:t>Hybrid (RRF)</a:t>
            </a:r>
            <a:endParaRPr lang="en-US" sz="1575" dirty="0"/>
          </a:p>
        </p:txBody>
      </p:sp>
      <p:sp>
        <p:nvSpPr>
          <p:cNvPr id="9" name="Shape 6"/>
          <p:cNvSpPr/>
          <p:nvPr/>
        </p:nvSpPr>
        <p:spPr>
          <a:xfrm>
            <a:off x="3505200" y="3245495"/>
            <a:ext cx="5444951" cy="361950"/>
          </a:xfrm>
          <a:prstGeom prst="roundRect">
            <a:avLst>
              <a:gd name="adj" fmla="val 23684"/>
            </a:avLst>
          </a:prstGeom>
          <a:solidFill>
            <a:srgbClr val="E5EAF2"/>
          </a:solidFill>
          <a:ln/>
        </p:spPr>
      </p:sp>
      <p:sp>
        <p:nvSpPr>
          <p:cNvPr id="10" name="Shape 7"/>
          <p:cNvSpPr/>
          <p:nvPr/>
        </p:nvSpPr>
        <p:spPr>
          <a:xfrm>
            <a:off x="3505200" y="3245495"/>
            <a:ext cx="5444951" cy="361950"/>
          </a:xfrm>
          <a:prstGeom prst="roundRect">
            <a:avLst>
              <a:gd name="adj" fmla="val 23684"/>
            </a:avLst>
          </a:prstGeom>
          <a:solidFill>
            <a:srgbClr val="0047E5"/>
          </a:solidFill>
          <a:ln/>
        </p:spPr>
      </p:sp>
      <p:sp>
        <p:nvSpPr>
          <p:cNvPr id="11" name="Text 8"/>
          <p:cNvSpPr/>
          <p:nvPr/>
        </p:nvSpPr>
        <p:spPr>
          <a:xfrm>
            <a:off x="9083501" y="3257401"/>
            <a:ext cx="781050" cy="376238"/>
          </a:xfrm>
          <a:prstGeom prst="rect">
            <a:avLst/>
          </a:prstGeom>
          <a:noFill/>
          <a:ln/>
        </p:spPr>
        <p:txBody>
          <a:bodyPr wrap="square" lIns="25400" tIns="25400" rIns="25400" bIns="25400" rtlCol="0" anchor="t">
            <a:normAutofit/>
          </a:bodyPr>
          <a:lstStyle/>
          <a:p>
            <a:pPr algn="r" indent="0" marL="0">
              <a:buNone/>
            </a:pPr>
            <a:r>
              <a:rPr lang="en-US" sz="2250" b="1" dirty="0">
                <a:solidFill>
                  <a:srgbClr val="0047E5"/>
                </a:solidFill>
                <a:latin typeface="Roboto" pitchFamily="34" charset="0"/>
                <a:ea typeface="Roboto" pitchFamily="34" charset="-122"/>
                <a:cs typeface="Roboto" pitchFamily="34" charset="-120"/>
              </a:rPr>
              <a:t>0.74</a:t>
            </a:r>
            <a:endParaRPr lang="en-US" sz="2250" dirty="0"/>
          </a:p>
        </p:txBody>
      </p:sp>
      <p:sp>
        <p:nvSpPr>
          <p:cNvPr id="12" name="Text 9"/>
          <p:cNvSpPr/>
          <p:nvPr/>
        </p:nvSpPr>
        <p:spPr>
          <a:xfrm>
            <a:off x="1390650" y="3881289"/>
            <a:ext cx="2095500" cy="271463"/>
          </a:xfrm>
          <a:prstGeom prst="rect">
            <a:avLst/>
          </a:prstGeom>
          <a:noFill/>
          <a:ln/>
        </p:spPr>
        <p:txBody>
          <a:bodyPr wrap="square" lIns="25400" tIns="25400" rIns="25400" bIns="25400" rtlCol="0" anchor="t">
            <a:normAutofit/>
          </a:bodyPr>
          <a:lstStyle/>
          <a:p>
            <a:pPr algn="l" indent="0" marL="0">
              <a:buNone/>
            </a:pPr>
            <a:r>
              <a:rPr lang="en-US" sz="1575" dirty="0">
                <a:solidFill>
                  <a:srgbClr val="64748B"/>
                </a:solidFill>
                <a:latin typeface="Roboto" pitchFamily="34" charset="0"/>
                <a:ea typeface="Roboto" pitchFamily="34" charset="-122"/>
                <a:cs typeface="Roboto" pitchFamily="34" charset="-120"/>
              </a:rPr>
              <a:t>Keyword (BM25)</a:t>
            </a:r>
            <a:endParaRPr lang="en-US" sz="1575" dirty="0"/>
          </a:p>
        </p:txBody>
      </p:sp>
      <p:sp>
        <p:nvSpPr>
          <p:cNvPr id="13" name="Shape 10"/>
          <p:cNvSpPr/>
          <p:nvPr/>
        </p:nvSpPr>
        <p:spPr>
          <a:xfrm>
            <a:off x="3505200" y="3816995"/>
            <a:ext cx="5444951" cy="361950"/>
          </a:xfrm>
          <a:prstGeom prst="roundRect">
            <a:avLst>
              <a:gd name="adj" fmla="val 23684"/>
            </a:avLst>
          </a:prstGeom>
          <a:solidFill>
            <a:srgbClr val="E5EAF2"/>
          </a:solidFill>
          <a:ln/>
        </p:spPr>
      </p:sp>
      <p:sp>
        <p:nvSpPr>
          <p:cNvPr id="14" name="Shape 11"/>
          <p:cNvSpPr/>
          <p:nvPr/>
        </p:nvSpPr>
        <p:spPr>
          <a:xfrm>
            <a:off x="3505200" y="3816995"/>
            <a:ext cx="4339605" cy="361950"/>
          </a:xfrm>
          <a:prstGeom prst="roundRect">
            <a:avLst>
              <a:gd name="adj" fmla="val 23684"/>
            </a:avLst>
          </a:prstGeom>
          <a:solidFill>
            <a:srgbClr val="AAB6CC"/>
          </a:solidFill>
          <a:ln/>
        </p:spPr>
      </p:sp>
      <p:sp>
        <p:nvSpPr>
          <p:cNvPr id="15" name="Text 12"/>
          <p:cNvSpPr/>
          <p:nvPr/>
        </p:nvSpPr>
        <p:spPr>
          <a:xfrm>
            <a:off x="9083501" y="3828901"/>
            <a:ext cx="781050" cy="376238"/>
          </a:xfrm>
          <a:prstGeom prst="rect">
            <a:avLst/>
          </a:prstGeom>
          <a:noFill/>
          <a:ln/>
        </p:spPr>
        <p:txBody>
          <a:bodyPr wrap="square" lIns="25400" tIns="25400" rIns="25400" bIns="25400" rtlCol="0" anchor="t">
            <a:normAutofit/>
          </a:bodyPr>
          <a:lstStyle/>
          <a:p>
            <a:pPr algn="r" indent="0" marL="0">
              <a:buNone/>
            </a:pPr>
            <a:r>
              <a:rPr lang="en-US" sz="2250" b="1" dirty="0">
                <a:solidFill>
                  <a:srgbClr val="94A3B8"/>
                </a:solidFill>
                <a:latin typeface="Roboto" pitchFamily="34" charset="0"/>
                <a:ea typeface="Roboto" pitchFamily="34" charset="-122"/>
                <a:cs typeface="Roboto" pitchFamily="34" charset="-120"/>
              </a:rPr>
              <a:t>0.59</a:t>
            </a:r>
            <a:endParaRPr lang="en-US" sz="2250" dirty="0"/>
          </a:p>
        </p:txBody>
      </p:sp>
      <p:sp>
        <p:nvSpPr>
          <p:cNvPr id="16" name="Text 13"/>
          <p:cNvSpPr/>
          <p:nvPr/>
        </p:nvSpPr>
        <p:spPr>
          <a:xfrm>
            <a:off x="1390650" y="4452789"/>
            <a:ext cx="2095500" cy="271463"/>
          </a:xfrm>
          <a:prstGeom prst="rect">
            <a:avLst/>
          </a:prstGeom>
          <a:noFill/>
          <a:ln/>
        </p:spPr>
        <p:txBody>
          <a:bodyPr wrap="square" lIns="25400" tIns="25400" rIns="25400" bIns="25400" rtlCol="0" anchor="t">
            <a:normAutofit/>
          </a:bodyPr>
          <a:lstStyle/>
          <a:p>
            <a:pPr algn="l" indent="0" marL="0">
              <a:buNone/>
            </a:pPr>
            <a:r>
              <a:rPr lang="en-US" sz="1575" dirty="0">
                <a:solidFill>
                  <a:srgbClr val="64748B"/>
                </a:solidFill>
                <a:latin typeface="Roboto" pitchFamily="34" charset="0"/>
                <a:ea typeface="Roboto" pitchFamily="34" charset="-122"/>
                <a:cs typeface="Roboto" pitchFamily="34" charset="-120"/>
              </a:rPr>
              <a:t>Semantic only</a:t>
            </a:r>
            <a:endParaRPr lang="en-US" sz="1575" dirty="0"/>
          </a:p>
        </p:txBody>
      </p:sp>
      <p:sp>
        <p:nvSpPr>
          <p:cNvPr id="17" name="Shape 14"/>
          <p:cNvSpPr/>
          <p:nvPr/>
        </p:nvSpPr>
        <p:spPr>
          <a:xfrm>
            <a:off x="3505200" y="4388495"/>
            <a:ext cx="5444951" cy="361950"/>
          </a:xfrm>
          <a:prstGeom prst="roundRect">
            <a:avLst>
              <a:gd name="adj" fmla="val 23684"/>
            </a:avLst>
          </a:prstGeom>
          <a:solidFill>
            <a:srgbClr val="E5EAF2"/>
          </a:solidFill>
          <a:ln/>
        </p:spPr>
      </p:sp>
      <p:sp>
        <p:nvSpPr>
          <p:cNvPr id="18" name="Shape 15"/>
          <p:cNvSpPr/>
          <p:nvPr/>
        </p:nvSpPr>
        <p:spPr>
          <a:xfrm>
            <a:off x="3505200" y="4388495"/>
            <a:ext cx="3751511" cy="361950"/>
          </a:xfrm>
          <a:prstGeom prst="roundRect">
            <a:avLst>
              <a:gd name="adj" fmla="val 23684"/>
            </a:avLst>
          </a:prstGeom>
          <a:solidFill>
            <a:srgbClr val="AAB6CC"/>
          </a:solidFill>
          <a:ln/>
        </p:spPr>
      </p:sp>
      <p:sp>
        <p:nvSpPr>
          <p:cNvPr id="19" name="Text 16"/>
          <p:cNvSpPr/>
          <p:nvPr/>
        </p:nvSpPr>
        <p:spPr>
          <a:xfrm>
            <a:off x="9083501" y="4400401"/>
            <a:ext cx="781050" cy="376238"/>
          </a:xfrm>
          <a:prstGeom prst="rect">
            <a:avLst/>
          </a:prstGeom>
          <a:noFill/>
          <a:ln/>
        </p:spPr>
        <p:txBody>
          <a:bodyPr wrap="square" lIns="25400" tIns="25400" rIns="25400" bIns="25400" rtlCol="0" anchor="t">
            <a:normAutofit/>
          </a:bodyPr>
          <a:lstStyle/>
          <a:p>
            <a:pPr algn="r" indent="0" marL="0">
              <a:buNone/>
            </a:pPr>
            <a:r>
              <a:rPr lang="en-US" sz="2250" b="1" dirty="0">
                <a:solidFill>
                  <a:srgbClr val="94A3B8"/>
                </a:solidFill>
                <a:latin typeface="Roboto" pitchFamily="34" charset="0"/>
                <a:ea typeface="Roboto" pitchFamily="34" charset="-122"/>
                <a:cs typeface="Roboto" pitchFamily="34" charset="-120"/>
              </a:rPr>
              <a:t>0.51</a:t>
            </a:r>
            <a:endParaRPr lang="en-US" sz="2250" dirty="0"/>
          </a:p>
        </p:txBody>
      </p:sp>
      <p:sp>
        <p:nvSpPr>
          <p:cNvPr id="20" name="Text 17"/>
          <p:cNvSpPr/>
          <p:nvPr/>
        </p:nvSpPr>
        <p:spPr>
          <a:xfrm>
            <a:off x="1390650" y="7191375"/>
            <a:ext cx="3143250" cy="723900"/>
          </a:xfrm>
          <a:prstGeom prst="rect">
            <a:avLst/>
          </a:prstGeom>
          <a:noFill/>
          <a:ln/>
        </p:spPr>
        <p:txBody>
          <a:bodyPr wrap="square" lIns="25400" tIns="25400" rIns="25400" bIns="25400" rtlCol="0" anchor="t">
            <a:normAutofit/>
          </a:bodyPr>
          <a:lstStyle/>
          <a:p>
            <a:pPr algn="l" indent="0" marL="0">
              <a:lnSpc>
                <a:spcPct val="90000"/>
              </a:lnSpc>
              <a:buNone/>
            </a:pPr>
            <a:r>
              <a:rPr lang="en-US" sz="6000" b="1" spc="-150" kern="0" dirty="0">
                <a:solidFill>
                  <a:srgbClr val="0047E5"/>
                </a:solidFill>
                <a:latin typeface="Roboto" pitchFamily="34" charset="0"/>
                <a:ea typeface="Roboto" pitchFamily="34" charset="-122"/>
                <a:cs typeface="Roboto" pitchFamily="34" charset="-120"/>
              </a:rPr>
              <a:t>+25%</a:t>
            </a:r>
            <a:endParaRPr lang="en-US" sz="6000" dirty="0"/>
          </a:p>
        </p:txBody>
      </p:sp>
      <p:sp>
        <p:nvSpPr>
          <p:cNvPr id="21" name="Text 18"/>
          <p:cNvSpPr/>
          <p:nvPr/>
        </p:nvSpPr>
        <p:spPr>
          <a:xfrm>
            <a:off x="1390650" y="7972425"/>
            <a:ext cx="2943225" cy="666750"/>
          </a:xfrm>
          <a:prstGeom prst="rect">
            <a:avLst/>
          </a:prstGeom>
          <a:noFill/>
          <a:ln/>
        </p:spPr>
        <p:txBody>
          <a:bodyPr wrap="square" lIns="25400" tIns="25400" rIns="25400" bIns="25400" rtlCol="0" anchor="t">
            <a:normAutofit/>
          </a:bodyPr>
          <a:lstStyle/>
          <a:p>
            <a:pPr algn="l" indent="0" marL="0">
              <a:buNone/>
            </a:pPr>
            <a:r>
              <a:rPr lang="en-US" sz="1425" dirty="0">
                <a:solidFill>
                  <a:srgbClr val="475569"/>
                </a:solidFill>
                <a:latin typeface="Roboto" pitchFamily="34" charset="0"/>
                <a:ea typeface="Roboto" pitchFamily="34" charset="-122"/>
                <a:cs typeface="Roboto" pitchFamily="34" charset="-120"/>
              </a:rPr>
              <a:t>higher quality than keyword search alone — it catches the exact term </a:t>
            </a:r>
            <a:pPr algn="l" indent="0" marL="0">
              <a:buNone/>
            </a:pPr>
            <a:r>
              <a:rPr lang="en-US" sz="1425" i="1" dirty="0">
                <a:solidFill>
                  <a:srgbClr val="475569"/>
                </a:solidFill>
                <a:latin typeface="Roboto" pitchFamily="34" charset="0"/>
                <a:ea typeface="Roboto" pitchFamily="34" charset="-122"/>
                <a:cs typeface="Roboto" pitchFamily="34" charset="-120"/>
              </a:rPr>
              <a:t>and </a:t>
            </a:r>
            <a:pPr algn="l" indent="0" marL="0">
              <a:buNone/>
            </a:pPr>
            <a:r>
              <a:rPr lang="en-US" sz="1425" dirty="0">
                <a:solidFill>
                  <a:srgbClr val="475569"/>
                </a:solidFill>
                <a:latin typeface="Roboto" pitchFamily="34" charset="0"/>
                <a:ea typeface="Roboto" pitchFamily="34" charset="-122"/>
                <a:cs typeface="Roboto" pitchFamily="34" charset="-120"/>
              </a:rPr>
              <a:t>the meaning.</a:t>
            </a:r>
            <a:endParaRPr lang="en-US" sz="1425" dirty="0"/>
          </a:p>
        </p:txBody>
      </p:sp>
      <p:sp>
        <p:nvSpPr>
          <p:cNvPr id="22" name="Shape 19"/>
          <p:cNvSpPr/>
          <p:nvPr/>
        </p:nvSpPr>
        <p:spPr>
          <a:xfrm>
            <a:off x="7082805" y="7696200"/>
            <a:ext cx="1407988" cy="904875"/>
          </a:xfrm>
          <a:prstGeom prst="roundRect">
            <a:avLst>
              <a:gd name="adj" fmla="val 12632"/>
            </a:avLst>
          </a:prstGeom>
          <a:solidFill>
            <a:srgbClr val="FFFFFF"/>
          </a:solidFill>
          <a:ln w="14288">
            <a:solidFill>
              <a:srgbClr val="E2E8F0"/>
            </a:solidFill>
            <a:prstDash val="solid"/>
          </a:ln>
        </p:spPr>
      </p:sp>
      <p:sp>
        <p:nvSpPr>
          <p:cNvPr id="23" name="Text 20"/>
          <p:cNvSpPr/>
          <p:nvPr/>
        </p:nvSpPr>
        <p:spPr>
          <a:xfrm>
            <a:off x="7268542" y="7862888"/>
            <a:ext cx="1036513" cy="414338"/>
          </a:xfrm>
          <a:prstGeom prst="rect">
            <a:avLst/>
          </a:prstGeom>
          <a:noFill/>
          <a:ln/>
        </p:spPr>
        <p:txBody>
          <a:bodyPr wrap="square" lIns="25400" tIns="25400" rIns="25400" bIns="25400" rtlCol="0" anchor="t">
            <a:normAutofit/>
          </a:bodyPr>
          <a:lstStyle/>
          <a:p>
            <a:pPr algn="ctr" indent="0" marL="0">
              <a:buNone/>
            </a:pPr>
            <a:r>
              <a:rPr lang="en-US" sz="2250" b="1" dirty="0">
                <a:solidFill>
                  <a:srgbClr val="14254C"/>
                </a:solidFill>
                <a:latin typeface="Roboto Mono" pitchFamily="34" charset="0"/>
                <a:ea typeface="Roboto Mono" pitchFamily="34" charset="-122"/>
                <a:cs typeface="Roboto Mono" pitchFamily="34" charset="-120"/>
              </a:rPr>
              <a:t>5–14</a:t>
            </a:r>
            <a:pPr algn="ctr" indent="0" marL="0">
              <a:buNone/>
            </a:pPr>
            <a:r>
              <a:rPr lang="en-US" sz="1200" dirty="0">
                <a:solidFill>
                  <a:srgbClr val="64748B"/>
                </a:solidFill>
                <a:latin typeface="Roboto Mono" pitchFamily="34" charset="0"/>
                <a:ea typeface="Roboto Mono" pitchFamily="34" charset="-122"/>
                <a:cs typeface="Roboto Mono" pitchFamily="34" charset="-120"/>
              </a:rPr>
              <a:t>ms</a:t>
            </a:r>
            <a:endParaRPr lang="en-US" sz="2250" dirty="0"/>
          </a:p>
        </p:txBody>
      </p:sp>
      <p:sp>
        <p:nvSpPr>
          <p:cNvPr id="24" name="Text 21"/>
          <p:cNvSpPr/>
          <p:nvPr/>
        </p:nvSpPr>
        <p:spPr>
          <a:xfrm>
            <a:off x="7268542" y="8277225"/>
            <a:ext cx="1036513" cy="195263"/>
          </a:xfrm>
          <a:prstGeom prst="rect">
            <a:avLst/>
          </a:prstGeom>
          <a:noFill/>
          <a:ln/>
        </p:spPr>
        <p:txBody>
          <a:bodyPr wrap="square" lIns="25400" tIns="25400" rIns="25400" bIns="25400" rtlCol="0" anchor="t">
            <a:normAutofit/>
          </a:bodyPr>
          <a:lstStyle/>
          <a:p>
            <a:pPr algn="ctr" indent="0" marL="0">
              <a:buNone/>
            </a:pPr>
            <a:r>
              <a:rPr lang="en-US" sz="1050" dirty="0">
                <a:solidFill>
                  <a:srgbClr val="94A3B8"/>
                </a:solidFill>
                <a:latin typeface="Roboto" pitchFamily="34" charset="0"/>
                <a:ea typeface="Roboto" pitchFamily="34" charset="-122"/>
                <a:cs typeface="Roboto" pitchFamily="34" charset="-120"/>
              </a:rPr>
              <a:t>per query</a:t>
            </a:r>
            <a:endParaRPr lang="en-US" sz="1050" dirty="0"/>
          </a:p>
        </p:txBody>
      </p:sp>
      <p:sp>
        <p:nvSpPr>
          <p:cNvPr id="25" name="Shape 22"/>
          <p:cNvSpPr/>
          <p:nvPr/>
        </p:nvSpPr>
        <p:spPr>
          <a:xfrm>
            <a:off x="8624143" y="7696200"/>
            <a:ext cx="1240408" cy="904875"/>
          </a:xfrm>
          <a:prstGeom prst="roundRect">
            <a:avLst>
              <a:gd name="adj" fmla="val 12632"/>
            </a:avLst>
          </a:prstGeom>
          <a:solidFill>
            <a:srgbClr val="FFFFFF"/>
          </a:solidFill>
          <a:ln w="14288">
            <a:solidFill>
              <a:srgbClr val="E2E8F0"/>
            </a:solidFill>
            <a:prstDash val="solid"/>
          </a:ln>
        </p:spPr>
      </p:sp>
      <p:sp>
        <p:nvSpPr>
          <p:cNvPr id="26" name="Text 23"/>
          <p:cNvSpPr/>
          <p:nvPr/>
        </p:nvSpPr>
        <p:spPr>
          <a:xfrm>
            <a:off x="8809881" y="7862888"/>
            <a:ext cx="868933" cy="414338"/>
          </a:xfrm>
          <a:prstGeom prst="rect">
            <a:avLst/>
          </a:prstGeom>
          <a:noFill/>
          <a:ln/>
        </p:spPr>
        <p:txBody>
          <a:bodyPr wrap="square" lIns="25400" tIns="25400" rIns="25400" bIns="25400" rtlCol="0" anchor="t">
            <a:normAutofit/>
          </a:bodyPr>
          <a:lstStyle/>
          <a:p>
            <a:pPr algn="ctr" indent="0" marL="0">
              <a:buNone/>
            </a:pPr>
            <a:r>
              <a:rPr lang="en-US" sz="2250" b="1" dirty="0">
                <a:solidFill>
                  <a:srgbClr val="14254C"/>
                </a:solidFill>
                <a:latin typeface="Roboto Mono" pitchFamily="34" charset="0"/>
                <a:ea typeface="Roboto Mono" pitchFamily="34" charset="-122"/>
                <a:cs typeface="Roboto Mono" pitchFamily="34" charset="-120"/>
              </a:rPr>
              <a:t>1</a:t>
            </a:r>
            <a:endParaRPr lang="en-US" sz="2250" dirty="0"/>
          </a:p>
        </p:txBody>
      </p:sp>
      <p:sp>
        <p:nvSpPr>
          <p:cNvPr id="27" name="Text 24"/>
          <p:cNvSpPr/>
          <p:nvPr/>
        </p:nvSpPr>
        <p:spPr>
          <a:xfrm>
            <a:off x="8809881" y="8277225"/>
            <a:ext cx="868933" cy="195263"/>
          </a:xfrm>
          <a:prstGeom prst="rect">
            <a:avLst/>
          </a:prstGeom>
          <a:noFill/>
          <a:ln/>
        </p:spPr>
        <p:txBody>
          <a:bodyPr wrap="square" lIns="25400" tIns="25400" rIns="25400" bIns="25400" rtlCol="0" anchor="t">
            <a:normAutofit/>
          </a:bodyPr>
          <a:lstStyle/>
          <a:p>
            <a:pPr algn="ctr" indent="0" marL="0">
              <a:buNone/>
            </a:pPr>
            <a:r>
              <a:rPr lang="en-US" sz="1050" dirty="0">
                <a:solidFill>
                  <a:srgbClr val="94A3B8"/>
                </a:solidFill>
                <a:latin typeface="Roboto" pitchFamily="34" charset="0"/>
                <a:ea typeface="Roboto" pitchFamily="34" charset="-122"/>
                <a:cs typeface="Roboto" pitchFamily="34" charset="-120"/>
              </a:rPr>
              <a:t>system, not 3</a:t>
            </a:r>
            <a:endParaRPr lang="en-US" sz="1050" dirty="0"/>
          </a:p>
        </p:txBody>
      </p:sp>
      <p:sp>
        <p:nvSpPr>
          <p:cNvPr id="28" name="Text 25"/>
          <p:cNvSpPr/>
          <p:nvPr/>
        </p:nvSpPr>
        <p:spPr>
          <a:xfrm>
            <a:off x="10817051" y="2335857"/>
            <a:ext cx="7170293" cy="204787"/>
          </a:xfrm>
          <a:prstGeom prst="rect">
            <a:avLst/>
          </a:prstGeom>
          <a:noFill/>
          <a:ln/>
        </p:spPr>
        <p:txBody>
          <a:bodyPr wrap="square" lIns="25400" tIns="25400" rIns="25400" bIns="25400" rtlCol="0" anchor="t">
            <a:normAutofit/>
          </a:bodyPr>
          <a:lstStyle/>
          <a:p>
            <a:pPr algn="l" indent="0" marL="0">
              <a:buNone/>
            </a:pPr>
            <a:r>
              <a:rPr lang="en-US" sz="1125" b="1" spc="150" kern="0" dirty="0">
                <a:solidFill>
                  <a:srgbClr val="94A3B8"/>
                </a:solidFill>
                <a:latin typeface="Roboto" pitchFamily="34" charset="0"/>
                <a:ea typeface="Roboto" pitchFamily="34" charset="-122"/>
                <a:cs typeface="Roboto" pitchFamily="34" charset="-120"/>
              </a:rPr>
              <a:t>WHY IT'S DIFFERENT</a:t>
            </a:r>
            <a:endParaRPr lang="en-US" sz="1125" dirty="0"/>
          </a:p>
        </p:txBody>
      </p:sp>
      <p:pic>
        <p:nvPicPr>
          <p:cNvPr id="29" name="Image 1" descr="preencoded.png">    </p:cNvPr>
          <p:cNvPicPr>
            <a:picLocks noChangeAspect="1"/>
          </p:cNvPicPr>
          <p:nvPr/>
        </p:nvPicPr>
        <p:blipFill>
          <a:blip r:embed="rId2"/>
          <a:srcRect l="0" r="0" t="0" b="0"/>
          <a:stretch/>
        </p:blipFill>
        <p:spPr>
          <a:xfrm>
            <a:off x="10817051" y="2731145"/>
            <a:ext cx="285750" cy="285750"/>
          </a:xfrm>
          <a:prstGeom prst="rect">
            <a:avLst/>
          </a:prstGeom>
        </p:spPr>
      </p:pic>
      <p:sp>
        <p:nvSpPr>
          <p:cNvPr id="30" name="Text 26"/>
          <p:cNvSpPr/>
          <p:nvPr/>
        </p:nvSpPr>
        <p:spPr>
          <a:xfrm>
            <a:off x="11274251" y="2712095"/>
            <a:ext cx="5952612"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dirty="0">
                <a:solidFill>
                  <a:srgbClr val="14254C"/>
                </a:solidFill>
                <a:latin typeface="Roboto" pitchFamily="34" charset="0"/>
                <a:ea typeface="Roboto" pitchFamily="34" charset="-122"/>
                <a:cs typeface="Roboto" pitchFamily="34" charset="-120"/>
              </a:rPr>
              <a:t>True hybrid in one query</a:t>
            </a:r>
            <a:endParaRPr lang="en-US" sz="1650" dirty="0"/>
          </a:p>
        </p:txBody>
      </p:sp>
      <p:sp>
        <p:nvSpPr>
          <p:cNvPr id="31" name="Text 27"/>
          <p:cNvSpPr/>
          <p:nvPr/>
        </p:nvSpPr>
        <p:spPr>
          <a:xfrm>
            <a:off x="11274251" y="2991148"/>
            <a:ext cx="5952612"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64748B"/>
                </a:solidFill>
                <a:latin typeface="Roboto" pitchFamily="34" charset="0"/>
                <a:ea typeface="Roboto" pitchFamily="34" charset="-122"/>
                <a:cs typeface="Roboto" pitchFamily="34" charset="-120"/>
              </a:rPr>
              <a:t>Keyword, vectors and filters fused inside ranking — not merged in app code.</a:t>
            </a:r>
            <a:endParaRPr lang="en-US" sz="1275" dirty="0"/>
          </a:p>
        </p:txBody>
      </p:sp>
      <p:pic>
        <p:nvPicPr>
          <p:cNvPr id="32" name="Image 2" descr="preencoded.png">    </p:cNvPr>
          <p:cNvPicPr>
            <a:picLocks noChangeAspect="1"/>
          </p:cNvPicPr>
          <p:nvPr/>
        </p:nvPicPr>
        <p:blipFill>
          <a:blip r:embed="rId3"/>
          <a:srcRect l="0" r="0" t="0" b="0"/>
          <a:stretch/>
        </p:blipFill>
        <p:spPr>
          <a:xfrm>
            <a:off x="10817051" y="3446413"/>
            <a:ext cx="285750" cy="285750"/>
          </a:xfrm>
          <a:prstGeom prst="rect">
            <a:avLst/>
          </a:prstGeom>
        </p:spPr>
      </p:pic>
      <p:sp>
        <p:nvSpPr>
          <p:cNvPr id="33" name="Text 28"/>
          <p:cNvSpPr/>
          <p:nvPr/>
        </p:nvSpPr>
        <p:spPr>
          <a:xfrm>
            <a:off x="11274251" y="3427363"/>
            <a:ext cx="5501260"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dirty="0">
                <a:solidFill>
                  <a:srgbClr val="14254C"/>
                </a:solidFill>
                <a:latin typeface="Roboto" pitchFamily="34" charset="0"/>
                <a:ea typeface="Roboto" pitchFamily="34" charset="-122"/>
                <a:cs typeface="Roboto" pitchFamily="34" charset="-120"/>
              </a:rPr>
              <a:t>ML ranking next to the data</a:t>
            </a:r>
            <a:endParaRPr lang="en-US" sz="1650" dirty="0"/>
          </a:p>
        </p:txBody>
      </p:sp>
      <p:sp>
        <p:nvSpPr>
          <p:cNvPr id="34" name="Text 29"/>
          <p:cNvSpPr/>
          <p:nvPr/>
        </p:nvSpPr>
        <p:spPr>
          <a:xfrm>
            <a:off x="11274251" y="3706416"/>
            <a:ext cx="5501260"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64748B"/>
                </a:solidFill>
                <a:latin typeface="Roboto" pitchFamily="34" charset="0"/>
                <a:ea typeface="Roboto" pitchFamily="34" charset="-122"/>
                <a:cs typeface="Roboto" pitchFamily="34" charset="-120"/>
              </a:rPr>
              <a:t>Hundreds of signals, multi-phase — no network hop to a model server.</a:t>
            </a:r>
            <a:endParaRPr lang="en-US" sz="1275" dirty="0"/>
          </a:p>
        </p:txBody>
      </p:sp>
      <p:pic>
        <p:nvPicPr>
          <p:cNvPr id="35" name="Image 3" descr="preencoded.png">    </p:cNvPr>
          <p:cNvPicPr>
            <a:picLocks noChangeAspect="1"/>
          </p:cNvPicPr>
          <p:nvPr/>
        </p:nvPicPr>
        <p:blipFill>
          <a:blip r:embed="rId4"/>
          <a:srcRect l="0" r="0" t="0" b="0"/>
          <a:stretch/>
        </p:blipFill>
        <p:spPr>
          <a:xfrm>
            <a:off x="10817051" y="4161681"/>
            <a:ext cx="285750" cy="285750"/>
          </a:xfrm>
          <a:prstGeom prst="rect">
            <a:avLst/>
          </a:prstGeom>
        </p:spPr>
      </p:pic>
      <p:sp>
        <p:nvSpPr>
          <p:cNvPr id="36" name="Text 30"/>
          <p:cNvSpPr/>
          <p:nvPr/>
        </p:nvSpPr>
        <p:spPr>
          <a:xfrm>
            <a:off x="11274251" y="4142631"/>
            <a:ext cx="5155585"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dirty="0">
                <a:solidFill>
                  <a:srgbClr val="14254C"/>
                </a:solidFill>
                <a:latin typeface="Roboto" pitchFamily="34" charset="0"/>
                <a:ea typeface="Roboto" pitchFamily="34" charset="-122"/>
                <a:cs typeface="Roboto" pitchFamily="34" charset="-120"/>
              </a:rPr>
              <a:t>Real-time updates</a:t>
            </a:r>
            <a:endParaRPr lang="en-US" sz="1650" dirty="0"/>
          </a:p>
        </p:txBody>
      </p:sp>
      <p:sp>
        <p:nvSpPr>
          <p:cNvPr id="37" name="Text 31"/>
          <p:cNvSpPr/>
          <p:nvPr/>
        </p:nvSpPr>
        <p:spPr>
          <a:xfrm>
            <a:off x="11274251" y="4421684"/>
            <a:ext cx="5155585"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64748B"/>
                </a:solidFill>
                <a:latin typeface="Roboto" pitchFamily="34" charset="0"/>
                <a:ea typeface="Roboto" pitchFamily="34" charset="-122"/>
                <a:cs typeface="Roboto" pitchFamily="34" charset="-120"/>
              </a:rPr>
              <a:t>A price or a click changes ranking on the next query — no reindex.</a:t>
            </a:r>
            <a:endParaRPr lang="en-US" sz="1275" dirty="0"/>
          </a:p>
        </p:txBody>
      </p:sp>
      <p:sp>
        <p:nvSpPr>
          <p:cNvPr id="38" name="Shape 32"/>
          <p:cNvSpPr/>
          <p:nvPr/>
        </p:nvSpPr>
        <p:spPr>
          <a:xfrm>
            <a:off x="10817051" y="8079135"/>
            <a:ext cx="6518449" cy="9525"/>
          </a:xfrm>
          <a:prstGeom prst="rect">
            <a:avLst/>
          </a:prstGeom>
          <a:solidFill>
            <a:srgbClr val="E2E8F0"/>
          </a:solidFill>
          <a:ln/>
        </p:spPr>
      </p:sp>
      <p:pic>
        <p:nvPicPr>
          <p:cNvPr id="39" name="Image 4" descr="preencoded.png">    </p:cNvPr>
          <p:cNvPicPr>
            <a:picLocks noChangeAspect="1"/>
          </p:cNvPicPr>
          <p:nvPr/>
        </p:nvPicPr>
        <p:blipFill>
          <a:blip r:embed="rId5"/>
          <a:srcRect l="0" r="0" t="0" b="0"/>
          <a:stretch/>
        </p:blipFill>
        <p:spPr>
          <a:xfrm>
            <a:off x="10817051" y="8355360"/>
            <a:ext cx="247650" cy="247650"/>
          </a:xfrm>
          <a:prstGeom prst="rect">
            <a:avLst/>
          </a:prstGeom>
        </p:spPr>
      </p:pic>
      <p:sp>
        <p:nvSpPr>
          <p:cNvPr id="40" name="Text 33"/>
          <p:cNvSpPr/>
          <p:nvPr/>
        </p:nvSpPr>
        <p:spPr>
          <a:xfrm>
            <a:off x="11217101" y="8336310"/>
            <a:ext cx="6730238"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14254C"/>
                </a:solidFill>
                <a:latin typeface="Roboto" pitchFamily="34" charset="0"/>
                <a:ea typeface="Roboto" pitchFamily="34" charset="-122"/>
                <a:cs typeface="Roboto" pitchFamily="34" charset="-120"/>
              </a:rPr>
              <a:t>Honest trade-offs</a:t>
            </a:r>
            <a:endParaRPr lang="en-US" sz="1350" dirty="0"/>
          </a:p>
        </p:txBody>
      </p:sp>
      <p:sp>
        <p:nvSpPr>
          <p:cNvPr id="41" name="Text 34"/>
          <p:cNvSpPr/>
          <p:nvPr/>
        </p:nvSpPr>
        <p:spPr>
          <a:xfrm>
            <a:off x="11217101" y="8574435"/>
            <a:ext cx="6301951" cy="464790"/>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64748B"/>
                </a:solidFill>
                <a:latin typeface="Roboto" pitchFamily="34" charset="0"/>
                <a:ea typeface="Roboto" pitchFamily="34" charset="-122"/>
                <a:cs typeface="Roboto" pitchFamily="34" charset="-120"/>
              </a:rPr>
              <a:t>Steeper curve — YQL, schemas, JVM custom logic, smaller talent pool. Budget weeks, not days, to production.</a:t>
            </a:r>
            <a:endParaRPr lang="en-US" sz="1200" dirty="0"/>
          </a:p>
        </p:txBody>
      </p:sp>
      <p:sp>
        <p:nvSpPr>
          <p:cNvPr id="42" name="Shape 35"/>
          <p:cNvSpPr/>
          <p:nvPr/>
        </p:nvSpPr>
        <p:spPr>
          <a:xfrm>
            <a:off x="952500" y="9286875"/>
            <a:ext cx="16383000" cy="9525"/>
          </a:xfrm>
          <a:prstGeom prst="rect">
            <a:avLst/>
          </a:prstGeom>
          <a:solidFill>
            <a:srgbClr val="E2E8F0"/>
          </a:solidFill>
          <a:ln/>
        </p:spPr>
      </p:sp>
      <p:pic>
        <p:nvPicPr>
          <p:cNvPr id="43" name="Image 5" descr="preencoded.png">    </p:cNvPr>
          <p:cNvPicPr>
            <a:picLocks noChangeAspect="1"/>
          </p:cNvPicPr>
          <p:nvPr/>
        </p:nvPicPr>
        <p:blipFill>
          <a:blip r:embed="rId6"/>
          <a:srcRect l="0" r="0" t="0" b="0"/>
          <a:stretch/>
        </p:blipFill>
        <p:spPr>
          <a:xfrm>
            <a:off x="952500" y="9505950"/>
            <a:ext cx="209550" cy="209550"/>
          </a:xfrm>
          <a:prstGeom prst="rect">
            <a:avLst/>
          </a:prstGeom>
        </p:spPr>
      </p:pic>
      <p:sp>
        <p:nvSpPr>
          <p:cNvPr id="44" name="Text 36"/>
          <p:cNvSpPr/>
          <p:nvPr/>
        </p:nvSpPr>
        <p:spPr>
          <a:xfrm>
            <a:off x="1276350" y="9510713"/>
            <a:ext cx="6622680" cy="238125"/>
          </a:xfrm>
          <a:prstGeom prst="rect">
            <a:avLst/>
          </a:prstGeom>
          <a:noFill/>
          <a:ln/>
        </p:spPr>
        <p:txBody>
          <a:bodyPr wrap="square" lIns="25400" tIns="25400" rIns="25400" bIns="25400" rtlCol="0" anchor="t">
            <a:normAutofit/>
          </a:bodyPr>
          <a:lstStyle/>
          <a:p>
            <a:pPr algn="l" indent="0" marL="0">
              <a:buNone/>
            </a:pPr>
            <a:r>
              <a:rPr lang="en-US" sz="1350" dirty="0">
                <a:solidFill>
                  <a:srgbClr val="475569"/>
                </a:solidFill>
                <a:latin typeface="Roboto" pitchFamily="34" charset="0"/>
                <a:ea typeface="Roboto" pitchFamily="34" charset="-122"/>
                <a:cs typeface="Roboto" pitchFamily="34" charset="-120"/>
              </a:rPr>
              <a:t>The same hybrid + RRF idea now powers the Financial Assistant's SEC retrieval.</a:t>
            </a:r>
            <a:endParaRPr lang="en-US" sz="1350" dirty="0"/>
          </a:p>
        </p:txBody>
      </p:sp>
      <p:sp>
        <p:nvSpPr>
          <p:cNvPr id="45" name="Text 37"/>
          <p:cNvSpPr/>
          <p:nvPr/>
        </p:nvSpPr>
        <p:spPr>
          <a:xfrm>
            <a:off x="16055132" y="9522619"/>
            <a:ext cx="1408405" cy="214313"/>
          </a:xfrm>
          <a:prstGeom prst="rect">
            <a:avLst/>
          </a:prstGeom>
          <a:noFill/>
          <a:ln/>
        </p:spPr>
        <p:txBody>
          <a:bodyPr wrap="square" lIns="25400" tIns="25400" rIns="25400" bIns="25400" rtlCol="0" anchor="t">
            <a:normAutofit/>
          </a:bodyPr>
          <a:lstStyle/>
          <a:p>
            <a:pPr algn="l" indent="0" marL="0">
              <a:buNone/>
            </a:pPr>
            <a:r>
              <a:rPr lang="en-US" sz="1050" dirty="0">
                <a:solidFill>
                  <a:srgbClr val="94A3B8"/>
                </a:solidFill>
                <a:latin typeface="Roboto Mono" pitchFamily="34" charset="0"/>
                <a:ea typeface="Roboto Mono" pitchFamily="34" charset="-122"/>
                <a:cs typeface="Roboto Mono" pitchFamily="34" charset="-120"/>
              </a:rPr>
              <a:t>Factored · Vespa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704850"/>
            <a:ext cx="1387525" cy="323850"/>
          </a:xfrm>
          <a:prstGeom prst="rect">
            <a:avLst/>
          </a:prstGeom>
        </p:spPr>
      </p:pic>
      <p:sp>
        <p:nvSpPr>
          <p:cNvPr id="3" name="Text 0"/>
          <p:cNvSpPr/>
          <p:nvPr/>
        </p:nvSpPr>
        <p:spPr>
          <a:xfrm>
            <a:off x="15329595" y="783431"/>
            <a:ext cx="2206496"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047E5"/>
                </a:solidFill>
                <a:latin typeface="Roboto" pitchFamily="34" charset="0"/>
                <a:ea typeface="Roboto" pitchFamily="34" charset="-122"/>
                <a:cs typeface="Roboto" pitchFamily="34" charset="-120"/>
              </a:rPr>
              <a:t>TAKE-HOME EXERCISE</a:t>
            </a:r>
            <a:endParaRPr lang="en-US" sz="1125" dirty="0"/>
          </a:p>
        </p:txBody>
      </p:sp>
      <p:sp>
        <p:nvSpPr>
          <p:cNvPr id="4" name="Text 1"/>
          <p:cNvSpPr/>
          <p:nvPr/>
        </p:nvSpPr>
        <p:spPr>
          <a:xfrm>
            <a:off x="952500" y="1371600"/>
            <a:ext cx="18021300"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b="1" spc="-90" kern="0" dirty="0">
                <a:solidFill>
                  <a:srgbClr val="14254C"/>
                </a:solidFill>
                <a:latin typeface="Roboto" pitchFamily="34" charset="0"/>
                <a:ea typeface="Roboto" pitchFamily="34" charset="-122"/>
                <a:cs typeface="Roboto" pitchFamily="34" charset="-120"/>
              </a:rPr>
              <a:t>Supplement Advisor</a:t>
            </a:r>
            <a:endParaRPr lang="en-US" sz="4650" dirty="0"/>
          </a:p>
        </p:txBody>
      </p:sp>
      <p:sp>
        <p:nvSpPr>
          <p:cNvPr id="5" name="Text 2"/>
          <p:cNvSpPr/>
          <p:nvPr/>
        </p:nvSpPr>
        <p:spPr>
          <a:xfrm>
            <a:off x="952500" y="2114550"/>
            <a:ext cx="12753975" cy="619125"/>
          </a:xfrm>
          <a:prstGeom prst="rect">
            <a:avLst/>
          </a:prstGeom>
          <a:noFill/>
          <a:ln/>
        </p:spPr>
        <p:txBody>
          <a:bodyPr wrap="square" lIns="25400" tIns="25400" rIns="25400" bIns="25400" rtlCol="0" anchor="t">
            <a:normAutofit/>
          </a:bodyPr>
          <a:lstStyle/>
          <a:p>
            <a:pPr algn="l" indent="0" marL="0">
              <a:buNone/>
            </a:pPr>
            <a:r>
              <a:rPr lang="en-US" sz="1950" dirty="0">
                <a:solidFill>
                  <a:srgbClr val="475569"/>
                </a:solidFill>
                <a:latin typeface="Roboto" pitchFamily="34" charset="0"/>
                <a:ea typeface="Roboto" pitchFamily="34" charset="-122"/>
                <a:cs typeface="Roboto" pitchFamily="34" charset="-120"/>
              </a:rPr>
              <a:t>A grounded conversational agent for medical practitioners — answers like </a:t>
            </a:r>
            <a:pPr algn="l" indent="0" marL="0">
              <a:buNone/>
            </a:pPr>
            <a:r>
              <a:rPr lang="en-US" sz="1950" i="1" dirty="0">
                <a:solidFill>
                  <a:srgbClr val="475569"/>
                </a:solidFill>
                <a:latin typeface="Roboto" pitchFamily="34" charset="0"/>
                <a:ea typeface="Roboto" pitchFamily="34" charset="-122"/>
                <a:cs typeface="Roboto" pitchFamily="34" charset="-120"/>
              </a:rPr>
              <a:t>"a good magnesium for sleep?" </a:t>
            </a:r>
            <a:pPr algn="l" indent="0" marL="0">
              <a:buNone/>
            </a:pPr>
            <a:r>
              <a:rPr lang="en-US" sz="1950" dirty="0">
                <a:solidFill>
                  <a:srgbClr val="475569"/>
                </a:solidFill>
                <a:latin typeface="Roboto" pitchFamily="34" charset="0"/>
                <a:ea typeface="Roboto" pitchFamily="34" charset="-122"/>
                <a:cs typeface="Roboto" pitchFamily="34" charset="-120"/>
              </a:rPr>
              <a:t>or </a:t>
            </a:r>
            <a:pPr algn="l" indent="0" marL="0">
              <a:buNone/>
            </a:pPr>
            <a:r>
              <a:rPr lang="en-US" sz="1950" i="1" dirty="0">
                <a:solidFill>
                  <a:srgbClr val="475569"/>
                </a:solidFill>
                <a:latin typeface="Roboto" pitchFamily="34" charset="0"/>
                <a:ea typeface="Roboto" pitchFamily="34" charset="-122"/>
                <a:cs typeface="Roboto" pitchFamily="34" charset="-120"/>
              </a:rPr>
              <a:t>"vitamin D without soy?"</a:t>
            </a:r>
            <a:pPr algn="l" indent="0" marL="0">
              <a:buNone/>
            </a:pPr>
            <a:r>
              <a:rPr lang="en-US" sz="1950" dirty="0">
                <a:solidFill>
                  <a:srgbClr val="475569"/>
                </a:solidFill>
                <a:latin typeface="Roboto" pitchFamily="34" charset="0"/>
                <a:ea typeface="Roboto" pitchFamily="34" charset="-122"/>
                <a:cs typeface="Roboto" pitchFamily="34" charset="-120"/>
              </a:rPr>
              <a:t>, never free-form.</a:t>
            </a:r>
            <a:endParaRPr lang="en-US" sz="1950" dirty="0"/>
          </a:p>
        </p:txBody>
      </p:sp>
      <p:sp>
        <p:nvSpPr>
          <p:cNvPr id="6" name="Shape 3"/>
          <p:cNvSpPr/>
          <p:nvPr/>
        </p:nvSpPr>
        <p:spPr>
          <a:xfrm>
            <a:off x="952500" y="3178969"/>
            <a:ext cx="3431456" cy="523875"/>
          </a:xfrm>
          <a:prstGeom prst="roundRect">
            <a:avLst>
              <a:gd name="adj" fmla="val 21818"/>
            </a:avLst>
          </a:prstGeom>
          <a:solidFill>
            <a:srgbClr val="F6F8FC"/>
          </a:solidFill>
          <a:ln w="14288">
            <a:solidFill>
              <a:srgbClr val="E2E8F0"/>
            </a:solidFill>
            <a:prstDash val="solid"/>
          </a:ln>
        </p:spPr>
      </p:sp>
      <p:sp>
        <p:nvSpPr>
          <p:cNvPr id="7" name="Text 4"/>
          <p:cNvSpPr/>
          <p:nvPr/>
        </p:nvSpPr>
        <p:spPr>
          <a:xfrm>
            <a:off x="1176338" y="3326606"/>
            <a:ext cx="3086724" cy="266700"/>
          </a:xfrm>
          <a:prstGeom prst="rect">
            <a:avLst/>
          </a:prstGeom>
          <a:noFill/>
          <a:ln/>
        </p:spPr>
        <p:txBody>
          <a:bodyPr wrap="square" lIns="25400" tIns="25400" rIns="25400" bIns="25400" rtlCol="0" anchor="t">
            <a:normAutofit/>
          </a:bodyPr>
          <a:lstStyle/>
          <a:p>
            <a:pPr algn="l" indent="0" marL="0">
              <a:buNone/>
            </a:pPr>
            <a:r>
              <a:rPr lang="en-US" sz="1350" dirty="0">
                <a:solidFill>
                  <a:srgbClr val="475569"/>
                </a:solidFill>
                <a:latin typeface="Roboto Mono" pitchFamily="34" charset="0"/>
                <a:ea typeface="Roboto Mono" pitchFamily="34" charset="-122"/>
                <a:cs typeface="Roboto Mono" pitchFamily="34" charset="-120"/>
              </a:rPr>
              <a:t>"magnesium for sleep, no soy"</a:t>
            </a:r>
            <a:endParaRPr lang="en-US" sz="1350" dirty="0"/>
          </a:p>
        </p:txBody>
      </p:sp>
      <p:pic>
        <p:nvPicPr>
          <p:cNvPr id="8" name="Image 1" descr="preencoded.png">    </p:cNvPr>
          <p:cNvPicPr>
            <a:picLocks noChangeAspect="1"/>
          </p:cNvPicPr>
          <p:nvPr/>
        </p:nvPicPr>
        <p:blipFill>
          <a:blip r:embed="rId2"/>
          <a:srcRect l="0" r="0" t="0" b="0"/>
          <a:stretch/>
        </p:blipFill>
        <p:spPr>
          <a:xfrm>
            <a:off x="4555406" y="3298031"/>
            <a:ext cx="285750" cy="285750"/>
          </a:xfrm>
          <a:prstGeom prst="rect">
            <a:avLst/>
          </a:prstGeom>
        </p:spPr>
      </p:pic>
      <p:sp>
        <p:nvSpPr>
          <p:cNvPr id="9" name="Shape 5"/>
          <p:cNvSpPr/>
          <p:nvPr/>
        </p:nvSpPr>
        <p:spPr>
          <a:xfrm>
            <a:off x="5012606" y="3114675"/>
            <a:ext cx="12322894" cy="652463"/>
          </a:xfrm>
          <a:prstGeom prst="roundRect">
            <a:avLst>
              <a:gd name="adj" fmla="val 20438"/>
            </a:avLst>
          </a:prstGeom>
          <a:solidFill>
            <a:srgbClr val="0047E5"/>
          </a:solidFill>
          <a:ln/>
          <a:effectLst>
            <a:outerShdw sx="100000" sy="100000" kx="0" ky="0" algn="bl" rotWithShape="0" blurRad="342900" dist="152400" dir="5400000">
              <a:srgbClr val="0047E5">
                <a:alpha val="25000"/>
              </a:srgbClr>
            </a:outerShdw>
          </a:effectLst>
        </p:spPr>
      </p:sp>
      <p:pic>
        <p:nvPicPr>
          <p:cNvPr id="10" name="Image 2" descr="preencoded.png">    </p:cNvPr>
          <p:cNvPicPr>
            <a:picLocks noChangeAspect="1"/>
          </p:cNvPicPr>
          <p:nvPr/>
        </p:nvPicPr>
        <p:blipFill>
          <a:blip r:embed="rId3"/>
          <a:srcRect l="0" r="0" t="45908" b="45908"/>
          <a:stretch/>
        </p:blipFill>
        <p:spPr>
          <a:xfrm>
            <a:off x="5012606" y="3114675"/>
            <a:ext cx="12322894" cy="652463"/>
          </a:xfrm>
          <a:prstGeom prst="rect">
            <a:avLst/>
          </a:prstGeom>
        </p:spPr>
      </p:pic>
      <p:sp>
        <p:nvSpPr>
          <p:cNvPr id="11" name="Text 6"/>
          <p:cNvSpPr/>
          <p:nvPr/>
        </p:nvSpPr>
        <p:spPr>
          <a:xfrm>
            <a:off x="5279306" y="3305175"/>
            <a:ext cx="1537000"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Roboto" pitchFamily="34" charset="0"/>
                <a:ea typeface="Roboto" pitchFamily="34" charset="-122"/>
                <a:cs typeface="Roboto" pitchFamily="34" charset="-120"/>
              </a:rPr>
              <a:t>FastAPI /chat</a:t>
            </a:r>
            <a:endParaRPr lang="en-US" sz="1800" dirty="0"/>
          </a:p>
        </p:txBody>
      </p:sp>
      <p:sp>
        <p:nvSpPr>
          <p:cNvPr id="12" name="Text 7"/>
          <p:cNvSpPr/>
          <p:nvPr/>
        </p:nvSpPr>
        <p:spPr>
          <a:xfrm>
            <a:off x="6828979" y="3345656"/>
            <a:ext cx="4574165" cy="228600"/>
          </a:xfrm>
          <a:prstGeom prst="rect">
            <a:avLst/>
          </a:prstGeom>
          <a:noFill/>
          <a:ln/>
        </p:spPr>
        <p:txBody>
          <a:bodyPr wrap="square" lIns="25400" tIns="25400" rIns="25400" bIns="25400" rtlCol="0" anchor="t">
            <a:normAutofit/>
          </a:bodyPr>
          <a:lstStyle/>
          <a:p>
            <a:pPr algn="l" indent="0" marL="0">
              <a:buNone/>
            </a:pPr>
            <a:r>
              <a:rPr lang="en-US" sz="1275" dirty="0">
                <a:solidFill>
                  <a:srgbClr val="FFFFFF">
                    <a:alpha val="85000"/>
                  </a:srgbClr>
                </a:solidFill>
                <a:latin typeface="Roboto" pitchFamily="34" charset="0"/>
                <a:ea typeface="Roboto" pitchFamily="34" charset="-122"/>
                <a:cs typeface="Roboto" pitchFamily="34" charset="-120"/>
              </a:rPr>
              <a:t>parses · retrieves · grounds the answer · streams over SSE</a:t>
            </a:r>
            <a:endParaRPr lang="en-US" sz="1275" dirty="0"/>
          </a:p>
        </p:txBody>
      </p:sp>
      <p:sp>
        <p:nvSpPr>
          <p:cNvPr id="13" name="Shape 8"/>
          <p:cNvSpPr/>
          <p:nvPr/>
        </p:nvSpPr>
        <p:spPr>
          <a:xfrm>
            <a:off x="952500" y="4014788"/>
            <a:ext cx="5321275" cy="1703040"/>
          </a:xfrm>
          <a:prstGeom prst="roundRect">
            <a:avLst>
              <a:gd name="adj" fmla="val 8949"/>
            </a:avLst>
          </a:prstGeom>
          <a:solidFill>
            <a:srgbClr val="FFFFFF"/>
          </a:solidFill>
          <a:ln w="14288">
            <a:solidFill>
              <a:srgbClr val="E2E8F0"/>
            </a:solidFill>
            <a:prstDash val="solid"/>
          </a:ln>
        </p:spPr>
      </p:sp>
      <p:pic>
        <p:nvPicPr>
          <p:cNvPr id="14" name="Image 3" descr="preencoded.png">    </p:cNvPr>
          <p:cNvPicPr>
            <a:picLocks noChangeAspect="1"/>
          </p:cNvPicPr>
          <p:nvPr/>
        </p:nvPicPr>
        <p:blipFill>
          <a:blip r:embed="rId4"/>
          <a:srcRect l="0" r="0" t="0" b="0"/>
          <a:stretch/>
        </p:blipFill>
        <p:spPr>
          <a:xfrm>
            <a:off x="1233488" y="4276725"/>
            <a:ext cx="285750" cy="285750"/>
          </a:xfrm>
          <a:prstGeom prst="rect">
            <a:avLst/>
          </a:prstGeom>
        </p:spPr>
      </p:pic>
      <p:sp>
        <p:nvSpPr>
          <p:cNvPr id="15" name="Text 9"/>
          <p:cNvSpPr/>
          <p:nvPr/>
        </p:nvSpPr>
        <p:spPr>
          <a:xfrm>
            <a:off x="1652588" y="4283869"/>
            <a:ext cx="986656"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14254C"/>
                </a:solidFill>
                <a:latin typeface="Roboto" pitchFamily="34" charset="0"/>
                <a:ea typeface="Roboto" pitchFamily="34" charset="-122"/>
                <a:cs typeface="Roboto" pitchFamily="34" charset="-120"/>
              </a:rPr>
              <a:t>Retrieval</a:t>
            </a:r>
            <a:endParaRPr lang="en-US" sz="1800" dirty="0"/>
          </a:p>
        </p:txBody>
      </p:sp>
      <p:sp>
        <p:nvSpPr>
          <p:cNvPr id="16" name="Text 10"/>
          <p:cNvSpPr/>
          <p:nvPr/>
        </p:nvSpPr>
        <p:spPr>
          <a:xfrm>
            <a:off x="1233488" y="4676775"/>
            <a:ext cx="4902079" cy="50765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64748B"/>
                </a:solidFill>
                <a:latin typeface="Roboto" pitchFamily="34" charset="0"/>
                <a:ea typeface="Roboto" pitchFamily="34" charset="-122"/>
                <a:cs typeface="Roboto" pitchFamily="34" charset="-120"/>
              </a:rPr>
              <a:t>Rule parser pulls ingredient, benefit, allergen-free &amp; dietary → SQL filter + ranking.</a:t>
            </a:r>
            <a:endParaRPr lang="en-US" sz="1275" dirty="0"/>
          </a:p>
        </p:txBody>
      </p:sp>
      <p:sp>
        <p:nvSpPr>
          <p:cNvPr id="17" name="Text 11"/>
          <p:cNvSpPr/>
          <p:nvPr/>
        </p:nvSpPr>
        <p:spPr>
          <a:xfrm>
            <a:off x="1233488" y="5279678"/>
            <a:ext cx="5235230" cy="214313"/>
          </a:xfrm>
          <a:prstGeom prst="rect">
            <a:avLst/>
          </a:prstGeom>
          <a:noFill/>
          <a:ln/>
        </p:spPr>
        <p:txBody>
          <a:bodyPr wrap="square" lIns="25400" tIns="25400" rIns="25400" bIns="25400" rtlCol="0" anchor="t">
            <a:normAutofit/>
          </a:bodyPr>
          <a:lstStyle/>
          <a:p>
            <a:pPr algn="l" indent="0" marL="0">
              <a:buNone/>
            </a:pPr>
            <a:r>
              <a:rPr lang="en-US" sz="1050" dirty="0">
                <a:solidFill>
                  <a:srgbClr val="0047E5"/>
                </a:solidFill>
                <a:latin typeface="Roboto Mono" pitchFamily="34" charset="0"/>
                <a:ea typeface="Roboto Mono" pitchFamily="34" charset="-122"/>
                <a:cs typeface="Roboto Mono" pitchFamily="34" charset="-120"/>
              </a:rPr>
              <a:t>SQLite · DataSource adapter</a:t>
            </a:r>
            <a:endParaRPr lang="en-US" sz="1050" dirty="0"/>
          </a:p>
        </p:txBody>
      </p:sp>
      <p:sp>
        <p:nvSpPr>
          <p:cNvPr id="18" name="Shape 12"/>
          <p:cNvSpPr/>
          <p:nvPr/>
        </p:nvSpPr>
        <p:spPr>
          <a:xfrm>
            <a:off x="6483325" y="4014788"/>
            <a:ext cx="5321350" cy="1703040"/>
          </a:xfrm>
          <a:prstGeom prst="roundRect">
            <a:avLst>
              <a:gd name="adj" fmla="val 8949"/>
            </a:avLst>
          </a:prstGeom>
          <a:solidFill>
            <a:srgbClr val="FFFFFF"/>
          </a:solidFill>
          <a:ln w="14288">
            <a:solidFill>
              <a:srgbClr val="E2E8F0"/>
            </a:solidFill>
            <a:prstDash val="solid"/>
          </a:ln>
        </p:spPr>
      </p:sp>
      <p:pic>
        <p:nvPicPr>
          <p:cNvPr id="19" name="Image 4" descr="preencoded.png">    </p:cNvPr>
          <p:cNvPicPr>
            <a:picLocks noChangeAspect="1"/>
          </p:cNvPicPr>
          <p:nvPr/>
        </p:nvPicPr>
        <p:blipFill>
          <a:blip r:embed="rId5"/>
          <a:srcRect l="0" r="0" t="0" b="0"/>
          <a:stretch/>
        </p:blipFill>
        <p:spPr>
          <a:xfrm>
            <a:off x="6764313" y="4276725"/>
            <a:ext cx="285750" cy="285750"/>
          </a:xfrm>
          <a:prstGeom prst="rect">
            <a:avLst/>
          </a:prstGeom>
        </p:spPr>
      </p:pic>
      <p:sp>
        <p:nvSpPr>
          <p:cNvPr id="20" name="Text 13"/>
          <p:cNvSpPr/>
          <p:nvPr/>
        </p:nvSpPr>
        <p:spPr>
          <a:xfrm>
            <a:off x="7183413" y="4283869"/>
            <a:ext cx="1657082"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14254C"/>
                </a:solidFill>
                <a:latin typeface="Roboto" pitchFamily="34" charset="0"/>
                <a:ea typeface="Roboto" pitchFamily="34" charset="-122"/>
                <a:cs typeface="Roboto" pitchFamily="34" charset="-120"/>
              </a:rPr>
              <a:t>Grounded LLM</a:t>
            </a:r>
            <a:endParaRPr lang="en-US" sz="1800" dirty="0"/>
          </a:p>
        </p:txBody>
      </p:sp>
      <p:sp>
        <p:nvSpPr>
          <p:cNvPr id="21" name="Text 14"/>
          <p:cNvSpPr/>
          <p:nvPr/>
        </p:nvSpPr>
        <p:spPr>
          <a:xfrm>
            <a:off x="6764313" y="4676775"/>
            <a:ext cx="4902156" cy="50765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64748B"/>
                </a:solidFill>
                <a:latin typeface="Roboto" pitchFamily="34" charset="0"/>
                <a:ea typeface="Roboto" pitchFamily="34" charset="-122"/>
                <a:cs typeface="Roboto" pitchFamily="34" charset="-120"/>
              </a:rPr>
              <a:t>Synthesizes the answer from retrieved products + chat history — no claims off-data.</a:t>
            </a:r>
            <a:endParaRPr lang="en-US" sz="1275" dirty="0"/>
          </a:p>
        </p:txBody>
      </p:sp>
      <p:sp>
        <p:nvSpPr>
          <p:cNvPr id="22" name="Text 15"/>
          <p:cNvSpPr/>
          <p:nvPr/>
        </p:nvSpPr>
        <p:spPr>
          <a:xfrm>
            <a:off x="6764313" y="5279678"/>
            <a:ext cx="5235312" cy="214313"/>
          </a:xfrm>
          <a:prstGeom prst="rect">
            <a:avLst/>
          </a:prstGeom>
          <a:noFill/>
          <a:ln/>
        </p:spPr>
        <p:txBody>
          <a:bodyPr wrap="square" lIns="25400" tIns="25400" rIns="25400" bIns="25400" rtlCol="0" anchor="t">
            <a:normAutofit/>
          </a:bodyPr>
          <a:lstStyle/>
          <a:p>
            <a:pPr algn="l" indent="0" marL="0">
              <a:buNone/>
            </a:pPr>
            <a:r>
              <a:rPr lang="en-US" sz="1050" dirty="0">
                <a:solidFill>
                  <a:srgbClr val="0047E5"/>
                </a:solidFill>
                <a:latin typeface="Roboto Mono" pitchFamily="34" charset="0"/>
                <a:ea typeface="Roboto Mono" pitchFamily="34" charset="-122"/>
                <a:cs typeface="Roboto Mono" pitchFamily="34" charset="-120"/>
              </a:rPr>
              <a:t>OpenAI · mock fallback</a:t>
            </a:r>
            <a:endParaRPr lang="en-US" sz="1050" dirty="0"/>
          </a:p>
        </p:txBody>
      </p:sp>
      <p:sp>
        <p:nvSpPr>
          <p:cNvPr id="23" name="Shape 16"/>
          <p:cNvSpPr/>
          <p:nvPr/>
        </p:nvSpPr>
        <p:spPr>
          <a:xfrm>
            <a:off x="12014225" y="4014788"/>
            <a:ext cx="5321275" cy="1703040"/>
          </a:xfrm>
          <a:prstGeom prst="roundRect">
            <a:avLst>
              <a:gd name="adj" fmla="val 8949"/>
            </a:avLst>
          </a:prstGeom>
          <a:solidFill>
            <a:srgbClr val="FFFFFF"/>
          </a:solidFill>
          <a:ln w="14288">
            <a:solidFill>
              <a:srgbClr val="E2E8F0"/>
            </a:solidFill>
            <a:prstDash val="solid"/>
          </a:ln>
        </p:spPr>
      </p:sp>
      <p:pic>
        <p:nvPicPr>
          <p:cNvPr id="24" name="Image 5" descr="preencoded.png">    </p:cNvPr>
          <p:cNvPicPr>
            <a:picLocks noChangeAspect="1"/>
          </p:cNvPicPr>
          <p:nvPr/>
        </p:nvPicPr>
        <p:blipFill>
          <a:blip r:embed="rId6"/>
          <a:srcRect l="0" r="0" t="0" b="0"/>
          <a:stretch/>
        </p:blipFill>
        <p:spPr>
          <a:xfrm>
            <a:off x="12295212" y="4276725"/>
            <a:ext cx="285750" cy="285750"/>
          </a:xfrm>
          <a:prstGeom prst="rect">
            <a:avLst/>
          </a:prstGeom>
        </p:spPr>
      </p:pic>
      <p:sp>
        <p:nvSpPr>
          <p:cNvPr id="25" name="Text 17"/>
          <p:cNvSpPr/>
          <p:nvPr/>
        </p:nvSpPr>
        <p:spPr>
          <a:xfrm>
            <a:off x="12714312" y="4283869"/>
            <a:ext cx="828080"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14254C"/>
                </a:solidFill>
                <a:latin typeface="Roboto" pitchFamily="34" charset="0"/>
                <a:ea typeface="Roboto" pitchFamily="34" charset="-122"/>
                <a:cs typeface="Roboto" pitchFamily="34" charset="-120"/>
              </a:rPr>
              <a:t>Chat UI</a:t>
            </a:r>
            <a:endParaRPr lang="en-US" sz="1800" dirty="0"/>
          </a:p>
        </p:txBody>
      </p:sp>
      <p:sp>
        <p:nvSpPr>
          <p:cNvPr id="26" name="Text 18"/>
          <p:cNvSpPr/>
          <p:nvPr/>
        </p:nvSpPr>
        <p:spPr>
          <a:xfrm>
            <a:off x="12295212" y="4676775"/>
            <a:ext cx="5235230" cy="272876"/>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64748B"/>
                </a:solidFill>
                <a:latin typeface="Roboto" pitchFamily="34" charset="0"/>
                <a:ea typeface="Roboto" pitchFamily="34" charset="-122"/>
                <a:cs typeface="Roboto" pitchFamily="34" charset="-120"/>
              </a:rPr>
              <a:t>Streaming chat; every answer cites the exact products it used.</a:t>
            </a:r>
            <a:endParaRPr lang="en-US" sz="1275" dirty="0"/>
          </a:p>
        </p:txBody>
      </p:sp>
      <p:sp>
        <p:nvSpPr>
          <p:cNvPr id="27" name="Text 19"/>
          <p:cNvSpPr/>
          <p:nvPr/>
        </p:nvSpPr>
        <p:spPr>
          <a:xfrm>
            <a:off x="12295212" y="5044901"/>
            <a:ext cx="5235230" cy="214313"/>
          </a:xfrm>
          <a:prstGeom prst="rect">
            <a:avLst/>
          </a:prstGeom>
          <a:noFill/>
          <a:ln/>
        </p:spPr>
        <p:txBody>
          <a:bodyPr wrap="square" lIns="25400" tIns="25400" rIns="25400" bIns="25400" rtlCol="0" anchor="t">
            <a:normAutofit/>
          </a:bodyPr>
          <a:lstStyle/>
          <a:p>
            <a:pPr algn="l" indent="0" marL="0">
              <a:buNone/>
            </a:pPr>
            <a:r>
              <a:rPr lang="en-US" sz="1050" dirty="0">
                <a:solidFill>
                  <a:srgbClr val="0047E5"/>
                </a:solidFill>
                <a:latin typeface="Roboto Mono" pitchFamily="34" charset="0"/>
                <a:ea typeface="Roboto Mono" pitchFamily="34" charset="-122"/>
                <a:cs typeface="Roboto Mono" pitchFamily="34" charset="-120"/>
              </a:rPr>
              <a:t>React · Vite · SSE</a:t>
            </a:r>
            <a:endParaRPr lang="en-US" sz="1050" dirty="0"/>
          </a:p>
        </p:txBody>
      </p:sp>
      <p:sp>
        <p:nvSpPr>
          <p:cNvPr id="28" name="Shape 20"/>
          <p:cNvSpPr/>
          <p:nvPr/>
        </p:nvSpPr>
        <p:spPr>
          <a:xfrm>
            <a:off x="952500" y="9315450"/>
            <a:ext cx="16383000" cy="9525"/>
          </a:xfrm>
          <a:prstGeom prst="rect">
            <a:avLst/>
          </a:prstGeom>
          <a:solidFill>
            <a:srgbClr val="E2E8F0"/>
          </a:solidFill>
          <a:ln/>
        </p:spPr>
      </p:sp>
      <p:sp>
        <p:nvSpPr>
          <p:cNvPr id="29" name="Text 21"/>
          <p:cNvSpPr/>
          <p:nvPr/>
        </p:nvSpPr>
        <p:spPr>
          <a:xfrm>
            <a:off x="952500" y="9534525"/>
            <a:ext cx="2764668"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14254C"/>
                </a:solidFill>
                <a:latin typeface="Roboto" pitchFamily="34" charset="0"/>
                <a:ea typeface="Roboto" pitchFamily="34" charset="-122"/>
                <a:cs typeface="Roboto" pitchFamily="34" charset="-120"/>
              </a:rPr>
              <a:t>20 </a:t>
            </a:r>
            <a:pPr algn="l" indent="0" marL="0">
              <a:buNone/>
            </a:pPr>
            <a:r>
              <a:rPr lang="en-US" sz="1200" dirty="0">
                <a:solidFill>
                  <a:srgbClr val="64748B"/>
                </a:solidFill>
                <a:latin typeface="Roboto" pitchFamily="34" charset="0"/>
                <a:ea typeface="Roboto" pitchFamily="34" charset="-122"/>
                <a:cs typeface="Roboto" pitchFamily="34" charset="-120"/>
              </a:rPr>
              <a:t>realistic records, seeded to SQLite</a:t>
            </a:r>
            <a:endParaRPr lang="en-US" sz="1200" dirty="0"/>
          </a:p>
        </p:txBody>
      </p:sp>
      <p:sp>
        <p:nvSpPr>
          <p:cNvPr id="30" name="Text 22"/>
          <p:cNvSpPr/>
          <p:nvPr/>
        </p:nvSpPr>
        <p:spPr>
          <a:xfrm>
            <a:off x="3751585" y="9534525"/>
            <a:ext cx="116012" cy="219075"/>
          </a:xfrm>
          <a:prstGeom prst="rect">
            <a:avLst/>
          </a:prstGeom>
          <a:noFill/>
          <a:ln/>
        </p:spPr>
        <p:txBody>
          <a:bodyPr wrap="square" lIns="25400" tIns="25400" rIns="25400" bIns="25400" rtlCol="0" anchor="t">
            <a:normAutofit/>
          </a:bodyPr>
          <a:lstStyle/>
          <a:p>
            <a:pPr algn="l" indent="0" marL="0">
              <a:buNone/>
            </a:pPr>
            <a:r>
              <a:rPr lang="en-US" sz="1200" dirty="0">
                <a:solidFill>
                  <a:srgbClr val="CBD5E1"/>
                </a:solidFill>
                <a:latin typeface="Roboto" pitchFamily="34" charset="0"/>
                <a:ea typeface="Roboto" pitchFamily="34" charset="-122"/>
                <a:cs typeface="Roboto" pitchFamily="34" charset="-120"/>
              </a:rPr>
              <a:t>·</a:t>
            </a:r>
            <a:endParaRPr lang="en-US" sz="1200" dirty="0"/>
          </a:p>
        </p:txBody>
      </p:sp>
      <p:sp>
        <p:nvSpPr>
          <p:cNvPr id="31" name="Text 23"/>
          <p:cNvSpPr/>
          <p:nvPr/>
        </p:nvSpPr>
        <p:spPr>
          <a:xfrm>
            <a:off x="4077146" y="9534525"/>
            <a:ext cx="3474847" cy="219075"/>
          </a:xfrm>
          <a:prstGeom prst="rect">
            <a:avLst/>
          </a:prstGeom>
          <a:noFill/>
          <a:ln/>
        </p:spPr>
        <p:txBody>
          <a:bodyPr wrap="square" lIns="25400" tIns="25400" rIns="25400" bIns="25400" rtlCol="0" anchor="t">
            <a:normAutofit/>
          </a:bodyPr>
          <a:lstStyle/>
          <a:p>
            <a:pPr algn="l" indent="0" marL="0">
              <a:buNone/>
            </a:pPr>
            <a:r>
              <a:rPr lang="en-US" sz="1200" dirty="0">
                <a:solidFill>
                  <a:srgbClr val="64748B"/>
                </a:solidFill>
                <a:latin typeface="Roboto" pitchFamily="34" charset="0"/>
                <a:ea typeface="Roboto" pitchFamily="34" charset="-122"/>
                <a:cs typeface="Roboto" pitchFamily="34" charset="-120"/>
              </a:rPr>
              <a:t>adapter swaps in </a:t>
            </a:r>
            <a:pPr algn="l" indent="0" marL="0">
              <a:buNone/>
            </a:pPr>
            <a:r>
              <a:rPr lang="en-US" sz="1200" b="1" dirty="0">
                <a:solidFill>
                  <a:srgbClr val="14254C"/>
                </a:solidFill>
                <a:latin typeface="Roboto" pitchFamily="34" charset="0"/>
                <a:ea typeface="Roboto" pitchFamily="34" charset="-122"/>
                <a:cs typeface="Roboto" pitchFamily="34" charset="-120"/>
              </a:rPr>
              <a:t>NIH DSLD </a:t>
            </a:r>
            <a:pPr algn="l" indent="0" marL="0">
              <a:buNone/>
            </a:pPr>
            <a:r>
              <a:rPr lang="en-US" sz="1200" dirty="0">
                <a:solidFill>
                  <a:srgbClr val="64748B"/>
                </a:solidFill>
                <a:latin typeface="Roboto" pitchFamily="34" charset="0"/>
                <a:ea typeface="Roboto" pitchFamily="34" charset="-122"/>
                <a:cs typeface="Roboto" pitchFamily="34" charset="-120"/>
              </a:rPr>
              <a:t>(200k+ real labels)</a:t>
            </a:r>
            <a:endParaRPr lang="en-US" sz="1200" dirty="0"/>
          </a:p>
        </p:txBody>
      </p:sp>
      <p:sp>
        <p:nvSpPr>
          <p:cNvPr id="32" name="Text 24"/>
          <p:cNvSpPr/>
          <p:nvPr/>
        </p:nvSpPr>
        <p:spPr>
          <a:xfrm>
            <a:off x="7521848" y="9534525"/>
            <a:ext cx="116012" cy="219075"/>
          </a:xfrm>
          <a:prstGeom prst="rect">
            <a:avLst/>
          </a:prstGeom>
          <a:noFill/>
          <a:ln/>
        </p:spPr>
        <p:txBody>
          <a:bodyPr wrap="square" lIns="25400" tIns="25400" rIns="25400" bIns="25400" rtlCol="0" anchor="t">
            <a:normAutofit/>
          </a:bodyPr>
          <a:lstStyle/>
          <a:p>
            <a:pPr algn="l" indent="0" marL="0">
              <a:buNone/>
            </a:pPr>
            <a:r>
              <a:rPr lang="en-US" sz="1200" dirty="0">
                <a:solidFill>
                  <a:srgbClr val="CBD5E1"/>
                </a:solidFill>
                <a:latin typeface="Roboto" pitchFamily="34" charset="0"/>
                <a:ea typeface="Roboto" pitchFamily="34" charset="-122"/>
                <a:cs typeface="Roboto" pitchFamily="34" charset="-120"/>
              </a:rPr>
              <a:t>·</a:t>
            </a:r>
            <a:endParaRPr lang="en-US" sz="1200" dirty="0"/>
          </a:p>
        </p:txBody>
      </p:sp>
      <p:sp>
        <p:nvSpPr>
          <p:cNvPr id="33" name="Text 25"/>
          <p:cNvSpPr/>
          <p:nvPr/>
        </p:nvSpPr>
        <p:spPr>
          <a:xfrm>
            <a:off x="7847409" y="9534525"/>
            <a:ext cx="2033699" cy="219075"/>
          </a:xfrm>
          <a:prstGeom prst="rect">
            <a:avLst/>
          </a:prstGeom>
          <a:noFill/>
          <a:ln/>
        </p:spPr>
        <p:txBody>
          <a:bodyPr wrap="square" lIns="25400" tIns="25400" rIns="25400" bIns="25400" rtlCol="0" anchor="t">
            <a:normAutofit/>
          </a:bodyPr>
          <a:lstStyle/>
          <a:p>
            <a:pPr algn="l" indent="0" marL="0">
              <a:buNone/>
            </a:pPr>
            <a:r>
              <a:rPr lang="en-US" sz="1200" dirty="0">
                <a:solidFill>
                  <a:srgbClr val="64748B"/>
                </a:solidFill>
                <a:latin typeface="Roboto" pitchFamily="34" charset="0"/>
                <a:ea typeface="Roboto" pitchFamily="34" charset="-122"/>
                <a:cs typeface="Roboto" pitchFamily="34" charset="-120"/>
              </a:rPr>
              <a:t>real LLM · grounded &amp; cited</a:t>
            </a:r>
            <a:endParaRPr lang="en-US" sz="1200" dirty="0"/>
          </a:p>
        </p:txBody>
      </p:sp>
      <p:sp>
        <p:nvSpPr>
          <p:cNvPr id="34" name="Text 26"/>
          <p:cNvSpPr/>
          <p:nvPr/>
        </p:nvSpPr>
        <p:spPr>
          <a:xfrm>
            <a:off x="15014823" y="9536906"/>
            <a:ext cx="2552745" cy="214313"/>
          </a:xfrm>
          <a:prstGeom prst="rect">
            <a:avLst/>
          </a:prstGeom>
          <a:noFill/>
          <a:ln/>
        </p:spPr>
        <p:txBody>
          <a:bodyPr wrap="square" lIns="25400" tIns="25400" rIns="25400" bIns="25400" rtlCol="0" anchor="t">
            <a:normAutofit/>
          </a:bodyPr>
          <a:lstStyle/>
          <a:p>
            <a:pPr algn="l" indent="0" marL="0">
              <a:buNone/>
            </a:pPr>
            <a:r>
              <a:rPr lang="en-US" sz="1050" dirty="0">
                <a:solidFill>
                  <a:srgbClr val="94A3B8"/>
                </a:solidFill>
                <a:latin typeface="Roboto Mono" pitchFamily="34" charset="0"/>
                <a:ea typeface="Roboto Mono" pitchFamily="34" charset="-122"/>
                <a:cs typeface="Roboto Mono" pitchFamily="34" charset="-120"/>
              </a:rPr>
              <a:t>Factored · Take-home exercise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704850"/>
            <a:ext cx="1387525" cy="323850"/>
          </a:xfrm>
          <a:prstGeom prst="rect">
            <a:avLst/>
          </a:prstGeom>
        </p:spPr>
      </p:pic>
      <p:sp>
        <p:nvSpPr>
          <p:cNvPr id="3" name="Text 0"/>
          <p:cNvSpPr/>
          <p:nvPr/>
        </p:nvSpPr>
        <p:spPr>
          <a:xfrm>
            <a:off x="13912007" y="783431"/>
            <a:ext cx="3765843"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047E5"/>
                </a:solidFill>
                <a:latin typeface="Roboto" pitchFamily="34" charset="0"/>
                <a:ea typeface="Roboto" pitchFamily="34" charset="-122"/>
                <a:cs typeface="Roboto" pitchFamily="34" charset="-120"/>
              </a:rPr>
              <a:t>EXERCISE · DECISIONS &amp; REFLECTION</a:t>
            </a:r>
            <a:endParaRPr lang="en-US" sz="1125" dirty="0"/>
          </a:p>
        </p:txBody>
      </p:sp>
      <p:sp>
        <p:nvSpPr>
          <p:cNvPr id="4" name="Text 1"/>
          <p:cNvSpPr/>
          <p:nvPr/>
        </p:nvSpPr>
        <p:spPr>
          <a:xfrm>
            <a:off x="952500" y="1409700"/>
            <a:ext cx="18021300"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b="1" spc="-90" kern="0" dirty="0">
                <a:solidFill>
                  <a:srgbClr val="14254C"/>
                </a:solidFill>
                <a:latin typeface="Roboto" pitchFamily="34" charset="0"/>
                <a:ea typeface="Roboto" pitchFamily="34" charset="-122"/>
                <a:cs typeface="Roboto" pitchFamily="34" charset="-120"/>
              </a:rPr>
              <a:t>Decisions, and what I'd improve</a:t>
            </a:r>
            <a:endParaRPr lang="en-US" sz="4650" dirty="0"/>
          </a:p>
        </p:txBody>
      </p:sp>
      <p:sp>
        <p:nvSpPr>
          <p:cNvPr id="5" name="Shape 2"/>
          <p:cNvSpPr/>
          <p:nvPr/>
        </p:nvSpPr>
        <p:spPr>
          <a:xfrm>
            <a:off x="952500" y="2362200"/>
            <a:ext cx="5295900" cy="6715125"/>
          </a:xfrm>
          <a:prstGeom prst="roundRect">
            <a:avLst>
              <a:gd name="adj" fmla="val 2878"/>
            </a:avLst>
          </a:prstGeom>
          <a:solidFill>
            <a:srgbClr val="FFFFFF"/>
          </a:solidFill>
          <a:ln w="14288">
            <a:solidFill>
              <a:srgbClr val="E2E8F0"/>
            </a:solidFill>
            <a:prstDash val="solid"/>
          </a:ln>
        </p:spPr>
      </p:sp>
      <p:pic>
        <p:nvPicPr>
          <p:cNvPr id="6" name="Image 1" descr="preencoded.png">    </p:cNvPr>
          <p:cNvPicPr>
            <a:picLocks noChangeAspect="1"/>
          </p:cNvPicPr>
          <p:nvPr/>
        </p:nvPicPr>
        <p:blipFill>
          <a:blip r:embed="rId2"/>
          <a:srcRect l="0" r="0" t="0" b="0"/>
          <a:stretch/>
        </p:blipFill>
        <p:spPr>
          <a:xfrm>
            <a:off x="1271588" y="2681288"/>
            <a:ext cx="304800" cy="304800"/>
          </a:xfrm>
          <a:prstGeom prst="rect">
            <a:avLst/>
          </a:prstGeom>
        </p:spPr>
      </p:pic>
      <p:sp>
        <p:nvSpPr>
          <p:cNvPr id="7" name="Text 3"/>
          <p:cNvSpPr/>
          <p:nvPr/>
        </p:nvSpPr>
        <p:spPr>
          <a:xfrm>
            <a:off x="1709738" y="2697956"/>
            <a:ext cx="1563030"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14254C"/>
                </a:solidFill>
                <a:latin typeface="Roboto" pitchFamily="34" charset="0"/>
                <a:ea typeface="Roboto" pitchFamily="34" charset="-122"/>
                <a:cs typeface="Roboto" pitchFamily="34" charset="-120"/>
              </a:rPr>
              <a:t>Key decisions</a:t>
            </a:r>
            <a:endParaRPr lang="en-US" sz="1800" dirty="0"/>
          </a:p>
        </p:txBody>
      </p:sp>
      <p:sp>
        <p:nvSpPr>
          <p:cNvPr id="8" name="Text 4"/>
          <p:cNvSpPr/>
          <p:nvPr/>
        </p:nvSpPr>
        <p:spPr>
          <a:xfrm>
            <a:off x="1271588" y="3214688"/>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0047E5"/>
                </a:solidFill>
                <a:latin typeface="Roboto" pitchFamily="34" charset="0"/>
                <a:ea typeface="Roboto" pitchFamily="34" charset="-122"/>
                <a:cs typeface="Roboto" pitchFamily="34" charset="-120"/>
              </a:rPr>
              <a:t>·</a:t>
            </a:r>
            <a:endParaRPr lang="en-US" sz="1200" dirty="0"/>
          </a:p>
        </p:txBody>
      </p:sp>
      <p:sp>
        <p:nvSpPr>
          <p:cNvPr id="9" name="Text 5"/>
          <p:cNvSpPr/>
          <p:nvPr/>
        </p:nvSpPr>
        <p:spPr>
          <a:xfrm>
            <a:off x="1434852" y="3214688"/>
            <a:ext cx="4195993"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Mock dataset over a live API — </a:t>
            </a:r>
            <a:pPr algn="l" indent="0" marL="0">
              <a:lnSpc>
                <a:spcPct val="140000"/>
              </a:lnSpc>
              <a:buNone/>
            </a:pPr>
            <a:r>
              <a:rPr lang="en-US" sz="1275" b="1" dirty="0">
                <a:solidFill>
                  <a:srgbClr val="14254C"/>
                </a:solidFill>
                <a:latin typeface="Roboto" pitchFamily="34" charset="0"/>
                <a:ea typeface="Roboto" pitchFamily="34" charset="-122"/>
                <a:cs typeface="Roboto" pitchFamily="34" charset="-120"/>
              </a:rPr>
              <a:t>demo control + speed</a:t>
            </a:r>
            <a:endParaRPr lang="en-US" sz="1275" dirty="0"/>
          </a:p>
        </p:txBody>
      </p:sp>
      <p:sp>
        <p:nvSpPr>
          <p:cNvPr id="10" name="Text 6"/>
          <p:cNvSpPr/>
          <p:nvPr/>
        </p:nvSpPr>
        <p:spPr>
          <a:xfrm>
            <a:off x="1271588" y="3593753"/>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0047E5"/>
                </a:solidFill>
                <a:latin typeface="Roboto" pitchFamily="34" charset="0"/>
                <a:ea typeface="Roboto" pitchFamily="34" charset="-122"/>
                <a:cs typeface="Roboto" pitchFamily="34" charset="-120"/>
              </a:rPr>
              <a:t>·</a:t>
            </a:r>
            <a:endParaRPr lang="en-US" sz="1200" dirty="0"/>
          </a:p>
        </p:txBody>
      </p:sp>
      <p:sp>
        <p:nvSpPr>
          <p:cNvPr id="11" name="Text 7"/>
          <p:cNvSpPr/>
          <p:nvPr/>
        </p:nvSpPr>
        <p:spPr>
          <a:xfrm>
            <a:off x="1434852" y="3593753"/>
            <a:ext cx="3303850"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Adapter seam — DSLD / USDA is a drop-in</a:t>
            </a:r>
            <a:endParaRPr lang="en-US" sz="1275" dirty="0"/>
          </a:p>
        </p:txBody>
      </p:sp>
      <p:sp>
        <p:nvSpPr>
          <p:cNvPr id="12" name="Text 8"/>
          <p:cNvSpPr/>
          <p:nvPr/>
        </p:nvSpPr>
        <p:spPr>
          <a:xfrm>
            <a:off x="1271588" y="3972818"/>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0047E5"/>
                </a:solidFill>
                <a:latin typeface="Roboto" pitchFamily="34" charset="0"/>
                <a:ea typeface="Roboto" pitchFamily="34" charset="-122"/>
                <a:cs typeface="Roboto" pitchFamily="34" charset="-120"/>
              </a:rPr>
              <a:t>·</a:t>
            </a:r>
            <a:endParaRPr lang="en-US" sz="1200" dirty="0"/>
          </a:p>
        </p:txBody>
      </p:sp>
      <p:sp>
        <p:nvSpPr>
          <p:cNvPr id="13" name="Text 9"/>
          <p:cNvSpPr/>
          <p:nvPr/>
        </p:nvSpPr>
        <p:spPr>
          <a:xfrm>
            <a:off x="1434852" y="3972818"/>
            <a:ext cx="3257029"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Rule-based parser — fast, zero token cost</a:t>
            </a:r>
            <a:endParaRPr lang="en-US" sz="1275" dirty="0"/>
          </a:p>
        </p:txBody>
      </p:sp>
      <p:sp>
        <p:nvSpPr>
          <p:cNvPr id="14" name="Text 10"/>
          <p:cNvSpPr/>
          <p:nvPr/>
        </p:nvSpPr>
        <p:spPr>
          <a:xfrm>
            <a:off x="1271588" y="4351883"/>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0047E5"/>
                </a:solidFill>
                <a:latin typeface="Roboto" pitchFamily="34" charset="0"/>
                <a:ea typeface="Roboto" pitchFamily="34" charset="-122"/>
                <a:cs typeface="Roboto" pitchFamily="34" charset="-120"/>
              </a:rPr>
              <a:t>·</a:t>
            </a:r>
            <a:endParaRPr lang="en-US" sz="1200" dirty="0"/>
          </a:p>
        </p:txBody>
      </p:sp>
      <p:sp>
        <p:nvSpPr>
          <p:cNvPr id="15" name="Text 11"/>
          <p:cNvSpPr/>
          <p:nvPr/>
        </p:nvSpPr>
        <p:spPr>
          <a:xfrm>
            <a:off x="1434852" y="4351883"/>
            <a:ext cx="3653864"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SSE + cited sources — grounded &amp; transparent</a:t>
            </a:r>
            <a:endParaRPr lang="en-US" sz="1275" dirty="0"/>
          </a:p>
        </p:txBody>
      </p:sp>
      <p:sp>
        <p:nvSpPr>
          <p:cNvPr id="16" name="Shape 12"/>
          <p:cNvSpPr/>
          <p:nvPr/>
        </p:nvSpPr>
        <p:spPr>
          <a:xfrm>
            <a:off x="6496050" y="2362200"/>
            <a:ext cx="5295900" cy="6715125"/>
          </a:xfrm>
          <a:prstGeom prst="roundRect">
            <a:avLst>
              <a:gd name="adj" fmla="val 2878"/>
            </a:avLst>
          </a:prstGeom>
          <a:solidFill>
            <a:srgbClr val="FFFFFF"/>
          </a:solidFill>
          <a:ln w="14288">
            <a:solidFill>
              <a:srgbClr val="E2E8F0"/>
            </a:solidFill>
            <a:prstDash val="solid"/>
          </a:ln>
        </p:spPr>
      </p:sp>
      <p:pic>
        <p:nvPicPr>
          <p:cNvPr id="17" name="Image 2" descr="preencoded.png">    </p:cNvPr>
          <p:cNvPicPr>
            <a:picLocks noChangeAspect="1"/>
          </p:cNvPicPr>
          <p:nvPr/>
        </p:nvPicPr>
        <p:blipFill>
          <a:blip r:embed="rId3"/>
          <a:srcRect l="0" r="0" t="0" b="0"/>
          <a:stretch/>
        </p:blipFill>
        <p:spPr>
          <a:xfrm>
            <a:off x="6815138" y="2681288"/>
            <a:ext cx="304800" cy="304800"/>
          </a:xfrm>
          <a:prstGeom prst="rect">
            <a:avLst/>
          </a:prstGeom>
        </p:spPr>
      </p:pic>
      <p:sp>
        <p:nvSpPr>
          <p:cNvPr id="18" name="Text 13"/>
          <p:cNvSpPr/>
          <p:nvPr/>
        </p:nvSpPr>
        <p:spPr>
          <a:xfrm>
            <a:off x="7253288" y="2697956"/>
            <a:ext cx="1471025"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14254C"/>
                </a:solidFill>
                <a:latin typeface="Roboto" pitchFamily="34" charset="0"/>
                <a:ea typeface="Roboto" pitchFamily="34" charset="-122"/>
                <a:cs typeface="Roboto" pitchFamily="34" charset="-120"/>
              </a:rPr>
              <a:t>What worked</a:t>
            </a:r>
            <a:endParaRPr lang="en-US" sz="1800" dirty="0"/>
          </a:p>
        </p:txBody>
      </p:sp>
      <p:sp>
        <p:nvSpPr>
          <p:cNvPr id="19" name="Text 14"/>
          <p:cNvSpPr/>
          <p:nvPr/>
        </p:nvSpPr>
        <p:spPr>
          <a:xfrm>
            <a:off x="6815138" y="3214688"/>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0047E5"/>
                </a:solidFill>
                <a:latin typeface="Roboto" pitchFamily="34" charset="0"/>
                <a:ea typeface="Roboto" pitchFamily="34" charset="-122"/>
                <a:cs typeface="Roboto" pitchFamily="34" charset="-120"/>
              </a:rPr>
              <a:t>·</a:t>
            </a:r>
            <a:endParaRPr lang="en-US" sz="1200" dirty="0"/>
          </a:p>
        </p:txBody>
      </p:sp>
      <p:sp>
        <p:nvSpPr>
          <p:cNvPr id="20" name="Text 15"/>
          <p:cNvSpPr/>
          <p:nvPr/>
        </p:nvSpPr>
        <p:spPr>
          <a:xfrm>
            <a:off x="6978402" y="3214688"/>
            <a:ext cx="2869198"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Clean extensibility — one swap point</a:t>
            </a:r>
            <a:endParaRPr lang="en-US" sz="1275" dirty="0"/>
          </a:p>
        </p:txBody>
      </p:sp>
      <p:sp>
        <p:nvSpPr>
          <p:cNvPr id="21" name="Text 16"/>
          <p:cNvSpPr/>
          <p:nvPr/>
        </p:nvSpPr>
        <p:spPr>
          <a:xfrm>
            <a:off x="6815138" y="3593753"/>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0047E5"/>
                </a:solidFill>
                <a:latin typeface="Roboto" pitchFamily="34" charset="0"/>
                <a:ea typeface="Roboto" pitchFamily="34" charset="-122"/>
                <a:cs typeface="Roboto" pitchFamily="34" charset="-120"/>
              </a:rPr>
              <a:t>·</a:t>
            </a:r>
            <a:endParaRPr lang="en-US" sz="1200" dirty="0"/>
          </a:p>
        </p:txBody>
      </p:sp>
      <p:sp>
        <p:nvSpPr>
          <p:cNvPr id="22" name="Text 17"/>
          <p:cNvSpPr/>
          <p:nvPr/>
        </p:nvSpPr>
        <p:spPr>
          <a:xfrm>
            <a:off x="6978402" y="3593753"/>
            <a:ext cx="2821885"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Grounded answers, no hallucination</a:t>
            </a:r>
            <a:endParaRPr lang="en-US" sz="1275" dirty="0"/>
          </a:p>
        </p:txBody>
      </p:sp>
      <p:sp>
        <p:nvSpPr>
          <p:cNvPr id="23" name="Text 18"/>
          <p:cNvSpPr/>
          <p:nvPr/>
        </p:nvSpPr>
        <p:spPr>
          <a:xfrm>
            <a:off x="6815138" y="3972818"/>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0047E5"/>
                </a:solidFill>
                <a:latin typeface="Roboto" pitchFamily="34" charset="0"/>
                <a:ea typeface="Roboto" pitchFamily="34" charset="-122"/>
                <a:cs typeface="Roboto" pitchFamily="34" charset="-120"/>
              </a:rPr>
              <a:t>·</a:t>
            </a:r>
            <a:endParaRPr lang="en-US" sz="1200" dirty="0"/>
          </a:p>
        </p:txBody>
      </p:sp>
      <p:sp>
        <p:nvSpPr>
          <p:cNvPr id="24" name="Text 19"/>
          <p:cNvSpPr/>
          <p:nvPr/>
        </p:nvSpPr>
        <p:spPr>
          <a:xfrm>
            <a:off x="6978402" y="3972818"/>
            <a:ext cx="3122295"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Real LLM + mock fallback (no-cost dev)</a:t>
            </a:r>
            <a:endParaRPr lang="en-US" sz="1275" dirty="0"/>
          </a:p>
        </p:txBody>
      </p:sp>
      <p:sp>
        <p:nvSpPr>
          <p:cNvPr id="25" name="Text 20"/>
          <p:cNvSpPr/>
          <p:nvPr/>
        </p:nvSpPr>
        <p:spPr>
          <a:xfrm>
            <a:off x="6815138" y="4351883"/>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0047E5"/>
                </a:solidFill>
                <a:latin typeface="Roboto" pitchFamily="34" charset="0"/>
                <a:ea typeface="Roboto" pitchFamily="34" charset="-122"/>
                <a:cs typeface="Roboto" pitchFamily="34" charset="-120"/>
              </a:rPr>
              <a:t>·</a:t>
            </a:r>
            <a:endParaRPr lang="en-US" sz="1200" dirty="0"/>
          </a:p>
        </p:txBody>
      </p:sp>
      <p:sp>
        <p:nvSpPr>
          <p:cNvPr id="26" name="Text 21"/>
          <p:cNvSpPr/>
          <p:nvPr/>
        </p:nvSpPr>
        <p:spPr>
          <a:xfrm>
            <a:off x="6978402" y="4351883"/>
            <a:ext cx="3069171"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Shipped end-to-end inside the time box</a:t>
            </a:r>
            <a:endParaRPr lang="en-US" sz="1275" dirty="0"/>
          </a:p>
        </p:txBody>
      </p:sp>
      <p:sp>
        <p:nvSpPr>
          <p:cNvPr id="27" name="Shape 22"/>
          <p:cNvSpPr/>
          <p:nvPr/>
        </p:nvSpPr>
        <p:spPr>
          <a:xfrm>
            <a:off x="12039600" y="2362200"/>
            <a:ext cx="5295900" cy="6715125"/>
          </a:xfrm>
          <a:prstGeom prst="roundRect">
            <a:avLst>
              <a:gd name="adj" fmla="val 2878"/>
            </a:avLst>
          </a:prstGeom>
          <a:solidFill>
            <a:srgbClr val="FFFFFF"/>
          </a:solidFill>
          <a:ln w="14288">
            <a:solidFill>
              <a:srgbClr val="E2E8F0"/>
            </a:solidFill>
            <a:prstDash val="solid"/>
          </a:ln>
        </p:spPr>
      </p:sp>
      <p:pic>
        <p:nvPicPr>
          <p:cNvPr id="28" name="Image 3" descr="preencoded.png">    </p:cNvPr>
          <p:cNvPicPr>
            <a:picLocks noChangeAspect="1"/>
          </p:cNvPicPr>
          <p:nvPr/>
        </p:nvPicPr>
        <p:blipFill>
          <a:blip r:embed="rId4"/>
          <a:srcRect l="0" r="0" t="0" b="0"/>
          <a:stretch/>
        </p:blipFill>
        <p:spPr>
          <a:xfrm>
            <a:off x="12358688" y="2681288"/>
            <a:ext cx="304800" cy="304800"/>
          </a:xfrm>
          <a:prstGeom prst="rect">
            <a:avLst/>
          </a:prstGeom>
        </p:spPr>
      </p:pic>
      <p:sp>
        <p:nvSpPr>
          <p:cNvPr id="29" name="Text 23"/>
          <p:cNvSpPr/>
          <p:nvPr/>
        </p:nvSpPr>
        <p:spPr>
          <a:xfrm>
            <a:off x="12796838" y="2697956"/>
            <a:ext cx="1869824"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14254C"/>
                </a:solidFill>
                <a:latin typeface="Roboto" pitchFamily="34" charset="0"/>
                <a:ea typeface="Roboto" pitchFamily="34" charset="-122"/>
                <a:cs typeface="Roboto" pitchFamily="34" charset="-120"/>
              </a:rPr>
              <a:t>What I'd improve</a:t>
            </a:r>
            <a:endParaRPr lang="en-US" sz="1800" dirty="0"/>
          </a:p>
        </p:txBody>
      </p:sp>
      <p:sp>
        <p:nvSpPr>
          <p:cNvPr id="30" name="Text 24"/>
          <p:cNvSpPr/>
          <p:nvPr/>
        </p:nvSpPr>
        <p:spPr>
          <a:xfrm>
            <a:off x="12358688" y="3214688"/>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F2A100"/>
                </a:solidFill>
                <a:latin typeface="Roboto" pitchFamily="34" charset="0"/>
                <a:ea typeface="Roboto" pitchFamily="34" charset="-122"/>
                <a:cs typeface="Roboto" pitchFamily="34" charset="-120"/>
              </a:rPr>
              <a:t>·</a:t>
            </a:r>
            <a:endParaRPr lang="en-US" sz="1200" dirty="0"/>
          </a:p>
        </p:txBody>
      </p:sp>
      <p:sp>
        <p:nvSpPr>
          <p:cNvPr id="31" name="Text 25"/>
          <p:cNvSpPr/>
          <p:nvPr/>
        </p:nvSpPr>
        <p:spPr>
          <a:xfrm>
            <a:off x="12521952" y="3214688"/>
            <a:ext cx="3146852"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Swap mock → </a:t>
            </a:r>
            <a:pPr algn="l" indent="0" marL="0">
              <a:lnSpc>
                <a:spcPct val="140000"/>
              </a:lnSpc>
              <a:buNone/>
            </a:pPr>
            <a:r>
              <a:rPr lang="en-US" sz="1275" b="1" dirty="0">
                <a:solidFill>
                  <a:srgbClr val="14254C"/>
                </a:solidFill>
                <a:latin typeface="Roboto" pitchFamily="34" charset="0"/>
                <a:ea typeface="Roboto" pitchFamily="34" charset="-122"/>
                <a:cs typeface="Roboto" pitchFamily="34" charset="-120"/>
              </a:rPr>
              <a:t>NIH DSLD </a:t>
            </a:r>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(200k+ labels)</a:t>
            </a:r>
            <a:endParaRPr lang="en-US" sz="1275" dirty="0"/>
          </a:p>
        </p:txBody>
      </p:sp>
      <p:sp>
        <p:nvSpPr>
          <p:cNvPr id="32" name="Text 26"/>
          <p:cNvSpPr/>
          <p:nvPr/>
        </p:nvSpPr>
        <p:spPr>
          <a:xfrm>
            <a:off x="12358688" y="3593753"/>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F2A100"/>
                </a:solidFill>
                <a:latin typeface="Roboto" pitchFamily="34" charset="0"/>
                <a:ea typeface="Roboto" pitchFamily="34" charset="-122"/>
                <a:cs typeface="Roboto" pitchFamily="34" charset="-120"/>
              </a:rPr>
              <a:t>·</a:t>
            </a:r>
            <a:endParaRPr lang="en-US" sz="1200" dirty="0"/>
          </a:p>
        </p:txBody>
      </p:sp>
      <p:sp>
        <p:nvSpPr>
          <p:cNvPr id="33" name="Text 27"/>
          <p:cNvSpPr/>
          <p:nvPr/>
        </p:nvSpPr>
        <p:spPr>
          <a:xfrm>
            <a:off x="12521952" y="3593753"/>
            <a:ext cx="2713181"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LLM function-call for fuzzier intent</a:t>
            </a:r>
            <a:endParaRPr lang="en-US" sz="1275" dirty="0"/>
          </a:p>
        </p:txBody>
      </p:sp>
      <p:sp>
        <p:nvSpPr>
          <p:cNvPr id="34" name="Text 28"/>
          <p:cNvSpPr/>
          <p:nvPr/>
        </p:nvSpPr>
        <p:spPr>
          <a:xfrm>
            <a:off x="12358688" y="3972818"/>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F2A100"/>
                </a:solidFill>
                <a:latin typeface="Roboto" pitchFamily="34" charset="0"/>
                <a:ea typeface="Roboto" pitchFamily="34" charset="-122"/>
                <a:cs typeface="Roboto" pitchFamily="34" charset="-120"/>
              </a:rPr>
              <a:t>·</a:t>
            </a:r>
            <a:endParaRPr lang="en-US" sz="1200" dirty="0"/>
          </a:p>
        </p:txBody>
      </p:sp>
      <p:sp>
        <p:nvSpPr>
          <p:cNvPr id="35" name="Text 29"/>
          <p:cNvSpPr/>
          <p:nvPr/>
        </p:nvSpPr>
        <p:spPr>
          <a:xfrm>
            <a:off x="12521952" y="3972818"/>
            <a:ext cx="2385841"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Auth, persistence, rate limiting</a:t>
            </a:r>
            <a:endParaRPr lang="en-US" sz="1275" dirty="0"/>
          </a:p>
        </p:txBody>
      </p:sp>
      <p:sp>
        <p:nvSpPr>
          <p:cNvPr id="36" name="Text 30"/>
          <p:cNvSpPr/>
          <p:nvPr/>
        </p:nvSpPr>
        <p:spPr>
          <a:xfrm>
            <a:off x="12358688" y="4351883"/>
            <a:ext cx="125164" cy="264765"/>
          </a:xfrm>
          <a:prstGeom prst="rect">
            <a:avLst/>
          </a:prstGeom>
          <a:noFill/>
          <a:ln/>
        </p:spPr>
        <p:txBody>
          <a:bodyPr wrap="square" lIns="25400" tIns="25400" rIns="25400" bIns="25400" rtlCol="0" anchor="t">
            <a:normAutofit/>
          </a:bodyPr>
          <a:lstStyle/>
          <a:p>
            <a:pPr algn="l" indent="0" marL="0">
              <a:buNone/>
            </a:pPr>
            <a:r>
              <a:rPr lang="en-US" sz="1200" b="1" dirty="0">
                <a:solidFill>
                  <a:srgbClr val="F2A100"/>
                </a:solidFill>
                <a:latin typeface="Roboto" pitchFamily="34" charset="0"/>
                <a:ea typeface="Roboto" pitchFamily="34" charset="-122"/>
                <a:cs typeface="Roboto" pitchFamily="34" charset="-120"/>
              </a:rPr>
              <a:t>·</a:t>
            </a:r>
            <a:endParaRPr lang="en-US" sz="1200" dirty="0"/>
          </a:p>
        </p:txBody>
      </p:sp>
      <p:sp>
        <p:nvSpPr>
          <p:cNvPr id="37" name="Text 31"/>
          <p:cNvSpPr/>
          <p:nvPr/>
        </p:nvSpPr>
        <p:spPr>
          <a:xfrm>
            <a:off x="12521952" y="4351883"/>
            <a:ext cx="1074837" cy="26476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475569"/>
                </a:solidFill>
                <a:latin typeface="Roboto" pitchFamily="34" charset="0"/>
                <a:ea typeface="Roboto" pitchFamily="34" charset="-122"/>
                <a:cs typeface="Roboto" pitchFamily="34" charset="-120"/>
              </a:rPr>
              <a:t>Add unit tests</a:t>
            </a:r>
            <a:endParaRPr lang="en-US" sz="1275" dirty="0"/>
          </a:p>
        </p:txBody>
      </p:sp>
      <p:sp>
        <p:nvSpPr>
          <p:cNvPr id="38" name="Shape 32"/>
          <p:cNvSpPr/>
          <p:nvPr/>
        </p:nvSpPr>
        <p:spPr>
          <a:xfrm>
            <a:off x="952500" y="9305925"/>
            <a:ext cx="16383000" cy="9525"/>
          </a:xfrm>
          <a:prstGeom prst="rect">
            <a:avLst/>
          </a:prstGeom>
          <a:solidFill>
            <a:srgbClr val="E2E8F0"/>
          </a:solidFill>
          <a:ln/>
        </p:spPr>
      </p:sp>
      <p:pic>
        <p:nvPicPr>
          <p:cNvPr id="39" name="Image 4" descr="preencoded.png">    </p:cNvPr>
          <p:cNvPicPr>
            <a:picLocks noChangeAspect="1"/>
          </p:cNvPicPr>
          <p:nvPr/>
        </p:nvPicPr>
        <p:blipFill>
          <a:blip r:embed="rId5"/>
          <a:srcRect l="0" r="0" t="0" b="0"/>
          <a:stretch/>
        </p:blipFill>
        <p:spPr>
          <a:xfrm>
            <a:off x="952500" y="9525000"/>
            <a:ext cx="190500" cy="190500"/>
          </a:xfrm>
          <a:prstGeom prst="rect">
            <a:avLst/>
          </a:prstGeom>
        </p:spPr>
      </p:pic>
      <p:sp>
        <p:nvSpPr>
          <p:cNvPr id="40" name="Text 33"/>
          <p:cNvSpPr/>
          <p:nvPr/>
        </p:nvSpPr>
        <p:spPr>
          <a:xfrm>
            <a:off x="1257300" y="9529763"/>
            <a:ext cx="6420006" cy="219075"/>
          </a:xfrm>
          <a:prstGeom prst="rect">
            <a:avLst/>
          </a:prstGeom>
          <a:noFill/>
          <a:ln/>
        </p:spPr>
        <p:txBody>
          <a:bodyPr wrap="square" lIns="25400" tIns="25400" rIns="25400" bIns="25400" rtlCol="0" anchor="t">
            <a:normAutofit/>
          </a:bodyPr>
          <a:lstStyle/>
          <a:p>
            <a:pPr algn="l" indent="0" marL="0">
              <a:buNone/>
            </a:pPr>
            <a:r>
              <a:rPr lang="en-US" sz="1200" dirty="0">
                <a:solidFill>
                  <a:srgbClr val="64748B"/>
                </a:solidFill>
                <a:latin typeface="Roboto" pitchFamily="34" charset="0"/>
                <a:ea typeface="Roboto" pitchFamily="34" charset="-122"/>
                <a:cs typeface="Roboto" pitchFamily="34" charset="-120"/>
              </a:rPr>
              <a:t>Walked through in the submission video: decisions, what worked, and what to improve.</a:t>
            </a:r>
            <a:endParaRPr lang="en-US" sz="1200" dirty="0"/>
          </a:p>
        </p:txBody>
      </p:sp>
      <p:sp>
        <p:nvSpPr>
          <p:cNvPr id="41" name="Text 34"/>
          <p:cNvSpPr/>
          <p:nvPr/>
        </p:nvSpPr>
        <p:spPr>
          <a:xfrm>
            <a:off x="15014823" y="9532144"/>
            <a:ext cx="2552745" cy="214313"/>
          </a:xfrm>
          <a:prstGeom prst="rect">
            <a:avLst/>
          </a:prstGeom>
          <a:noFill/>
          <a:ln/>
        </p:spPr>
        <p:txBody>
          <a:bodyPr wrap="square" lIns="25400" tIns="25400" rIns="25400" bIns="25400" rtlCol="0" anchor="t">
            <a:normAutofit/>
          </a:bodyPr>
          <a:lstStyle/>
          <a:p>
            <a:pPr algn="l" indent="0" marL="0">
              <a:buNone/>
            </a:pPr>
            <a:r>
              <a:rPr lang="en-US" sz="1050" dirty="0">
                <a:solidFill>
                  <a:srgbClr val="94A3B8"/>
                </a:solidFill>
                <a:latin typeface="Roboto Mono" pitchFamily="34" charset="0"/>
                <a:ea typeface="Roboto Mono" pitchFamily="34" charset="-122"/>
                <a:cs typeface="Roboto Mono" pitchFamily="34" charset="-120"/>
              </a:rPr>
              <a:t>Factored · Take-home exercise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704850"/>
            <a:ext cx="1387525" cy="323850"/>
          </a:xfrm>
          <a:prstGeom prst="rect">
            <a:avLst/>
          </a:prstGeom>
        </p:spPr>
      </p:pic>
      <p:sp>
        <p:nvSpPr>
          <p:cNvPr id="3" name="Text 0"/>
          <p:cNvSpPr/>
          <p:nvPr/>
        </p:nvSpPr>
        <p:spPr>
          <a:xfrm>
            <a:off x="13882688" y="783431"/>
            <a:ext cx="3798094"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047E5"/>
                </a:solidFill>
                <a:latin typeface="Roboto" pitchFamily="34" charset="0"/>
                <a:ea typeface="Roboto" pitchFamily="34" charset="-122"/>
                <a:cs typeface="Roboto" pitchFamily="34" charset="-120"/>
              </a:rPr>
              <a:t>FINANCIAL ASSISTANT · LIVE ON AWS</a:t>
            </a:r>
            <a:endParaRPr lang="en-US" sz="1125" dirty="0"/>
          </a:p>
        </p:txBody>
      </p:sp>
      <p:sp>
        <p:nvSpPr>
          <p:cNvPr id="4" name="Text 1"/>
          <p:cNvSpPr/>
          <p:nvPr/>
        </p:nvSpPr>
        <p:spPr>
          <a:xfrm>
            <a:off x="952500" y="1371600"/>
            <a:ext cx="9188686"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b="1" spc="-90" kern="0" dirty="0">
                <a:solidFill>
                  <a:srgbClr val="14254C"/>
                </a:solidFill>
                <a:latin typeface="Roboto" pitchFamily="34" charset="0"/>
                <a:ea typeface="Roboto" pitchFamily="34" charset="-122"/>
                <a:cs typeface="Roboto" pitchFamily="34" charset="-120"/>
              </a:rPr>
              <a:t>A multi-agent financial assistant</a:t>
            </a:r>
            <a:endParaRPr lang="en-US" sz="4650" dirty="0"/>
          </a:p>
        </p:txBody>
      </p:sp>
      <p:sp>
        <p:nvSpPr>
          <p:cNvPr id="5" name="Shape 2"/>
          <p:cNvSpPr/>
          <p:nvPr/>
        </p:nvSpPr>
        <p:spPr>
          <a:xfrm>
            <a:off x="15962635" y="1562100"/>
            <a:ext cx="1372865" cy="400050"/>
          </a:xfrm>
          <a:prstGeom prst="roundRect">
            <a:avLst>
              <a:gd name="adj" fmla="val 50000"/>
            </a:avLst>
          </a:prstGeom>
          <a:solidFill>
            <a:srgbClr val="0047E5"/>
          </a:solidFill>
          <a:ln/>
        </p:spPr>
      </p:sp>
      <p:sp>
        <p:nvSpPr>
          <p:cNvPr id="6" name="Text 3"/>
          <p:cNvSpPr/>
          <p:nvPr/>
        </p:nvSpPr>
        <p:spPr>
          <a:xfrm>
            <a:off x="16172185" y="1688306"/>
            <a:ext cx="185217" cy="185738"/>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Roboto" pitchFamily="34" charset="0"/>
                <a:ea typeface="Roboto" pitchFamily="34" charset="-122"/>
                <a:cs typeface="Roboto" pitchFamily="34" charset="-120"/>
              </a:rPr>
              <a:t>▶</a:t>
            </a:r>
            <a:endParaRPr lang="en-US" sz="975" dirty="0"/>
          </a:p>
        </p:txBody>
      </p:sp>
      <p:sp>
        <p:nvSpPr>
          <p:cNvPr id="7" name="Text 4"/>
          <p:cNvSpPr/>
          <p:nvPr/>
        </p:nvSpPr>
        <p:spPr>
          <a:xfrm>
            <a:off x="16376452" y="1666875"/>
            <a:ext cx="825698" cy="228600"/>
          </a:xfrm>
          <a:prstGeom prst="rect">
            <a:avLst/>
          </a:prstGeom>
          <a:noFill/>
          <a:ln/>
        </p:spPr>
        <p:txBody>
          <a:bodyPr wrap="square" lIns="0" tIns="0" rIns="0" bIns="0" rtlCol="0" anchor="t">
            <a:normAutofit/>
          </a:bodyPr>
          <a:lstStyle/>
          <a:p>
            <a:pPr algn="l" indent="0" marL="0">
              <a:buNone/>
            </a:pPr>
            <a:r>
              <a:rPr lang="en-US" sz="1275" b="1" dirty="0">
                <a:solidFill>
                  <a:srgbClr val="FFFFFF"/>
                </a:solidFill>
                <a:latin typeface="Roboto" pitchFamily="34" charset="0"/>
                <a:ea typeface="Roboto" pitchFamily="34" charset="-122"/>
                <a:cs typeface="Roboto" pitchFamily="34" charset="-120"/>
              </a:rPr>
              <a:t>Live demo</a:t>
            </a:r>
            <a:endParaRPr lang="en-US" sz="1275" dirty="0"/>
          </a:p>
        </p:txBody>
      </p:sp>
      <p:sp>
        <p:nvSpPr>
          <p:cNvPr id="8" name="Shape 5"/>
          <p:cNvSpPr/>
          <p:nvPr/>
        </p:nvSpPr>
        <p:spPr>
          <a:xfrm>
            <a:off x="952500" y="2521744"/>
            <a:ext cx="4357390" cy="523875"/>
          </a:xfrm>
          <a:prstGeom prst="roundRect">
            <a:avLst>
              <a:gd name="adj" fmla="val 21818"/>
            </a:avLst>
          </a:prstGeom>
          <a:solidFill>
            <a:srgbClr val="F6F8FC"/>
          </a:solidFill>
          <a:ln w="14288">
            <a:solidFill>
              <a:srgbClr val="E2E8F0"/>
            </a:solidFill>
            <a:prstDash val="solid"/>
          </a:ln>
        </p:spPr>
      </p:sp>
      <p:sp>
        <p:nvSpPr>
          <p:cNvPr id="9" name="Text 6"/>
          <p:cNvSpPr/>
          <p:nvPr/>
        </p:nvSpPr>
        <p:spPr>
          <a:xfrm>
            <a:off x="1176338" y="2669381"/>
            <a:ext cx="4040437" cy="266700"/>
          </a:xfrm>
          <a:prstGeom prst="rect">
            <a:avLst/>
          </a:prstGeom>
          <a:noFill/>
          <a:ln/>
        </p:spPr>
        <p:txBody>
          <a:bodyPr wrap="square" lIns="25400" tIns="25400" rIns="25400" bIns="25400" rtlCol="0" anchor="t">
            <a:normAutofit/>
          </a:bodyPr>
          <a:lstStyle/>
          <a:p>
            <a:pPr algn="l" indent="0" marL="0">
              <a:buNone/>
            </a:pPr>
            <a:r>
              <a:rPr lang="en-US" sz="1350" dirty="0">
                <a:solidFill>
                  <a:srgbClr val="475569"/>
                </a:solidFill>
                <a:latin typeface="Roboto Mono" pitchFamily="34" charset="0"/>
                <a:ea typeface="Roboto Mono" pitchFamily="34" charset="-122"/>
                <a:cs typeface="Roboto Mono" pitchFamily="34" charset="-120"/>
              </a:rPr>
              <a:t>"How did Q4 results affect the stock?"</a:t>
            </a:r>
            <a:endParaRPr lang="en-US" sz="1350" dirty="0"/>
          </a:p>
        </p:txBody>
      </p:sp>
      <p:pic>
        <p:nvPicPr>
          <p:cNvPr id="10" name="Image 1" descr="preencoded.png">    </p:cNvPr>
          <p:cNvPicPr>
            <a:picLocks noChangeAspect="1"/>
          </p:cNvPicPr>
          <p:nvPr/>
        </p:nvPicPr>
        <p:blipFill>
          <a:blip r:embed="rId2"/>
          <a:srcRect l="0" r="0" t="0" b="0"/>
          <a:stretch/>
        </p:blipFill>
        <p:spPr>
          <a:xfrm>
            <a:off x="5481340" y="2640806"/>
            <a:ext cx="285750" cy="285750"/>
          </a:xfrm>
          <a:prstGeom prst="rect">
            <a:avLst/>
          </a:prstGeom>
        </p:spPr>
      </p:pic>
      <p:sp>
        <p:nvSpPr>
          <p:cNvPr id="11" name="Shape 7"/>
          <p:cNvSpPr/>
          <p:nvPr/>
        </p:nvSpPr>
        <p:spPr>
          <a:xfrm>
            <a:off x="5938540" y="2457450"/>
            <a:ext cx="11396960" cy="652463"/>
          </a:xfrm>
          <a:prstGeom prst="roundRect">
            <a:avLst>
              <a:gd name="adj" fmla="val 20438"/>
            </a:avLst>
          </a:prstGeom>
          <a:solidFill>
            <a:srgbClr val="0047E5"/>
          </a:solidFill>
          <a:ln/>
          <a:effectLst>
            <a:outerShdw sx="100000" sy="100000" kx="0" ky="0" algn="bl" rotWithShape="0" blurRad="342900" dist="152400" dir="5400000">
              <a:srgbClr val="0047E5">
                <a:alpha val="25000"/>
              </a:srgbClr>
            </a:outerShdw>
          </a:effectLst>
        </p:spPr>
      </p:sp>
      <p:pic>
        <p:nvPicPr>
          <p:cNvPr id="12" name="Image 2" descr="preencoded.png">    </p:cNvPr>
          <p:cNvPicPr>
            <a:picLocks noChangeAspect="1"/>
          </p:cNvPicPr>
          <p:nvPr/>
        </p:nvPicPr>
        <p:blipFill>
          <a:blip r:embed="rId3"/>
          <a:srcRect l="0" r="0" t="45576" b="45576"/>
          <a:stretch/>
        </p:blipFill>
        <p:spPr>
          <a:xfrm>
            <a:off x="5938540" y="2457450"/>
            <a:ext cx="11396960" cy="652463"/>
          </a:xfrm>
          <a:prstGeom prst="rect">
            <a:avLst/>
          </a:prstGeom>
        </p:spPr>
      </p:pic>
      <p:sp>
        <p:nvSpPr>
          <p:cNvPr id="13" name="Text 8"/>
          <p:cNvSpPr/>
          <p:nvPr/>
        </p:nvSpPr>
        <p:spPr>
          <a:xfrm>
            <a:off x="6205240" y="2647950"/>
            <a:ext cx="1662403"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Roboto" pitchFamily="34" charset="0"/>
                <a:ea typeface="Roboto" pitchFamily="34" charset="-122"/>
                <a:cs typeface="Roboto" pitchFamily="34" charset="-120"/>
              </a:rPr>
              <a:t>DecisionAgent</a:t>
            </a:r>
            <a:endParaRPr lang="en-US" sz="1800" dirty="0"/>
          </a:p>
        </p:txBody>
      </p:sp>
      <p:sp>
        <p:nvSpPr>
          <p:cNvPr id="14" name="Text 9"/>
          <p:cNvSpPr/>
          <p:nvPr/>
        </p:nvSpPr>
        <p:spPr>
          <a:xfrm>
            <a:off x="7868915" y="2688431"/>
            <a:ext cx="5187672" cy="228600"/>
          </a:xfrm>
          <a:prstGeom prst="rect">
            <a:avLst/>
          </a:prstGeom>
          <a:noFill/>
          <a:ln/>
        </p:spPr>
        <p:txBody>
          <a:bodyPr wrap="square" lIns="25400" tIns="25400" rIns="25400" bIns="25400" rtlCol="0" anchor="t">
            <a:normAutofit/>
          </a:bodyPr>
          <a:lstStyle/>
          <a:p>
            <a:pPr algn="l" indent="0" marL="0">
              <a:buNone/>
            </a:pPr>
            <a:r>
              <a:rPr lang="en-US" sz="1275" dirty="0">
                <a:solidFill>
                  <a:srgbClr val="FFFFFF">
                    <a:alpha val="85000"/>
                  </a:srgbClr>
                </a:solidFill>
                <a:latin typeface="Roboto" pitchFamily="34" charset="0"/>
                <a:ea typeface="Roboto" pitchFamily="34" charset="-122"/>
                <a:cs typeface="Roboto" pitchFamily="34" charset="-120"/>
              </a:rPr>
              <a:t>routes the query · streams live reasoning · synthesizes the answer</a:t>
            </a:r>
            <a:endParaRPr lang="en-US" sz="1275" dirty="0"/>
          </a:p>
        </p:txBody>
      </p:sp>
      <p:sp>
        <p:nvSpPr>
          <p:cNvPr id="15" name="Shape 10"/>
          <p:cNvSpPr/>
          <p:nvPr/>
        </p:nvSpPr>
        <p:spPr>
          <a:xfrm>
            <a:off x="952500" y="3357563"/>
            <a:ext cx="5321275" cy="1468264"/>
          </a:xfrm>
          <a:prstGeom prst="roundRect">
            <a:avLst>
              <a:gd name="adj" fmla="val 10380"/>
            </a:avLst>
          </a:prstGeom>
          <a:solidFill>
            <a:srgbClr val="FFFFFF"/>
          </a:solidFill>
          <a:ln w="14288">
            <a:solidFill>
              <a:srgbClr val="E2E8F0"/>
            </a:solidFill>
            <a:prstDash val="solid"/>
          </a:ln>
        </p:spPr>
      </p:sp>
      <p:pic>
        <p:nvPicPr>
          <p:cNvPr id="16" name="Image 3" descr="preencoded.png">    </p:cNvPr>
          <p:cNvPicPr>
            <a:picLocks noChangeAspect="1"/>
          </p:cNvPicPr>
          <p:nvPr/>
        </p:nvPicPr>
        <p:blipFill>
          <a:blip r:embed="rId4"/>
          <a:srcRect l="0" r="0" t="0" b="0"/>
          <a:stretch/>
        </p:blipFill>
        <p:spPr>
          <a:xfrm>
            <a:off x="1233488" y="3619500"/>
            <a:ext cx="285750" cy="285750"/>
          </a:xfrm>
          <a:prstGeom prst="rect">
            <a:avLst/>
          </a:prstGeom>
        </p:spPr>
      </p:pic>
      <p:sp>
        <p:nvSpPr>
          <p:cNvPr id="17" name="Text 11"/>
          <p:cNvSpPr/>
          <p:nvPr/>
        </p:nvSpPr>
        <p:spPr>
          <a:xfrm>
            <a:off x="1652588" y="3626644"/>
            <a:ext cx="1324585"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14254C"/>
                </a:solidFill>
                <a:latin typeface="Roboto" pitchFamily="34" charset="0"/>
                <a:ea typeface="Roboto" pitchFamily="34" charset="-122"/>
                <a:cs typeface="Roboto" pitchFamily="34" charset="-120"/>
              </a:rPr>
              <a:t>Price Agent</a:t>
            </a:r>
            <a:endParaRPr lang="en-US" sz="1800" dirty="0"/>
          </a:p>
        </p:txBody>
      </p:sp>
      <p:sp>
        <p:nvSpPr>
          <p:cNvPr id="18" name="Text 12"/>
          <p:cNvSpPr/>
          <p:nvPr/>
        </p:nvSpPr>
        <p:spPr>
          <a:xfrm>
            <a:off x="1233488" y="4019550"/>
            <a:ext cx="5235230" cy="272876"/>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64748B"/>
                </a:solidFill>
                <a:latin typeface="Roboto" pitchFamily="34" charset="0"/>
                <a:ea typeface="Roboto" pitchFamily="34" charset="-122"/>
                <a:cs typeface="Roboto" pitchFamily="34" charset="-120"/>
              </a:rPr>
              <a:t>Trends, returns, reactions, comparisons.</a:t>
            </a:r>
            <a:endParaRPr lang="en-US" sz="1275" dirty="0"/>
          </a:p>
        </p:txBody>
      </p:sp>
      <p:sp>
        <p:nvSpPr>
          <p:cNvPr id="19" name="Text 13"/>
          <p:cNvSpPr/>
          <p:nvPr/>
        </p:nvSpPr>
        <p:spPr>
          <a:xfrm>
            <a:off x="1233488" y="4387676"/>
            <a:ext cx="5235230" cy="214313"/>
          </a:xfrm>
          <a:prstGeom prst="rect">
            <a:avLst/>
          </a:prstGeom>
          <a:noFill/>
          <a:ln/>
        </p:spPr>
        <p:txBody>
          <a:bodyPr wrap="square" lIns="25400" tIns="25400" rIns="25400" bIns="25400" rtlCol="0" anchor="t">
            <a:normAutofit/>
          </a:bodyPr>
          <a:lstStyle/>
          <a:p>
            <a:pPr algn="l" indent="0" marL="0">
              <a:buNone/>
            </a:pPr>
            <a:r>
              <a:rPr lang="en-US" sz="1050" dirty="0">
                <a:solidFill>
                  <a:srgbClr val="0047E5"/>
                </a:solidFill>
                <a:latin typeface="Roboto Mono" pitchFamily="34" charset="0"/>
                <a:ea typeface="Roboto Mono" pitchFamily="34" charset="-122"/>
                <a:cs typeface="Roboto Mono" pitchFamily="34" charset="-120"/>
              </a:rPr>
              <a:t>PostgreSQL · Alpha Vantage</a:t>
            </a:r>
            <a:endParaRPr lang="en-US" sz="1050" dirty="0"/>
          </a:p>
        </p:txBody>
      </p:sp>
      <p:sp>
        <p:nvSpPr>
          <p:cNvPr id="20" name="Shape 14"/>
          <p:cNvSpPr/>
          <p:nvPr/>
        </p:nvSpPr>
        <p:spPr>
          <a:xfrm>
            <a:off x="6483325" y="3357563"/>
            <a:ext cx="5321350" cy="1468264"/>
          </a:xfrm>
          <a:prstGeom prst="roundRect">
            <a:avLst>
              <a:gd name="adj" fmla="val 10380"/>
            </a:avLst>
          </a:prstGeom>
          <a:solidFill>
            <a:srgbClr val="FFFFFF"/>
          </a:solidFill>
          <a:ln w="14288">
            <a:solidFill>
              <a:srgbClr val="E2E8F0"/>
            </a:solidFill>
            <a:prstDash val="solid"/>
          </a:ln>
        </p:spPr>
      </p:sp>
      <p:pic>
        <p:nvPicPr>
          <p:cNvPr id="21" name="Image 4" descr="preencoded.png">    </p:cNvPr>
          <p:cNvPicPr>
            <a:picLocks noChangeAspect="1"/>
          </p:cNvPicPr>
          <p:nvPr/>
        </p:nvPicPr>
        <p:blipFill>
          <a:blip r:embed="rId5"/>
          <a:srcRect l="0" r="0" t="0" b="0"/>
          <a:stretch/>
        </p:blipFill>
        <p:spPr>
          <a:xfrm>
            <a:off x="6764313" y="3619500"/>
            <a:ext cx="285750" cy="285750"/>
          </a:xfrm>
          <a:prstGeom prst="rect">
            <a:avLst/>
          </a:prstGeom>
        </p:spPr>
      </p:pic>
      <p:sp>
        <p:nvSpPr>
          <p:cNvPr id="22" name="Text 15"/>
          <p:cNvSpPr/>
          <p:nvPr/>
        </p:nvSpPr>
        <p:spPr>
          <a:xfrm>
            <a:off x="7183413" y="3626644"/>
            <a:ext cx="1364203"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14254C"/>
                </a:solidFill>
                <a:latin typeface="Roboto" pitchFamily="34" charset="0"/>
                <a:ea typeface="Roboto" pitchFamily="34" charset="-122"/>
                <a:cs typeface="Roboto" pitchFamily="34" charset="-120"/>
              </a:rPr>
              <a:t>News Agent</a:t>
            </a:r>
            <a:endParaRPr lang="en-US" sz="1800" dirty="0"/>
          </a:p>
        </p:txBody>
      </p:sp>
      <p:sp>
        <p:nvSpPr>
          <p:cNvPr id="23" name="Text 16"/>
          <p:cNvSpPr/>
          <p:nvPr/>
        </p:nvSpPr>
        <p:spPr>
          <a:xfrm>
            <a:off x="6764313" y="4019550"/>
            <a:ext cx="5235312" cy="272876"/>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64748B"/>
                </a:solidFill>
                <a:latin typeface="Roboto" pitchFamily="34" charset="0"/>
                <a:ea typeface="Roboto" pitchFamily="34" charset="-122"/>
                <a:cs typeface="Roboto" pitchFamily="34" charset="-120"/>
              </a:rPr>
              <a:t>Recent news and market sentiment.</a:t>
            </a:r>
            <a:endParaRPr lang="en-US" sz="1275" dirty="0"/>
          </a:p>
        </p:txBody>
      </p:sp>
      <p:sp>
        <p:nvSpPr>
          <p:cNvPr id="24" name="Text 17"/>
          <p:cNvSpPr/>
          <p:nvPr/>
        </p:nvSpPr>
        <p:spPr>
          <a:xfrm>
            <a:off x="6764313" y="4387676"/>
            <a:ext cx="5235312" cy="214313"/>
          </a:xfrm>
          <a:prstGeom prst="rect">
            <a:avLst/>
          </a:prstGeom>
          <a:noFill/>
          <a:ln/>
        </p:spPr>
        <p:txBody>
          <a:bodyPr wrap="square" lIns="25400" tIns="25400" rIns="25400" bIns="25400" rtlCol="0" anchor="t">
            <a:normAutofit/>
          </a:bodyPr>
          <a:lstStyle/>
          <a:p>
            <a:pPr algn="l" indent="0" marL="0">
              <a:buNone/>
            </a:pPr>
            <a:r>
              <a:rPr lang="en-US" sz="1050" dirty="0">
                <a:solidFill>
                  <a:srgbClr val="0047E5"/>
                </a:solidFill>
                <a:latin typeface="Roboto Mono" pitchFamily="34" charset="0"/>
                <a:ea typeface="Roboto Mono" pitchFamily="34" charset="-122"/>
                <a:cs typeface="Roboto Mono" pitchFamily="34" charset="-120"/>
              </a:rPr>
              <a:t>Alpha Vantage</a:t>
            </a:r>
            <a:endParaRPr lang="en-US" sz="1050" dirty="0"/>
          </a:p>
        </p:txBody>
      </p:sp>
      <p:sp>
        <p:nvSpPr>
          <p:cNvPr id="25" name="Shape 18"/>
          <p:cNvSpPr/>
          <p:nvPr/>
        </p:nvSpPr>
        <p:spPr>
          <a:xfrm>
            <a:off x="12014225" y="3357563"/>
            <a:ext cx="5321275" cy="1468264"/>
          </a:xfrm>
          <a:prstGeom prst="roundRect">
            <a:avLst>
              <a:gd name="adj" fmla="val 10380"/>
            </a:avLst>
          </a:prstGeom>
          <a:solidFill>
            <a:srgbClr val="FFFFFF"/>
          </a:solidFill>
          <a:ln w="14288">
            <a:solidFill>
              <a:srgbClr val="E2E8F0"/>
            </a:solidFill>
            <a:prstDash val="solid"/>
          </a:ln>
        </p:spPr>
      </p:sp>
      <p:pic>
        <p:nvPicPr>
          <p:cNvPr id="26" name="Image 5" descr="preencoded.png">    </p:cNvPr>
          <p:cNvPicPr>
            <a:picLocks noChangeAspect="1"/>
          </p:cNvPicPr>
          <p:nvPr/>
        </p:nvPicPr>
        <p:blipFill>
          <a:blip r:embed="rId6"/>
          <a:srcRect l="0" r="0" t="0" b="0"/>
          <a:stretch/>
        </p:blipFill>
        <p:spPr>
          <a:xfrm>
            <a:off x="12295212" y="3619500"/>
            <a:ext cx="285750" cy="285750"/>
          </a:xfrm>
          <a:prstGeom prst="rect">
            <a:avLst/>
          </a:prstGeom>
        </p:spPr>
      </p:pic>
      <p:sp>
        <p:nvSpPr>
          <p:cNvPr id="27" name="Text 19"/>
          <p:cNvSpPr/>
          <p:nvPr/>
        </p:nvSpPr>
        <p:spPr>
          <a:xfrm>
            <a:off x="12714312" y="3626644"/>
            <a:ext cx="1759565"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14254C"/>
                </a:solidFill>
                <a:latin typeface="Roboto" pitchFamily="34" charset="0"/>
                <a:ea typeface="Roboto" pitchFamily="34" charset="-122"/>
                <a:cs typeface="Roboto" pitchFamily="34" charset="-120"/>
              </a:rPr>
              <a:t>SEC RAG Agent</a:t>
            </a:r>
            <a:endParaRPr lang="en-US" sz="1800" dirty="0"/>
          </a:p>
        </p:txBody>
      </p:sp>
      <p:sp>
        <p:nvSpPr>
          <p:cNvPr id="28" name="Text 20"/>
          <p:cNvSpPr/>
          <p:nvPr/>
        </p:nvSpPr>
        <p:spPr>
          <a:xfrm>
            <a:off x="12295212" y="4019550"/>
            <a:ext cx="5235230" cy="272876"/>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64748B"/>
                </a:solidFill>
                <a:latin typeface="Roboto" pitchFamily="34" charset="0"/>
                <a:ea typeface="Roboto" pitchFamily="34" charset="-122"/>
                <a:cs typeface="Roboto" pitchFamily="34" charset="-120"/>
              </a:rPr>
              <a:t>10-K / 10-Q retrieval over filings.</a:t>
            </a:r>
            <a:endParaRPr lang="en-US" sz="1275" dirty="0"/>
          </a:p>
        </p:txBody>
      </p:sp>
      <p:sp>
        <p:nvSpPr>
          <p:cNvPr id="29" name="Text 21"/>
          <p:cNvSpPr/>
          <p:nvPr/>
        </p:nvSpPr>
        <p:spPr>
          <a:xfrm>
            <a:off x="12295212" y="4387676"/>
            <a:ext cx="5235230" cy="214313"/>
          </a:xfrm>
          <a:prstGeom prst="rect">
            <a:avLst/>
          </a:prstGeom>
          <a:noFill/>
          <a:ln/>
        </p:spPr>
        <p:txBody>
          <a:bodyPr wrap="square" lIns="25400" tIns="25400" rIns="25400" bIns="25400" rtlCol="0" anchor="t">
            <a:normAutofit/>
          </a:bodyPr>
          <a:lstStyle/>
          <a:p>
            <a:pPr algn="l" indent="0" marL="0">
              <a:buNone/>
            </a:pPr>
            <a:r>
              <a:rPr lang="en-US" sz="1050" dirty="0">
                <a:solidFill>
                  <a:srgbClr val="0047E5"/>
                </a:solidFill>
                <a:latin typeface="Roboto Mono" pitchFamily="34" charset="0"/>
                <a:ea typeface="Roboto Mono" pitchFamily="34" charset="-122"/>
                <a:cs typeface="Roboto Mono" pitchFamily="34" charset="-120"/>
              </a:rPr>
              <a:t>Qdrant · hybrid (dense+BM25+RRF)</a:t>
            </a:r>
            <a:endParaRPr lang="en-US" sz="1050" dirty="0"/>
          </a:p>
        </p:txBody>
      </p:sp>
      <p:sp>
        <p:nvSpPr>
          <p:cNvPr id="30" name="Shape 22"/>
          <p:cNvSpPr/>
          <p:nvPr/>
        </p:nvSpPr>
        <p:spPr>
          <a:xfrm>
            <a:off x="952500" y="9315450"/>
            <a:ext cx="16383000" cy="9525"/>
          </a:xfrm>
          <a:prstGeom prst="rect">
            <a:avLst/>
          </a:prstGeom>
          <a:solidFill>
            <a:srgbClr val="E2E8F0"/>
          </a:solidFill>
          <a:ln/>
        </p:spPr>
      </p:sp>
      <p:sp>
        <p:nvSpPr>
          <p:cNvPr id="31" name="Text 23"/>
          <p:cNvSpPr/>
          <p:nvPr/>
        </p:nvSpPr>
        <p:spPr>
          <a:xfrm>
            <a:off x="952500" y="9534525"/>
            <a:ext cx="2756647"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14254C"/>
                </a:solidFill>
                <a:latin typeface="Roboto" pitchFamily="34" charset="0"/>
                <a:ea typeface="Roboto" pitchFamily="34" charset="-122"/>
                <a:cs typeface="Roboto" pitchFamily="34" charset="-120"/>
              </a:rPr>
              <a:t>SSE </a:t>
            </a:r>
            <a:pPr algn="l" indent="0" marL="0">
              <a:buNone/>
            </a:pPr>
            <a:r>
              <a:rPr lang="en-US" sz="1200" dirty="0">
                <a:solidFill>
                  <a:srgbClr val="64748B"/>
                </a:solidFill>
                <a:latin typeface="Roboto" pitchFamily="34" charset="0"/>
                <a:ea typeface="Roboto" pitchFamily="34" charset="-122"/>
                <a:cs typeface="Roboto" pitchFamily="34" charset="-120"/>
              </a:rPr>
              <a:t>token streaming + live reasoning</a:t>
            </a:r>
            <a:endParaRPr lang="en-US" sz="1200" dirty="0"/>
          </a:p>
        </p:txBody>
      </p:sp>
      <p:sp>
        <p:nvSpPr>
          <p:cNvPr id="32" name="Text 24"/>
          <p:cNvSpPr/>
          <p:nvPr/>
        </p:nvSpPr>
        <p:spPr>
          <a:xfrm>
            <a:off x="3744292" y="9534525"/>
            <a:ext cx="116012" cy="219075"/>
          </a:xfrm>
          <a:prstGeom prst="rect">
            <a:avLst/>
          </a:prstGeom>
          <a:noFill/>
          <a:ln/>
        </p:spPr>
        <p:txBody>
          <a:bodyPr wrap="square" lIns="25400" tIns="25400" rIns="25400" bIns="25400" rtlCol="0" anchor="t">
            <a:normAutofit/>
          </a:bodyPr>
          <a:lstStyle/>
          <a:p>
            <a:pPr algn="l" indent="0" marL="0">
              <a:buNone/>
            </a:pPr>
            <a:r>
              <a:rPr lang="en-US" sz="1200" dirty="0">
                <a:solidFill>
                  <a:srgbClr val="CBD5E1"/>
                </a:solidFill>
                <a:latin typeface="Roboto" pitchFamily="34" charset="0"/>
                <a:ea typeface="Roboto" pitchFamily="34" charset="-122"/>
                <a:cs typeface="Roboto" pitchFamily="34" charset="-120"/>
              </a:rPr>
              <a:t>·</a:t>
            </a:r>
            <a:endParaRPr lang="en-US" sz="1200" dirty="0"/>
          </a:p>
        </p:txBody>
      </p:sp>
      <p:sp>
        <p:nvSpPr>
          <p:cNvPr id="33" name="Text 25"/>
          <p:cNvSpPr/>
          <p:nvPr/>
        </p:nvSpPr>
        <p:spPr>
          <a:xfrm>
            <a:off x="4069854" y="9534525"/>
            <a:ext cx="1780602"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14254C"/>
                </a:solidFill>
                <a:latin typeface="Roboto" pitchFamily="34" charset="0"/>
                <a:ea typeface="Roboto" pitchFamily="34" charset="-122"/>
                <a:cs typeface="Roboto" pitchFamily="34" charset="-120"/>
              </a:rPr>
              <a:t>Phoenix </a:t>
            </a:r>
            <a:pPr algn="l" indent="0" marL="0">
              <a:buNone/>
            </a:pPr>
            <a:r>
              <a:rPr lang="en-US" sz="1200" dirty="0">
                <a:solidFill>
                  <a:srgbClr val="64748B"/>
                </a:solidFill>
                <a:latin typeface="Roboto" pitchFamily="34" charset="0"/>
                <a:ea typeface="Roboto" pitchFamily="34" charset="-122"/>
                <a:cs typeface="Roboto" pitchFamily="34" charset="-120"/>
              </a:rPr>
              <a:t>eval · 6 graders</a:t>
            </a:r>
            <a:endParaRPr lang="en-US" sz="1200" dirty="0"/>
          </a:p>
        </p:txBody>
      </p:sp>
      <p:sp>
        <p:nvSpPr>
          <p:cNvPr id="34" name="Text 26"/>
          <p:cNvSpPr/>
          <p:nvPr/>
        </p:nvSpPr>
        <p:spPr>
          <a:xfrm>
            <a:off x="5974333" y="9534525"/>
            <a:ext cx="116012" cy="219075"/>
          </a:xfrm>
          <a:prstGeom prst="rect">
            <a:avLst/>
          </a:prstGeom>
          <a:noFill/>
          <a:ln/>
        </p:spPr>
        <p:txBody>
          <a:bodyPr wrap="square" lIns="25400" tIns="25400" rIns="25400" bIns="25400" rtlCol="0" anchor="t">
            <a:normAutofit/>
          </a:bodyPr>
          <a:lstStyle/>
          <a:p>
            <a:pPr algn="l" indent="0" marL="0">
              <a:buNone/>
            </a:pPr>
            <a:r>
              <a:rPr lang="en-US" sz="1200" dirty="0">
                <a:solidFill>
                  <a:srgbClr val="CBD5E1"/>
                </a:solidFill>
                <a:latin typeface="Roboto" pitchFamily="34" charset="0"/>
                <a:ea typeface="Roboto" pitchFamily="34" charset="-122"/>
                <a:cs typeface="Roboto" pitchFamily="34" charset="-120"/>
              </a:rPr>
              <a:t>·</a:t>
            </a:r>
            <a:endParaRPr lang="en-US" sz="1200" dirty="0"/>
          </a:p>
        </p:txBody>
      </p:sp>
      <p:sp>
        <p:nvSpPr>
          <p:cNvPr id="35" name="Text 27"/>
          <p:cNvSpPr/>
          <p:nvPr/>
        </p:nvSpPr>
        <p:spPr>
          <a:xfrm>
            <a:off x="6299895" y="9534525"/>
            <a:ext cx="414990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14254C"/>
                </a:solidFill>
                <a:latin typeface="Roboto" pitchFamily="34" charset="0"/>
                <a:ea typeface="Roboto" pitchFamily="34" charset="-122"/>
                <a:cs typeface="Roboto" pitchFamily="34" charset="-120"/>
              </a:rPr>
              <a:t>FinanceBench </a:t>
            </a:r>
            <a:pPr algn="l" indent="0" marL="0">
              <a:buNone/>
            </a:pPr>
            <a:r>
              <a:rPr lang="en-US" sz="1200" dirty="0">
                <a:solidFill>
                  <a:srgbClr val="64748B"/>
                </a:solidFill>
                <a:latin typeface="Roboto" pitchFamily="34" charset="0"/>
                <a:ea typeface="Roboto" pitchFamily="34" charset="-122"/>
                <a:cs typeface="Roboto" pitchFamily="34" charset="-120"/>
              </a:rPr>
              <a:t>28% qa — in the published 29–34% range</a:t>
            </a:r>
            <a:endParaRPr lang="en-US" sz="1200" dirty="0"/>
          </a:p>
        </p:txBody>
      </p:sp>
      <p:sp>
        <p:nvSpPr>
          <p:cNvPr id="36" name="Text 28"/>
          <p:cNvSpPr/>
          <p:nvPr/>
        </p:nvSpPr>
        <p:spPr>
          <a:xfrm>
            <a:off x="14934754" y="9536906"/>
            <a:ext cx="2640821" cy="214313"/>
          </a:xfrm>
          <a:prstGeom prst="rect">
            <a:avLst/>
          </a:prstGeom>
          <a:noFill/>
          <a:ln/>
        </p:spPr>
        <p:txBody>
          <a:bodyPr wrap="square" lIns="25400" tIns="25400" rIns="25400" bIns="25400" rtlCol="0" anchor="t">
            <a:normAutofit/>
          </a:bodyPr>
          <a:lstStyle/>
          <a:p>
            <a:pPr algn="l" indent="0" marL="0">
              <a:buNone/>
            </a:pPr>
            <a:r>
              <a:rPr lang="en-US" sz="1050" dirty="0">
                <a:solidFill>
                  <a:srgbClr val="94A3B8"/>
                </a:solidFill>
                <a:latin typeface="Roboto Mono" pitchFamily="34" charset="0"/>
                <a:ea typeface="Roboto Mono" pitchFamily="34" charset="-122"/>
                <a:cs typeface="Roboto Mono" pitchFamily="34" charset="-120"/>
              </a:rPr>
              <a:t>Factored · Financial Assistant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704850"/>
            <a:ext cx="1387525" cy="323850"/>
          </a:xfrm>
          <a:prstGeom prst="rect">
            <a:avLst/>
          </a:prstGeom>
        </p:spPr>
      </p:pic>
      <p:sp>
        <p:nvSpPr>
          <p:cNvPr id="3" name="Text 0"/>
          <p:cNvSpPr/>
          <p:nvPr/>
        </p:nvSpPr>
        <p:spPr>
          <a:xfrm>
            <a:off x="15693703" y="783431"/>
            <a:ext cx="1805977"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047E5"/>
                </a:solidFill>
                <a:latin typeface="Roboto" pitchFamily="34" charset="0"/>
                <a:ea typeface="Roboto" pitchFamily="34" charset="-122"/>
                <a:cs typeface="Roboto" pitchFamily="34" charset="-120"/>
              </a:rPr>
              <a:t>WHAT'S NEXT · 01</a:t>
            </a:r>
            <a:endParaRPr lang="en-US" sz="1125" dirty="0"/>
          </a:p>
        </p:txBody>
      </p:sp>
      <p:sp>
        <p:nvSpPr>
          <p:cNvPr id="4" name="Text 1"/>
          <p:cNvSpPr/>
          <p:nvPr/>
        </p:nvSpPr>
        <p:spPr>
          <a:xfrm>
            <a:off x="952500" y="1409700"/>
            <a:ext cx="18021300"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b="1" spc="-90" kern="0" dirty="0">
                <a:solidFill>
                  <a:srgbClr val="14254C"/>
                </a:solidFill>
                <a:latin typeface="Roboto" pitchFamily="34" charset="0"/>
                <a:ea typeface="Roboto" pitchFamily="34" charset="-122"/>
                <a:cs typeface="Roboto" pitchFamily="34" charset="-120"/>
              </a:rPr>
              <a:t>Run the agents in parallel</a:t>
            </a:r>
            <a:endParaRPr lang="en-US" sz="4650" dirty="0"/>
          </a:p>
        </p:txBody>
      </p:sp>
      <p:sp>
        <p:nvSpPr>
          <p:cNvPr id="5" name="Text 2"/>
          <p:cNvSpPr/>
          <p:nvPr/>
        </p:nvSpPr>
        <p:spPr>
          <a:xfrm>
            <a:off x="952500" y="2514600"/>
            <a:ext cx="9696599" cy="204787"/>
          </a:xfrm>
          <a:prstGeom prst="rect">
            <a:avLst/>
          </a:prstGeom>
          <a:noFill/>
          <a:ln/>
        </p:spPr>
        <p:txBody>
          <a:bodyPr wrap="square" lIns="25400" tIns="25400" rIns="25400" bIns="25400" rtlCol="0" anchor="t">
            <a:normAutofit/>
          </a:bodyPr>
          <a:lstStyle/>
          <a:p>
            <a:pPr algn="l" indent="0" marL="0">
              <a:buNone/>
            </a:pPr>
            <a:r>
              <a:rPr lang="en-US" sz="1125" b="1" spc="150" kern="0" dirty="0">
                <a:solidFill>
                  <a:srgbClr val="94A3B8"/>
                </a:solidFill>
                <a:latin typeface="Roboto" pitchFamily="34" charset="0"/>
                <a:ea typeface="Roboto" pitchFamily="34" charset="-122"/>
                <a:cs typeface="Roboto" pitchFamily="34" charset="-120"/>
              </a:rPr>
              <a:t>SEQUENTIAL — TODAY</a:t>
            </a:r>
            <a:endParaRPr lang="en-US" sz="1125" dirty="0"/>
          </a:p>
        </p:txBody>
      </p:sp>
      <p:sp>
        <p:nvSpPr>
          <p:cNvPr id="6" name="Shape 3"/>
          <p:cNvSpPr/>
          <p:nvPr/>
        </p:nvSpPr>
        <p:spPr>
          <a:xfrm>
            <a:off x="952500" y="2814638"/>
            <a:ext cx="2900288" cy="438150"/>
          </a:xfrm>
          <a:prstGeom prst="roundRect">
            <a:avLst>
              <a:gd name="adj" fmla="val 17391"/>
            </a:avLst>
          </a:prstGeom>
          <a:solidFill>
            <a:srgbClr val="14254C"/>
          </a:solidFill>
          <a:ln/>
        </p:spPr>
      </p:sp>
      <p:sp>
        <p:nvSpPr>
          <p:cNvPr id="7" name="Text 4"/>
          <p:cNvSpPr/>
          <p:nvPr/>
        </p:nvSpPr>
        <p:spPr>
          <a:xfrm>
            <a:off x="908996" y="2814638"/>
            <a:ext cx="2987297" cy="476250"/>
          </a:xfrm>
          <a:prstGeom prst="rect">
            <a:avLst/>
          </a:prstGeom>
          <a:noFill/>
          <a:ln/>
        </p:spPr>
        <p:txBody>
          <a:bodyPr wrap="square" lIns="25400" tIns="25400" rIns="25400" bIns="25400" rtlCol="0" anchor="ctr">
            <a:normAutofit/>
          </a:bodyPr>
          <a:lstStyle/>
          <a:p>
            <a:pPr algn="ctr" indent="0" marL="0">
              <a:buNone/>
            </a:pPr>
            <a:r>
              <a:rPr lang="en-US" sz="1200" b="1" dirty="0">
                <a:solidFill>
                  <a:srgbClr val="FFFFFF"/>
                </a:solidFill>
                <a:latin typeface="Roboto" pitchFamily="34" charset="0"/>
                <a:ea typeface="Roboto" pitchFamily="34" charset="-122"/>
                <a:cs typeface="Roboto" pitchFamily="34" charset="-120"/>
              </a:rPr>
              <a:t>Price</a:t>
            </a:r>
            <a:endParaRPr lang="en-US" sz="1200" dirty="0"/>
          </a:p>
        </p:txBody>
      </p:sp>
      <p:sp>
        <p:nvSpPr>
          <p:cNvPr id="8" name="Shape 5"/>
          <p:cNvSpPr/>
          <p:nvPr/>
        </p:nvSpPr>
        <p:spPr>
          <a:xfrm>
            <a:off x="3909938" y="2814638"/>
            <a:ext cx="2900214" cy="438150"/>
          </a:xfrm>
          <a:prstGeom prst="rect">
            <a:avLst/>
          </a:prstGeom>
          <a:solidFill>
            <a:srgbClr val="3A5488"/>
          </a:solidFill>
          <a:ln/>
        </p:spPr>
      </p:sp>
      <p:sp>
        <p:nvSpPr>
          <p:cNvPr id="9" name="Text 6"/>
          <p:cNvSpPr/>
          <p:nvPr/>
        </p:nvSpPr>
        <p:spPr>
          <a:xfrm>
            <a:off x="3866435" y="2814638"/>
            <a:ext cx="2987220" cy="476250"/>
          </a:xfrm>
          <a:prstGeom prst="rect">
            <a:avLst/>
          </a:prstGeom>
          <a:noFill/>
          <a:ln/>
        </p:spPr>
        <p:txBody>
          <a:bodyPr wrap="square" lIns="25400" tIns="25400" rIns="25400" bIns="25400" rtlCol="0" anchor="ctr">
            <a:normAutofit/>
          </a:bodyPr>
          <a:lstStyle/>
          <a:p>
            <a:pPr algn="ctr" indent="0" marL="0">
              <a:buNone/>
            </a:pPr>
            <a:r>
              <a:rPr lang="en-US" sz="1200" b="1" dirty="0">
                <a:solidFill>
                  <a:srgbClr val="FFFFFF"/>
                </a:solidFill>
                <a:latin typeface="Roboto" pitchFamily="34" charset="0"/>
                <a:ea typeface="Roboto" pitchFamily="34" charset="-122"/>
                <a:cs typeface="Roboto" pitchFamily="34" charset="-120"/>
              </a:rPr>
              <a:t>News</a:t>
            </a:r>
            <a:endParaRPr lang="en-US" sz="1200" dirty="0"/>
          </a:p>
        </p:txBody>
      </p:sp>
      <p:sp>
        <p:nvSpPr>
          <p:cNvPr id="10" name="Shape 7"/>
          <p:cNvSpPr/>
          <p:nvPr/>
        </p:nvSpPr>
        <p:spPr>
          <a:xfrm>
            <a:off x="6867302" y="2814638"/>
            <a:ext cx="2900288" cy="438150"/>
          </a:xfrm>
          <a:prstGeom prst="rect">
            <a:avLst/>
          </a:prstGeom>
          <a:solidFill>
            <a:srgbClr val="6E84B0"/>
          </a:solidFill>
          <a:ln/>
        </p:spPr>
      </p:sp>
      <p:sp>
        <p:nvSpPr>
          <p:cNvPr id="11" name="Text 8"/>
          <p:cNvSpPr/>
          <p:nvPr/>
        </p:nvSpPr>
        <p:spPr>
          <a:xfrm>
            <a:off x="6823797" y="2814638"/>
            <a:ext cx="2987297" cy="476250"/>
          </a:xfrm>
          <a:prstGeom prst="rect">
            <a:avLst/>
          </a:prstGeom>
          <a:noFill/>
          <a:ln/>
        </p:spPr>
        <p:txBody>
          <a:bodyPr wrap="square" lIns="25400" tIns="25400" rIns="25400" bIns="25400" rtlCol="0" anchor="ctr">
            <a:normAutofit/>
          </a:bodyPr>
          <a:lstStyle/>
          <a:p>
            <a:pPr algn="ctr" indent="0" marL="0">
              <a:buNone/>
            </a:pPr>
            <a:r>
              <a:rPr lang="en-US" sz="1200" b="1" dirty="0">
                <a:solidFill>
                  <a:srgbClr val="FFFFFF"/>
                </a:solidFill>
                <a:latin typeface="Roboto" pitchFamily="34" charset="0"/>
                <a:ea typeface="Roboto" pitchFamily="34" charset="-122"/>
                <a:cs typeface="Roboto" pitchFamily="34" charset="-120"/>
              </a:rPr>
              <a:t>SEC</a:t>
            </a:r>
            <a:endParaRPr lang="en-US" sz="1200" dirty="0"/>
          </a:p>
        </p:txBody>
      </p:sp>
      <p:sp>
        <p:nvSpPr>
          <p:cNvPr id="12" name="Text 9"/>
          <p:cNvSpPr/>
          <p:nvPr/>
        </p:nvSpPr>
        <p:spPr>
          <a:xfrm>
            <a:off x="70991" y="3328988"/>
            <a:ext cx="9696599" cy="266700"/>
          </a:xfrm>
          <a:prstGeom prst="rect">
            <a:avLst/>
          </a:prstGeom>
          <a:noFill/>
          <a:ln/>
        </p:spPr>
        <p:txBody>
          <a:bodyPr wrap="square" lIns="25400" tIns="25400" rIns="25400" bIns="25400" rtlCol="0" anchor="t">
            <a:normAutofit/>
          </a:bodyPr>
          <a:lstStyle/>
          <a:p>
            <a:pPr algn="r" indent="0" marL="0">
              <a:buNone/>
            </a:pPr>
            <a:r>
              <a:rPr lang="en-US" sz="1350" dirty="0">
                <a:solidFill>
                  <a:srgbClr val="64748B"/>
                </a:solidFill>
                <a:latin typeface="Roboto Mono" pitchFamily="34" charset="0"/>
                <a:ea typeface="Roboto Mono" pitchFamily="34" charset="-122"/>
                <a:cs typeface="Roboto Mono" pitchFamily="34" charset="-120"/>
              </a:rPr>
              <a:t>~60s</a:t>
            </a:r>
            <a:endParaRPr lang="en-US" sz="1350" dirty="0"/>
          </a:p>
        </p:txBody>
      </p:sp>
      <p:sp>
        <p:nvSpPr>
          <p:cNvPr id="13" name="Text 10"/>
          <p:cNvSpPr/>
          <p:nvPr/>
        </p:nvSpPr>
        <p:spPr>
          <a:xfrm>
            <a:off x="952500" y="3938588"/>
            <a:ext cx="9696599" cy="204787"/>
          </a:xfrm>
          <a:prstGeom prst="rect">
            <a:avLst/>
          </a:prstGeom>
          <a:noFill/>
          <a:ln/>
        </p:spPr>
        <p:txBody>
          <a:bodyPr wrap="square" lIns="25400" tIns="25400" rIns="25400" bIns="25400" rtlCol="0" anchor="t">
            <a:normAutofit/>
          </a:bodyPr>
          <a:lstStyle/>
          <a:p>
            <a:pPr algn="l" indent="0" marL="0">
              <a:buNone/>
            </a:pPr>
            <a:r>
              <a:rPr lang="en-US" sz="1125" b="1" spc="150" kern="0" dirty="0">
                <a:solidFill>
                  <a:srgbClr val="0047E5"/>
                </a:solidFill>
                <a:latin typeface="Roboto" pitchFamily="34" charset="0"/>
                <a:ea typeface="Roboto" pitchFamily="34" charset="-122"/>
                <a:cs typeface="Roboto" pitchFamily="34" charset="-120"/>
              </a:rPr>
              <a:t>PARALLEL — PROPOSED</a:t>
            </a:r>
            <a:endParaRPr lang="en-US" sz="1125" dirty="0"/>
          </a:p>
        </p:txBody>
      </p:sp>
      <p:sp>
        <p:nvSpPr>
          <p:cNvPr id="14" name="Shape 11"/>
          <p:cNvSpPr/>
          <p:nvPr/>
        </p:nvSpPr>
        <p:spPr>
          <a:xfrm>
            <a:off x="952500" y="4238625"/>
            <a:ext cx="5112693" cy="342900"/>
          </a:xfrm>
          <a:prstGeom prst="roundRect">
            <a:avLst>
              <a:gd name="adj" fmla="val 22222"/>
            </a:avLst>
          </a:prstGeom>
          <a:solidFill>
            <a:srgbClr val="0047E5"/>
          </a:solidFill>
          <a:ln/>
        </p:spPr>
      </p:sp>
      <p:sp>
        <p:nvSpPr>
          <p:cNvPr id="15" name="Text 12"/>
          <p:cNvSpPr/>
          <p:nvPr/>
        </p:nvSpPr>
        <p:spPr>
          <a:xfrm>
            <a:off x="1104900" y="4238625"/>
            <a:ext cx="5113673" cy="381000"/>
          </a:xfrm>
          <a:prstGeom prst="rect">
            <a:avLst/>
          </a:prstGeom>
          <a:noFill/>
          <a:ln/>
        </p:spPr>
        <p:txBody>
          <a:bodyPr wrap="square" lIns="25400" tIns="25400" rIns="25400" bIns="25400" rtlCol="0" anchor="ctr">
            <a:normAutofit/>
          </a:bodyPr>
          <a:lstStyle/>
          <a:p>
            <a:pPr algn="l" indent="0" marL="0">
              <a:buNone/>
            </a:pPr>
            <a:r>
              <a:rPr lang="en-US" sz="1125" b="1" dirty="0">
                <a:solidFill>
                  <a:srgbClr val="FFFFFF"/>
                </a:solidFill>
                <a:latin typeface="Roboto" pitchFamily="34" charset="0"/>
                <a:ea typeface="Roboto" pitchFamily="34" charset="-122"/>
                <a:cs typeface="Roboto" pitchFamily="34" charset="-120"/>
              </a:rPr>
              <a:t>SEC</a:t>
            </a:r>
            <a:endParaRPr lang="en-US" sz="1125" dirty="0"/>
          </a:p>
        </p:txBody>
      </p:sp>
      <p:sp>
        <p:nvSpPr>
          <p:cNvPr id="16" name="Shape 13"/>
          <p:cNvSpPr/>
          <p:nvPr/>
        </p:nvSpPr>
        <p:spPr>
          <a:xfrm>
            <a:off x="952500" y="4638675"/>
            <a:ext cx="3526036" cy="342900"/>
          </a:xfrm>
          <a:prstGeom prst="roundRect">
            <a:avLst>
              <a:gd name="adj" fmla="val 22222"/>
            </a:avLst>
          </a:prstGeom>
          <a:solidFill>
            <a:srgbClr val="2C68E8"/>
          </a:solidFill>
          <a:ln/>
        </p:spPr>
      </p:sp>
      <p:sp>
        <p:nvSpPr>
          <p:cNvPr id="17" name="Text 14"/>
          <p:cNvSpPr/>
          <p:nvPr/>
        </p:nvSpPr>
        <p:spPr>
          <a:xfrm>
            <a:off x="1104900" y="4638675"/>
            <a:ext cx="3479417" cy="381000"/>
          </a:xfrm>
          <a:prstGeom prst="rect">
            <a:avLst/>
          </a:prstGeom>
          <a:noFill/>
          <a:ln/>
        </p:spPr>
        <p:txBody>
          <a:bodyPr wrap="square" lIns="25400" tIns="25400" rIns="25400" bIns="25400" rtlCol="0" anchor="ctr">
            <a:normAutofit/>
          </a:bodyPr>
          <a:lstStyle/>
          <a:p>
            <a:pPr algn="l" indent="0" marL="0">
              <a:buNone/>
            </a:pPr>
            <a:r>
              <a:rPr lang="en-US" sz="1125" b="1" dirty="0">
                <a:solidFill>
                  <a:srgbClr val="FFFFFF"/>
                </a:solidFill>
                <a:latin typeface="Roboto" pitchFamily="34" charset="0"/>
                <a:ea typeface="Roboto" pitchFamily="34" charset="-122"/>
                <a:cs typeface="Roboto" pitchFamily="34" charset="-120"/>
              </a:rPr>
              <a:t>Price</a:t>
            </a:r>
            <a:endParaRPr lang="en-US" sz="1125" dirty="0"/>
          </a:p>
        </p:txBody>
      </p:sp>
      <p:sp>
        <p:nvSpPr>
          <p:cNvPr id="18" name="Shape 15"/>
          <p:cNvSpPr/>
          <p:nvPr/>
        </p:nvSpPr>
        <p:spPr>
          <a:xfrm>
            <a:off x="952500" y="5038725"/>
            <a:ext cx="3173388" cy="342900"/>
          </a:xfrm>
          <a:prstGeom prst="roundRect">
            <a:avLst>
              <a:gd name="adj" fmla="val 22222"/>
            </a:avLst>
          </a:prstGeom>
          <a:solidFill>
            <a:srgbClr val="4A80EE"/>
          </a:solidFill>
          <a:ln/>
        </p:spPr>
      </p:sp>
      <p:sp>
        <p:nvSpPr>
          <p:cNvPr id="19" name="Text 16"/>
          <p:cNvSpPr/>
          <p:nvPr/>
        </p:nvSpPr>
        <p:spPr>
          <a:xfrm>
            <a:off x="1104900" y="5038725"/>
            <a:ext cx="3116189" cy="381000"/>
          </a:xfrm>
          <a:prstGeom prst="rect">
            <a:avLst/>
          </a:prstGeom>
          <a:noFill/>
          <a:ln/>
        </p:spPr>
        <p:txBody>
          <a:bodyPr wrap="square" lIns="25400" tIns="25400" rIns="25400" bIns="25400" rtlCol="0" anchor="ctr">
            <a:normAutofit/>
          </a:bodyPr>
          <a:lstStyle/>
          <a:p>
            <a:pPr algn="l" indent="0" marL="0">
              <a:buNone/>
            </a:pPr>
            <a:r>
              <a:rPr lang="en-US" sz="1125" b="1" dirty="0">
                <a:solidFill>
                  <a:srgbClr val="FFFFFF"/>
                </a:solidFill>
                <a:latin typeface="Roboto" pitchFamily="34" charset="0"/>
                <a:ea typeface="Roboto" pitchFamily="34" charset="-122"/>
                <a:cs typeface="Roboto" pitchFamily="34" charset="-120"/>
              </a:rPr>
              <a:t>News</a:t>
            </a:r>
            <a:endParaRPr lang="en-US" sz="1125" dirty="0"/>
          </a:p>
        </p:txBody>
      </p:sp>
      <p:sp>
        <p:nvSpPr>
          <p:cNvPr id="20" name="Text 17"/>
          <p:cNvSpPr/>
          <p:nvPr/>
        </p:nvSpPr>
        <p:spPr>
          <a:xfrm>
            <a:off x="441231" y="5457825"/>
            <a:ext cx="5623962" cy="266700"/>
          </a:xfrm>
          <a:prstGeom prst="rect">
            <a:avLst/>
          </a:prstGeom>
          <a:noFill/>
          <a:ln/>
        </p:spPr>
        <p:txBody>
          <a:bodyPr wrap="square" lIns="25400" tIns="25400" rIns="25400" bIns="25400" rtlCol="0" anchor="t">
            <a:normAutofit/>
          </a:bodyPr>
          <a:lstStyle/>
          <a:p>
            <a:pPr algn="r" indent="0" marL="0">
              <a:buNone/>
            </a:pPr>
            <a:r>
              <a:rPr lang="en-US" sz="1350" b="1" dirty="0">
                <a:solidFill>
                  <a:srgbClr val="0047E5"/>
                </a:solidFill>
                <a:latin typeface="Roboto Mono" pitchFamily="34" charset="0"/>
                <a:ea typeface="Roboto Mono" pitchFamily="34" charset="-122"/>
                <a:cs typeface="Roboto Mono" pitchFamily="34" charset="-120"/>
              </a:rPr>
              <a:t>~35s</a:t>
            </a:r>
            <a:endParaRPr lang="en-US" sz="1350" dirty="0"/>
          </a:p>
        </p:txBody>
      </p:sp>
      <p:sp>
        <p:nvSpPr>
          <p:cNvPr id="21" name="Shape 18"/>
          <p:cNvSpPr/>
          <p:nvPr/>
        </p:nvSpPr>
        <p:spPr>
          <a:xfrm>
            <a:off x="10281940" y="2514600"/>
            <a:ext cx="9525" cy="6577013"/>
          </a:xfrm>
          <a:prstGeom prst="rect">
            <a:avLst/>
          </a:prstGeom>
          <a:solidFill>
            <a:srgbClr val="E2E8F0"/>
          </a:solidFill>
          <a:ln/>
        </p:spPr>
      </p:sp>
      <p:sp>
        <p:nvSpPr>
          <p:cNvPr id="22" name="Text 19"/>
          <p:cNvSpPr/>
          <p:nvPr/>
        </p:nvSpPr>
        <p:spPr>
          <a:xfrm>
            <a:off x="10805815" y="2514600"/>
            <a:ext cx="7182654" cy="792435"/>
          </a:xfrm>
          <a:prstGeom prst="rect">
            <a:avLst/>
          </a:prstGeom>
          <a:noFill/>
          <a:ln/>
        </p:spPr>
        <p:txBody>
          <a:bodyPr wrap="square" lIns="25400" tIns="25400" rIns="25400" bIns="25400" rtlCol="0" anchor="t">
            <a:normAutofit/>
          </a:bodyPr>
          <a:lstStyle/>
          <a:p>
            <a:pPr algn="l" indent="0" marL="0">
              <a:lnSpc>
                <a:spcPct val="90000"/>
              </a:lnSpc>
              <a:buNone/>
            </a:pPr>
            <a:r>
              <a:rPr lang="en-US" sz="6600" b="1" spc="-225" kern="0" dirty="0">
                <a:solidFill>
                  <a:srgbClr val="0047E5"/>
                </a:solidFill>
                <a:latin typeface="Roboto" pitchFamily="34" charset="0"/>
                <a:ea typeface="Roboto" pitchFamily="34" charset="-122"/>
                <a:cs typeface="Roboto" pitchFamily="34" charset="-120"/>
              </a:rPr>
              <a:t>60→35s</a:t>
            </a:r>
            <a:endParaRPr lang="en-US" sz="6600" dirty="0"/>
          </a:p>
        </p:txBody>
      </p:sp>
      <p:sp>
        <p:nvSpPr>
          <p:cNvPr id="23" name="Text 20"/>
          <p:cNvSpPr/>
          <p:nvPr/>
        </p:nvSpPr>
        <p:spPr>
          <a:xfrm>
            <a:off x="10805815" y="3421335"/>
            <a:ext cx="6725576"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475569"/>
                </a:solidFill>
                <a:latin typeface="Roboto" pitchFamily="34" charset="0"/>
                <a:ea typeface="Roboto" pitchFamily="34" charset="-122"/>
                <a:cs typeface="Roboto" pitchFamily="34" charset="-120"/>
              </a:rPr>
              <a:t>on multi-agent queries (e.g. </a:t>
            </a:r>
            <a:pPr algn="l" indent="0" marL="0">
              <a:lnSpc>
                <a:spcPct val="145000"/>
              </a:lnSpc>
              <a:buNone/>
            </a:pPr>
            <a:r>
              <a:rPr lang="en-US" sz="1575" i="1" dirty="0">
                <a:solidFill>
                  <a:srgbClr val="475569"/>
                </a:solidFill>
                <a:latin typeface="Roboto" pitchFamily="34" charset="0"/>
                <a:ea typeface="Roboto" pitchFamily="34" charset="-122"/>
                <a:cs typeface="Roboto" pitchFamily="34" charset="-120"/>
              </a:rPr>
              <a:t>price + news </a:t>
            </a:r>
            <a:pPr algn="l" indent="0" marL="0">
              <a:lnSpc>
                <a:spcPct val="145000"/>
              </a:lnSpc>
              <a:buNone/>
            </a:pPr>
            <a:r>
              <a:rPr lang="en-US" sz="1575" dirty="0">
                <a:solidFill>
                  <a:srgbClr val="475569"/>
                </a:solidFill>
                <a:latin typeface="Roboto" pitchFamily="34" charset="0"/>
                <a:ea typeface="Roboto" pitchFamily="34" charset="-122"/>
                <a:cs typeface="Roboto" pitchFamily="34" charset="-120"/>
              </a:rPr>
              <a:t>) — independent specialists no longer wait on each other.</a:t>
            </a:r>
            <a:endParaRPr lang="en-US" sz="1575" dirty="0"/>
          </a:p>
        </p:txBody>
      </p:sp>
      <p:sp>
        <p:nvSpPr>
          <p:cNvPr id="24" name="Shape 21"/>
          <p:cNvSpPr/>
          <p:nvPr/>
        </p:nvSpPr>
        <p:spPr>
          <a:xfrm>
            <a:off x="10805815" y="4248969"/>
            <a:ext cx="6529685" cy="914400"/>
          </a:xfrm>
          <a:prstGeom prst="roundRect">
            <a:avLst>
              <a:gd name="adj" fmla="val 14583"/>
            </a:avLst>
          </a:prstGeom>
          <a:solidFill>
            <a:srgbClr val="F6F8FC"/>
          </a:solidFill>
          <a:ln w="14288">
            <a:solidFill>
              <a:srgbClr val="E2E8F0"/>
            </a:solidFill>
            <a:prstDash val="solid"/>
          </a:ln>
        </p:spPr>
      </p:sp>
      <p:sp>
        <p:nvSpPr>
          <p:cNvPr id="25" name="Text 22"/>
          <p:cNvSpPr/>
          <p:nvPr/>
        </p:nvSpPr>
        <p:spPr>
          <a:xfrm>
            <a:off x="11067752" y="4472806"/>
            <a:ext cx="6185984" cy="504825"/>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64748B"/>
                </a:solidFill>
                <a:latin typeface="Roboto" pitchFamily="34" charset="0"/>
                <a:ea typeface="Roboto" pitchFamily="34" charset="-122"/>
                <a:cs typeface="Roboto" pitchFamily="34" charset="-120"/>
              </a:rPr>
              <a:t>The schema already exposes </a:t>
            </a:r>
            <a:pPr algn="l" indent="0" marL="0">
              <a:lnSpc>
                <a:spcPct val="150000"/>
              </a:lnSpc>
              <a:buNone/>
            </a:pPr>
            <a:r>
              <a:rPr lang="en-US" sz="1200" dirty="0">
                <a:solidFill>
                  <a:srgbClr val="14254C"/>
                </a:solidFill>
                <a:latin typeface="Roboto Mono" pitchFamily="34" charset="0"/>
                <a:ea typeface="Roboto Mono" pitchFamily="34" charset="-122"/>
                <a:cs typeface="Roboto Mono" pitchFamily="34" charset="-120"/>
              </a:rPr>
              <a:t>execution_order: "parallel" </a:t>
            </a:r>
            <a:pPr algn="l" indent="0" marL="0">
              <a:lnSpc>
                <a:spcPct val="150000"/>
              </a:lnSpc>
              <a:buNone/>
            </a:pPr>
            <a:r>
              <a:rPr lang="en-US" sz="1200" dirty="0">
                <a:solidFill>
                  <a:srgbClr val="64748B"/>
                </a:solidFill>
                <a:latin typeface="Roboto" pitchFamily="34" charset="0"/>
                <a:ea typeface="Roboto" pitchFamily="34" charset="-122"/>
                <a:cs typeface="Roboto" pitchFamily="34" charset="-120"/>
              </a:rPr>
              <a:t>. Only the executor is missing — a </a:t>
            </a:r>
            <a:pPr algn="l" indent="0" marL="0">
              <a:lnSpc>
                <a:spcPct val="150000"/>
              </a:lnSpc>
              <a:buNone/>
            </a:pPr>
            <a:r>
              <a:rPr lang="en-US" sz="1200" b="1" dirty="0">
                <a:solidFill>
                  <a:srgbClr val="14254C"/>
                </a:solidFill>
                <a:latin typeface="Roboto" pitchFamily="34" charset="0"/>
                <a:ea typeface="Roboto" pitchFamily="34" charset="-122"/>
                <a:cs typeface="Roboto" pitchFamily="34" charset="-120"/>
              </a:rPr>
              <a:t>~10-line </a:t>
            </a:r>
            <a:pPr algn="l" indent="0" marL="0">
              <a:lnSpc>
                <a:spcPct val="150000"/>
              </a:lnSpc>
              <a:buNone/>
            </a:pPr>
            <a:r>
              <a:rPr lang="en-US" sz="1200" dirty="0">
                <a:solidFill>
                  <a:srgbClr val="14254C"/>
                </a:solidFill>
                <a:latin typeface="Roboto Mono" pitchFamily="34" charset="0"/>
                <a:ea typeface="Roboto Mono" pitchFamily="34" charset="-122"/>
                <a:cs typeface="Roboto Mono" pitchFamily="34" charset="-120"/>
              </a:rPr>
              <a:t>ThreadPoolExecutor </a:t>
            </a:r>
            <a:pPr algn="l" indent="0" marL="0">
              <a:lnSpc>
                <a:spcPct val="150000"/>
              </a:lnSpc>
              <a:buNone/>
            </a:pPr>
            <a:r>
              <a:rPr lang="en-US" sz="1200" dirty="0">
                <a:solidFill>
                  <a:srgbClr val="64748B"/>
                </a:solidFill>
                <a:latin typeface="Roboto" pitchFamily="34" charset="0"/>
                <a:ea typeface="Roboto" pitchFamily="34" charset="-122"/>
                <a:cs typeface="Roboto" pitchFamily="34" charset="-120"/>
              </a:rPr>
              <a:t>change in </a:t>
            </a:r>
            <a:pPr algn="l" indent="0" marL="0">
              <a:lnSpc>
                <a:spcPct val="150000"/>
              </a:lnSpc>
              <a:buNone/>
            </a:pPr>
            <a:r>
              <a:rPr lang="en-US" sz="1200" dirty="0">
                <a:solidFill>
                  <a:srgbClr val="14254C"/>
                </a:solidFill>
                <a:latin typeface="Roboto Mono" pitchFamily="34" charset="0"/>
                <a:ea typeface="Roboto Mono" pitchFamily="34" charset="-122"/>
                <a:cs typeface="Roboto Mono" pitchFamily="34" charset="-120"/>
              </a:rPr>
              <a:t>decision_agent.py</a:t>
            </a:r>
            <a:pPr algn="l" indent="0" marL="0">
              <a:lnSpc>
                <a:spcPct val="150000"/>
              </a:lnSpc>
              <a:buNone/>
            </a:pPr>
            <a:r>
              <a:rPr lang="en-US" sz="1200" dirty="0">
                <a:solidFill>
                  <a:srgbClr val="64748B"/>
                </a:solidFill>
                <a:latin typeface="Roboto" pitchFamily="34" charset="0"/>
                <a:ea typeface="Roboto" pitchFamily="34" charset="-122"/>
                <a:cs typeface="Roboto" pitchFamily="34" charset="-120"/>
              </a:rPr>
              <a:t>.</a:t>
            </a:r>
            <a:endParaRPr lang="en-US" sz="1200" dirty="0"/>
          </a:p>
        </p:txBody>
      </p:sp>
      <p:sp>
        <p:nvSpPr>
          <p:cNvPr id="26" name="Shape 23"/>
          <p:cNvSpPr/>
          <p:nvPr/>
        </p:nvSpPr>
        <p:spPr>
          <a:xfrm>
            <a:off x="10805815" y="5334819"/>
            <a:ext cx="1047750" cy="319088"/>
          </a:xfrm>
          <a:prstGeom prst="roundRect">
            <a:avLst>
              <a:gd name="adj" fmla="val 50000"/>
            </a:avLst>
          </a:prstGeom>
          <a:solidFill>
            <a:srgbClr val="E8F0FE"/>
          </a:solidFill>
          <a:ln/>
        </p:spPr>
      </p:sp>
      <p:sp>
        <p:nvSpPr>
          <p:cNvPr id="27" name="Text 24"/>
          <p:cNvSpPr/>
          <p:nvPr/>
        </p:nvSpPr>
        <p:spPr>
          <a:xfrm>
            <a:off x="10977265" y="5411019"/>
            <a:ext cx="781050" cy="204787"/>
          </a:xfrm>
          <a:prstGeom prst="rect">
            <a:avLst/>
          </a:prstGeom>
          <a:noFill/>
          <a:ln/>
        </p:spPr>
        <p:txBody>
          <a:bodyPr wrap="square" lIns="25400" tIns="25400" rIns="25400" bIns="25400" rtlCol="0" anchor="t">
            <a:normAutofit/>
          </a:bodyPr>
          <a:lstStyle/>
          <a:p>
            <a:pPr algn="l" indent="0" marL="0">
              <a:buNone/>
            </a:pPr>
            <a:r>
              <a:rPr lang="en-US" sz="1125" b="1" dirty="0">
                <a:solidFill>
                  <a:srgbClr val="0047E5"/>
                </a:solidFill>
                <a:latin typeface="Roboto" pitchFamily="34" charset="0"/>
                <a:ea typeface="Roboto" pitchFamily="34" charset="-122"/>
                <a:cs typeface="Roboto" pitchFamily="34" charset="-120"/>
              </a:rPr>
              <a:t>Effort: Low</a:t>
            </a:r>
            <a:endParaRPr lang="en-US" sz="1125" dirty="0"/>
          </a:p>
        </p:txBody>
      </p:sp>
      <p:sp>
        <p:nvSpPr>
          <p:cNvPr id="28" name="Shape 25"/>
          <p:cNvSpPr/>
          <p:nvPr/>
        </p:nvSpPr>
        <p:spPr>
          <a:xfrm>
            <a:off x="11948815" y="5334819"/>
            <a:ext cx="1164208" cy="319088"/>
          </a:xfrm>
          <a:prstGeom prst="roundRect">
            <a:avLst>
              <a:gd name="adj" fmla="val 50000"/>
            </a:avLst>
          </a:prstGeom>
          <a:solidFill>
            <a:srgbClr val="E8F0FE"/>
          </a:solidFill>
          <a:ln/>
        </p:spPr>
      </p:sp>
      <p:sp>
        <p:nvSpPr>
          <p:cNvPr id="29" name="Text 26"/>
          <p:cNvSpPr/>
          <p:nvPr/>
        </p:nvSpPr>
        <p:spPr>
          <a:xfrm>
            <a:off x="12120265" y="5411019"/>
            <a:ext cx="897508" cy="204787"/>
          </a:xfrm>
          <a:prstGeom prst="rect">
            <a:avLst/>
          </a:prstGeom>
          <a:noFill/>
          <a:ln/>
        </p:spPr>
        <p:txBody>
          <a:bodyPr wrap="square" lIns="25400" tIns="25400" rIns="25400" bIns="25400" rtlCol="0" anchor="t">
            <a:normAutofit/>
          </a:bodyPr>
          <a:lstStyle/>
          <a:p>
            <a:pPr algn="l" indent="0" marL="0">
              <a:buNone/>
            </a:pPr>
            <a:r>
              <a:rPr lang="en-US" sz="1125" b="1" dirty="0">
                <a:solidFill>
                  <a:srgbClr val="0047E5"/>
                </a:solidFill>
                <a:latin typeface="Roboto" pitchFamily="34" charset="0"/>
                <a:ea typeface="Roboto" pitchFamily="34" charset="-122"/>
                <a:cs typeface="Roboto" pitchFamily="34" charset="-120"/>
              </a:rPr>
              <a:t>Impact: High</a:t>
            </a:r>
            <a:endParaRPr lang="en-US" sz="1125" dirty="0"/>
          </a:p>
        </p:txBody>
      </p:sp>
      <p:sp>
        <p:nvSpPr>
          <p:cNvPr id="30" name="Shape 27"/>
          <p:cNvSpPr/>
          <p:nvPr/>
        </p:nvSpPr>
        <p:spPr>
          <a:xfrm>
            <a:off x="952500" y="9320213"/>
            <a:ext cx="16383000" cy="9525"/>
          </a:xfrm>
          <a:prstGeom prst="rect">
            <a:avLst/>
          </a:prstGeom>
          <a:solidFill>
            <a:srgbClr val="E2E8F0"/>
          </a:solidFill>
          <a:ln/>
        </p:spPr>
      </p:sp>
      <p:sp>
        <p:nvSpPr>
          <p:cNvPr id="31" name="Text 28"/>
          <p:cNvSpPr/>
          <p:nvPr/>
        </p:nvSpPr>
        <p:spPr>
          <a:xfrm>
            <a:off x="461010" y="9539288"/>
            <a:ext cx="16874490" cy="214313"/>
          </a:xfrm>
          <a:prstGeom prst="rect">
            <a:avLst/>
          </a:prstGeom>
          <a:noFill/>
          <a:ln/>
        </p:spPr>
        <p:txBody>
          <a:bodyPr wrap="square" lIns="25400" tIns="25400" rIns="25400" bIns="25400" rtlCol="0" anchor="ctr">
            <a:normAutofit/>
          </a:bodyPr>
          <a:lstStyle/>
          <a:p>
            <a:pPr algn="r" indent="0" marL="0">
              <a:buNone/>
            </a:pPr>
            <a:r>
              <a:rPr lang="en-US" sz="1050" dirty="0">
                <a:solidFill>
                  <a:srgbClr val="94A3B8"/>
                </a:solidFill>
                <a:latin typeface="Roboto Mono" pitchFamily="34" charset="0"/>
                <a:ea typeface="Roboto Mono" pitchFamily="34" charset="-122"/>
                <a:cs typeface="Roboto Mono" pitchFamily="34" charset="-120"/>
              </a:rPr>
              <a:t>Factored · Financial Assistant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704850"/>
            <a:ext cx="1387525" cy="323850"/>
          </a:xfrm>
          <a:prstGeom prst="rect">
            <a:avLst/>
          </a:prstGeom>
        </p:spPr>
      </p:pic>
      <p:sp>
        <p:nvSpPr>
          <p:cNvPr id="3" name="Text 0"/>
          <p:cNvSpPr/>
          <p:nvPr/>
        </p:nvSpPr>
        <p:spPr>
          <a:xfrm>
            <a:off x="15693703" y="783431"/>
            <a:ext cx="1805977"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047E5"/>
                </a:solidFill>
                <a:latin typeface="Roboto" pitchFamily="34" charset="0"/>
                <a:ea typeface="Roboto" pitchFamily="34" charset="-122"/>
                <a:cs typeface="Roboto" pitchFamily="34" charset="-120"/>
              </a:rPr>
              <a:t>WHAT'S NEXT · 02</a:t>
            </a:r>
            <a:endParaRPr lang="en-US" sz="1125" dirty="0"/>
          </a:p>
        </p:txBody>
      </p:sp>
      <p:sp>
        <p:nvSpPr>
          <p:cNvPr id="4" name="Text 1"/>
          <p:cNvSpPr/>
          <p:nvPr/>
        </p:nvSpPr>
        <p:spPr>
          <a:xfrm>
            <a:off x="952500" y="1409700"/>
            <a:ext cx="18021300"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b="1" spc="-90" kern="0" dirty="0">
                <a:solidFill>
                  <a:srgbClr val="14254C"/>
                </a:solidFill>
                <a:latin typeface="Roboto" pitchFamily="34" charset="0"/>
                <a:ea typeface="Roboto" pitchFamily="34" charset="-122"/>
                <a:cs typeface="Roboto" pitchFamily="34" charset="-120"/>
              </a:rPr>
              <a:t>News beyond a single ticker</a:t>
            </a:r>
            <a:endParaRPr lang="en-US" sz="4650" dirty="0"/>
          </a:p>
        </p:txBody>
      </p:sp>
      <p:sp>
        <p:nvSpPr>
          <p:cNvPr id="5" name="Text 2"/>
          <p:cNvSpPr/>
          <p:nvPr/>
        </p:nvSpPr>
        <p:spPr>
          <a:xfrm>
            <a:off x="952500" y="4845397"/>
            <a:ext cx="7689994" cy="204787"/>
          </a:xfrm>
          <a:prstGeom prst="rect">
            <a:avLst/>
          </a:prstGeom>
          <a:noFill/>
          <a:ln/>
        </p:spPr>
        <p:txBody>
          <a:bodyPr wrap="square" lIns="25400" tIns="25400" rIns="25400" bIns="25400" rtlCol="0" anchor="t">
            <a:normAutofit/>
          </a:bodyPr>
          <a:lstStyle/>
          <a:p>
            <a:pPr algn="l" indent="0" marL="0">
              <a:buNone/>
            </a:pPr>
            <a:r>
              <a:rPr lang="en-US" sz="1125" b="1" spc="150" kern="0" dirty="0">
                <a:solidFill>
                  <a:srgbClr val="94A3B8"/>
                </a:solidFill>
                <a:latin typeface="Roboto" pitchFamily="34" charset="0"/>
                <a:ea typeface="Roboto" pitchFamily="34" charset="-122"/>
                <a:cs typeface="Roboto" pitchFamily="34" charset="-120"/>
              </a:rPr>
              <a:t>TODAY'S LIMITS</a:t>
            </a:r>
            <a:endParaRPr lang="en-US" sz="1125" dirty="0"/>
          </a:p>
        </p:txBody>
      </p:sp>
      <p:pic>
        <p:nvPicPr>
          <p:cNvPr id="6" name="Image 1" descr="preencoded.png">    </p:cNvPr>
          <p:cNvPicPr>
            <a:picLocks noChangeAspect="1"/>
          </p:cNvPicPr>
          <p:nvPr/>
        </p:nvPicPr>
        <p:blipFill>
          <a:blip r:embed="rId2"/>
          <a:srcRect l="0" r="0" t="0" b="0"/>
          <a:stretch/>
        </p:blipFill>
        <p:spPr>
          <a:xfrm>
            <a:off x="952500" y="5269260"/>
            <a:ext cx="247650" cy="247650"/>
          </a:xfrm>
          <a:prstGeom prst="rect">
            <a:avLst/>
          </a:prstGeom>
        </p:spPr>
      </p:pic>
      <p:sp>
        <p:nvSpPr>
          <p:cNvPr id="7" name="Text 3"/>
          <p:cNvSpPr/>
          <p:nvPr/>
        </p:nvSpPr>
        <p:spPr>
          <a:xfrm>
            <a:off x="1352550" y="5240685"/>
            <a:ext cx="6788579" cy="598140"/>
          </a:xfrm>
          <a:prstGeom prst="rect">
            <a:avLst/>
          </a:prstGeom>
          <a:noFill/>
          <a:ln/>
        </p:spPr>
        <p:txBody>
          <a:bodyPr wrap="square" lIns="25400" tIns="25400" rIns="25400" bIns="25400" rtlCol="0" anchor="t">
            <a:normAutofit/>
          </a:bodyPr>
          <a:lstStyle/>
          <a:p>
            <a:pPr algn="l" indent="0" marL="0">
              <a:lnSpc>
                <a:spcPct val="140000"/>
              </a:lnSpc>
              <a:buNone/>
            </a:pPr>
            <a:r>
              <a:rPr lang="en-US" sz="1575" b="1" dirty="0">
                <a:solidFill>
                  <a:srgbClr val="14254C"/>
                </a:solidFill>
                <a:latin typeface="Roboto" pitchFamily="34" charset="0"/>
                <a:ea typeface="Roboto" pitchFamily="34" charset="-122"/>
                <a:cs typeface="Roboto" pitchFamily="34" charset="-120"/>
              </a:rPr>
              <a:t>Ticker-only. </a:t>
            </a:r>
            <a:pPr algn="l" indent="0" marL="0">
              <a:lnSpc>
                <a:spcPct val="140000"/>
              </a:lnSpc>
              <a:buNone/>
            </a:pPr>
            <a:r>
              <a:rPr lang="en-US" sz="1575" dirty="0">
                <a:solidFill>
                  <a:srgbClr val="64748B"/>
                </a:solidFill>
                <a:latin typeface="Roboto" pitchFamily="34" charset="0"/>
                <a:ea typeface="Roboto" pitchFamily="34" charset="-122"/>
                <a:cs typeface="Roboto" pitchFamily="34" charset="-120"/>
              </a:rPr>
              <a:t>"AI regulation" or "semiconductor news this week" can't be answered — </a:t>
            </a:r>
            <a:pPr algn="l" indent="0" marL="0">
              <a:lnSpc>
                <a:spcPct val="140000"/>
              </a:lnSpc>
              <a:buNone/>
            </a:pPr>
            <a:r>
              <a:rPr lang="en-US" sz="1350" dirty="0">
                <a:solidFill>
                  <a:srgbClr val="64748B"/>
                </a:solidFill>
                <a:latin typeface="Roboto Mono" pitchFamily="34" charset="0"/>
                <a:ea typeface="Roboto Mono" pitchFamily="34" charset="-122"/>
                <a:cs typeface="Roboto Mono" pitchFamily="34" charset="-120"/>
              </a:rPr>
              <a:t>get_news </a:t>
            </a:r>
            <a:pPr algn="l" indent="0" marL="0">
              <a:lnSpc>
                <a:spcPct val="140000"/>
              </a:lnSpc>
              <a:buNone/>
            </a:pPr>
            <a:r>
              <a:rPr lang="en-US" sz="1575" dirty="0">
                <a:solidFill>
                  <a:srgbClr val="64748B"/>
                </a:solidFill>
                <a:latin typeface="Roboto" pitchFamily="34" charset="0"/>
                <a:ea typeface="Roboto" pitchFamily="34" charset="-122"/>
                <a:cs typeface="Roboto" pitchFamily="34" charset="-120"/>
              </a:rPr>
              <a:t>needs a symbol.</a:t>
            </a:r>
            <a:endParaRPr lang="en-US" sz="1575" dirty="0"/>
          </a:p>
        </p:txBody>
      </p:sp>
      <p:pic>
        <p:nvPicPr>
          <p:cNvPr id="8" name="Image 2" descr="preencoded.png">    </p:cNvPr>
          <p:cNvPicPr>
            <a:picLocks noChangeAspect="1"/>
          </p:cNvPicPr>
          <p:nvPr/>
        </p:nvPicPr>
        <p:blipFill>
          <a:blip r:embed="rId3"/>
          <a:srcRect l="0" r="0" t="0" b="0"/>
          <a:stretch/>
        </p:blipFill>
        <p:spPr>
          <a:xfrm>
            <a:off x="952500" y="6057900"/>
            <a:ext cx="247650" cy="247650"/>
          </a:xfrm>
          <a:prstGeom prst="rect">
            <a:avLst/>
          </a:prstGeom>
        </p:spPr>
      </p:pic>
      <p:sp>
        <p:nvSpPr>
          <p:cNvPr id="9" name="Text 4"/>
          <p:cNvSpPr/>
          <p:nvPr/>
        </p:nvSpPr>
        <p:spPr>
          <a:xfrm>
            <a:off x="1352550" y="6029325"/>
            <a:ext cx="6788579" cy="598140"/>
          </a:xfrm>
          <a:prstGeom prst="rect">
            <a:avLst/>
          </a:prstGeom>
          <a:noFill/>
          <a:ln/>
        </p:spPr>
        <p:txBody>
          <a:bodyPr wrap="square" lIns="25400" tIns="25400" rIns="25400" bIns="25400" rtlCol="0" anchor="t">
            <a:normAutofit/>
          </a:bodyPr>
          <a:lstStyle/>
          <a:p>
            <a:pPr algn="l" indent="0" marL="0">
              <a:lnSpc>
                <a:spcPct val="140000"/>
              </a:lnSpc>
              <a:buNone/>
            </a:pPr>
            <a:r>
              <a:rPr lang="en-US" sz="1575" b="1" dirty="0">
                <a:solidFill>
                  <a:srgbClr val="14254C"/>
                </a:solidFill>
                <a:latin typeface="Roboto" pitchFamily="34" charset="0"/>
                <a:ea typeface="Roboto" pitchFamily="34" charset="-122"/>
                <a:cs typeface="Roboto" pitchFamily="34" charset="-120"/>
              </a:rPr>
              <a:t>Truncated context. </a:t>
            </a:r>
            <a:pPr algn="l" indent="0" marL="0">
              <a:lnSpc>
                <a:spcPct val="140000"/>
              </a:lnSpc>
              <a:buNone/>
            </a:pPr>
            <a:r>
              <a:rPr lang="en-US" sz="1575" dirty="0">
                <a:solidFill>
                  <a:srgbClr val="64748B"/>
                </a:solidFill>
                <a:latin typeface="Roboto" pitchFamily="34" charset="0"/>
                <a:ea typeface="Roboto" pitchFamily="34" charset="-122"/>
                <a:cs typeface="Roboto" pitchFamily="34" charset="-120"/>
              </a:rPr>
              <a:t>50 articles of raw JSON overflow the </a:t>
            </a:r>
            <a:pPr algn="l" indent="0" marL="0">
              <a:lnSpc>
                <a:spcPct val="140000"/>
              </a:lnSpc>
              <a:buNone/>
            </a:pPr>
            <a:r>
              <a:rPr lang="en-US" sz="1350" dirty="0">
                <a:solidFill>
                  <a:srgbClr val="64748B"/>
                </a:solidFill>
                <a:latin typeface="Roboto Mono" pitchFamily="34" charset="0"/>
                <a:ea typeface="Roboto Mono" pitchFamily="34" charset="-122"/>
                <a:cs typeface="Roboto Mono" pitchFamily="34" charset="-120"/>
              </a:rPr>
              <a:t>6,000-char </a:t>
            </a:r>
            <a:pPr algn="l" indent="0" marL="0">
              <a:lnSpc>
                <a:spcPct val="140000"/>
              </a:lnSpc>
              <a:buNone/>
            </a:pPr>
            <a:r>
              <a:rPr lang="en-US" sz="1575" dirty="0">
                <a:solidFill>
                  <a:srgbClr val="64748B"/>
                </a:solidFill>
                <a:latin typeface="Roboto" pitchFamily="34" charset="0"/>
                <a:ea typeface="Roboto" pitchFamily="34" charset="-122"/>
                <a:cs typeface="Roboto" pitchFamily="34" charset="-120"/>
              </a:rPr>
              <a:t>tool limit — the model sees partial data.</a:t>
            </a:r>
            <a:endParaRPr lang="en-US" sz="1575" dirty="0"/>
          </a:p>
        </p:txBody>
      </p:sp>
      <p:sp>
        <p:nvSpPr>
          <p:cNvPr id="10" name="Shape 5"/>
          <p:cNvSpPr/>
          <p:nvPr/>
        </p:nvSpPr>
        <p:spPr>
          <a:xfrm>
            <a:off x="8457754" y="2343150"/>
            <a:ext cx="8877746" cy="6748463"/>
          </a:xfrm>
          <a:prstGeom prst="roundRect">
            <a:avLst>
              <a:gd name="adj" fmla="val 2541"/>
            </a:avLst>
          </a:prstGeom>
          <a:solidFill>
            <a:srgbClr val="F6F8FC"/>
          </a:solidFill>
          <a:ln/>
        </p:spPr>
      </p:sp>
      <p:pic>
        <p:nvPicPr>
          <p:cNvPr id="11" name="Image 3" descr="preencoded.png">    </p:cNvPr>
          <p:cNvPicPr>
            <a:picLocks noChangeAspect="1"/>
          </p:cNvPicPr>
          <p:nvPr/>
        </p:nvPicPr>
        <p:blipFill>
          <a:blip r:embed="rId4"/>
          <a:srcRect l="0" r="0" t="0" b="0"/>
          <a:stretch/>
        </p:blipFill>
        <p:spPr>
          <a:xfrm>
            <a:off x="8876854" y="4202906"/>
            <a:ext cx="323850" cy="323850"/>
          </a:xfrm>
          <a:prstGeom prst="rect">
            <a:avLst/>
          </a:prstGeom>
        </p:spPr>
      </p:pic>
      <p:sp>
        <p:nvSpPr>
          <p:cNvPr id="12" name="Text 6"/>
          <p:cNvSpPr/>
          <p:nvPr/>
        </p:nvSpPr>
        <p:spPr>
          <a:xfrm>
            <a:off x="9353104" y="4129088"/>
            <a:ext cx="2891463"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14254C"/>
                </a:solidFill>
                <a:latin typeface="Roboto" pitchFamily="34" charset="0"/>
                <a:ea typeface="Roboto" pitchFamily="34" charset="-122"/>
                <a:cs typeface="Roboto" pitchFamily="34" charset="-120"/>
              </a:rPr>
              <a:t>NewsAggregator</a:t>
            </a:r>
            <a:endParaRPr lang="en-US" sz="1950" dirty="0"/>
          </a:p>
        </p:txBody>
      </p:sp>
      <p:sp>
        <p:nvSpPr>
          <p:cNvPr id="13" name="Text 7"/>
          <p:cNvSpPr/>
          <p:nvPr/>
        </p:nvSpPr>
        <p:spPr>
          <a:xfrm>
            <a:off x="9353104" y="4419600"/>
            <a:ext cx="2891463" cy="219075"/>
          </a:xfrm>
          <a:prstGeom prst="rect">
            <a:avLst/>
          </a:prstGeom>
          <a:noFill/>
          <a:ln/>
        </p:spPr>
        <p:txBody>
          <a:bodyPr wrap="square" lIns="25400" tIns="25400" rIns="25400" bIns="25400" rtlCol="0" anchor="t">
            <a:normAutofit/>
          </a:bodyPr>
          <a:lstStyle/>
          <a:p>
            <a:pPr algn="l" indent="0" marL="0">
              <a:buNone/>
            </a:pPr>
            <a:r>
              <a:rPr lang="en-US" sz="1200" dirty="0">
                <a:solidFill>
                  <a:srgbClr val="64748B"/>
                </a:solidFill>
                <a:latin typeface="Roboto" pitchFamily="34" charset="0"/>
                <a:ea typeface="Roboto" pitchFamily="34" charset="-122"/>
                <a:cs typeface="Roboto" pitchFamily="34" charset="-120"/>
              </a:rPr>
              <a:t>one connector interface, many sources</a:t>
            </a:r>
            <a:endParaRPr lang="en-US" sz="1200" dirty="0"/>
          </a:p>
        </p:txBody>
      </p:sp>
      <p:sp>
        <p:nvSpPr>
          <p:cNvPr id="14" name="Shape 8"/>
          <p:cNvSpPr/>
          <p:nvPr/>
        </p:nvSpPr>
        <p:spPr>
          <a:xfrm>
            <a:off x="8876854" y="4829175"/>
            <a:ext cx="8039546" cy="557213"/>
          </a:xfrm>
          <a:prstGeom prst="roundRect">
            <a:avLst>
              <a:gd name="adj" fmla="val 20513"/>
            </a:avLst>
          </a:prstGeom>
          <a:solidFill>
            <a:srgbClr val="FFFFFF"/>
          </a:solidFill>
          <a:ln w="14288">
            <a:solidFill>
              <a:srgbClr val="E2E8F0"/>
            </a:solidFill>
            <a:prstDash val="solid"/>
          </a:ln>
        </p:spPr>
      </p:sp>
      <p:sp>
        <p:nvSpPr>
          <p:cNvPr id="15" name="Text 9"/>
          <p:cNvSpPr/>
          <p:nvPr/>
        </p:nvSpPr>
        <p:spPr>
          <a:xfrm>
            <a:off x="9100691" y="4995863"/>
            <a:ext cx="1373617" cy="261937"/>
          </a:xfrm>
          <a:prstGeom prst="rect">
            <a:avLst/>
          </a:prstGeom>
          <a:noFill/>
          <a:ln/>
        </p:spPr>
        <p:txBody>
          <a:bodyPr wrap="square" lIns="25400" tIns="25400" rIns="25400" bIns="25400" rtlCol="0" anchor="t">
            <a:normAutofit/>
          </a:bodyPr>
          <a:lstStyle/>
          <a:p>
            <a:pPr algn="l" indent="0" marL="0">
              <a:buNone/>
            </a:pPr>
            <a:r>
              <a:rPr lang="en-US" sz="1500" b="1" dirty="0">
                <a:solidFill>
                  <a:srgbClr val="14254C"/>
                </a:solidFill>
                <a:latin typeface="Roboto" pitchFamily="34" charset="0"/>
                <a:ea typeface="Roboto" pitchFamily="34" charset="-122"/>
                <a:cs typeface="Roboto" pitchFamily="34" charset="-120"/>
              </a:rPr>
              <a:t>Alpha Vantage</a:t>
            </a:r>
            <a:endParaRPr lang="en-US" sz="1500" dirty="0"/>
          </a:p>
        </p:txBody>
      </p:sp>
      <p:sp>
        <p:nvSpPr>
          <p:cNvPr id="16" name="Text 10"/>
          <p:cNvSpPr/>
          <p:nvPr/>
        </p:nvSpPr>
        <p:spPr>
          <a:xfrm>
            <a:off x="15132472" y="5038725"/>
            <a:ext cx="1716100" cy="204787"/>
          </a:xfrm>
          <a:prstGeom prst="rect">
            <a:avLst/>
          </a:prstGeom>
          <a:noFill/>
          <a:ln/>
        </p:spPr>
        <p:txBody>
          <a:bodyPr wrap="square" lIns="25400" tIns="25400" rIns="25400" bIns="25400" rtlCol="0" anchor="t">
            <a:normAutofit/>
          </a:bodyPr>
          <a:lstStyle/>
          <a:p>
            <a:pPr algn="l" indent="0" marL="0">
              <a:buNone/>
            </a:pPr>
            <a:r>
              <a:rPr lang="en-US" sz="1125" dirty="0">
                <a:solidFill>
                  <a:srgbClr val="64748B"/>
                </a:solidFill>
                <a:latin typeface="Roboto" pitchFamily="34" charset="0"/>
                <a:ea typeface="Roboto" pitchFamily="34" charset="-122"/>
                <a:cs typeface="Roboto" pitchFamily="34" charset="-120"/>
              </a:rPr>
              <a:t>ticker · built-in sentiment</a:t>
            </a:r>
            <a:endParaRPr lang="en-US" sz="1125" dirty="0"/>
          </a:p>
        </p:txBody>
      </p:sp>
      <p:sp>
        <p:nvSpPr>
          <p:cNvPr id="17" name="Shape 11"/>
          <p:cNvSpPr/>
          <p:nvPr/>
        </p:nvSpPr>
        <p:spPr>
          <a:xfrm>
            <a:off x="8876854" y="5500688"/>
            <a:ext cx="8039546" cy="557213"/>
          </a:xfrm>
          <a:prstGeom prst="roundRect">
            <a:avLst>
              <a:gd name="adj" fmla="val 20513"/>
            </a:avLst>
          </a:prstGeom>
          <a:solidFill>
            <a:srgbClr val="FFFFFF"/>
          </a:solidFill>
          <a:ln w="14288">
            <a:solidFill>
              <a:srgbClr val="E2E8F0"/>
            </a:solidFill>
            <a:prstDash val="solid"/>
          </a:ln>
        </p:spPr>
      </p:sp>
      <p:sp>
        <p:nvSpPr>
          <p:cNvPr id="18" name="Text 12"/>
          <p:cNvSpPr/>
          <p:nvPr/>
        </p:nvSpPr>
        <p:spPr>
          <a:xfrm>
            <a:off x="9100691" y="5667375"/>
            <a:ext cx="1197471" cy="261937"/>
          </a:xfrm>
          <a:prstGeom prst="rect">
            <a:avLst/>
          </a:prstGeom>
          <a:noFill/>
          <a:ln/>
        </p:spPr>
        <p:txBody>
          <a:bodyPr wrap="square" lIns="25400" tIns="25400" rIns="25400" bIns="25400" rtlCol="0" anchor="t">
            <a:normAutofit/>
          </a:bodyPr>
          <a:lstStyle/>
          <a:p>
            <a:pPr algn="l" indent="0" marL="0">
              <a:buNone/>
            </a:pPr>
            <a:r>
              <a:rPr lang="en-US" sz="1500" b="1" dirty="0">
                <a:solidFill>
                  <a:srgbClr val="14254C"/>
                </a:solidFill>
                <a:latin typeface="Roboto" pitchFamily="34" charset="0"/>
                <a:ea typeface="Roboto" pitchFamily="34" charset="-122"/>
                <a:cs typeface="Roboto" pitchFamily="34" charset="-120"/>
              </a:rPr>
              <a:t>NewsAPI.org</a:t>
            </a:r>
            <a:endParaRPr lang="en-US" sz="1500" dirty="0"/>
          </a:p>
        </p:txBody>
      </p:sp>
      <p:sp>
        <p:nvSpPr>
          <p:cNvPr id="19" name="Text 13"/>
          <p:cNvSpPr/>
          <p:nvPr/>
        </p:nvSpPr>
        <p:spPr>
          <a:xfrm>
            <a:off x="15119152" y="5710238"/>
            <a:ext cx="1730752" cy="204787"/>
          </a:xfrm>
          <a:prstGeom prst="rect">
            <a:avLst/>
          </a:prstGeom>
          <a:noFill/>
          <a:ln/>
        </p:spPr>
        <p:txBody>
          <a:bodyPr wrap="square" lIns="25400" tIns="25400" rIns="25400" bIns="25400" rtlCol="0" anchor="t">
            <a:normAutofit/>
          </a:bodyPr>
          <a:lstStyle/>
          <a:p>
            <a:pPr algn="l" indent="0" marL="0">
              <a:buNone/>
            </a:pPr>
            <a:r>
              <a:rPr lang="en-US" sz="1125" dirty="0">
                <a:solidFill>
                  <a:srgbClr val="64748B"/>
                </a:solidFill>
                <a:latin typeface="Roboto" pitchFamily="34" charset="0"/>
                <a:ea typeface="Roboto" pitchFamily="34" charset="-122"/>
                <a:cs typeface="Roboto" pitchFamily="34" charset="-120"/>
              </a:rPr>
              <a:t>keyword · 150k+ sources</a:t>
            </a:r>
            <a:endParaRPr lang="en-US" sz="1125" dirty="0"/>
          </a:p>
        </p:txBody>
      </p:sp>
      <p:sp>
        <p:nvSpPr>
          <p:cNvPr id="20" name="Shape 14"/>
          <p:cNvSpPr/>
          <p:nvPr/>
        </p:nvSpPr>
        <p:spPr>
          <a:xfrm>
            <a:off x="8876854" y="6172200"/>
            <a:ext cx="8039546" cy="557213"/>
          </a:xfrm>
          <a:prstGeom prst="roundRect">
            <a:avLst>
              <a:gd name="adj" fmla="val 20513"/>
            </a:avLst>
          </a:prstGeom>
          <a:solidFill>
            <a:srgbClr val="FFFFFF"/>
          </a:solidFill>
          <a:ln w="14288">
            <a:solidFill>
              <a:srgbClr val="E2E8F0"/>
            </a:solidFill>
            <a:prstDash val="solid"/>
          </a:ln>
        </p:spPr>
      </p:sp>
      <p:sp>
        <p:nvSpPr>
          <p:cNvPr id="21" name="Text 15"/>
          <p:cNvSpPr/>
          <p:nvPr/>
        </p:nvSpPr>
        <p:spPr>
          <a:xfrm>
            <a:off x="9100691" y="6338888"/>
            <a:ext cx="636984" cy="261937"/>
          </a:xfrm>
          <a:prstGeom prst="rect">
            <a:avLst/>
          </a:prstGeom>
          <a:noFill/>
          <a:ln/>
        </p:spPr>
        <p:txBody>
          <a:bodyPr wrap="square" lIns="25400" tIns="25400" rIns="25400" bIns="25400" rtlCol="0" anchor="t">
            <a:normAutofit/>
          </a:bodyPr>
          <a:lstStyle/>
          <a:p>
            <a:pPr algn="l" indent="0" marL="0">
              <a:buNone/>
            </a:pPr>
            <a:r>
              <a:rPr lang="en-US" sz="1500" b="1" dirty="0">
                <a:solidFill>
                  <a:srgbClr val="14254C"/>
                </a:solidFill>
                <a:latin typeface="Roboto" pitchFamily="34" charset="0"/>
                <a:ea typeface="Roboto" pitchFamily="34" charset="-122"/>
                <a:cs typeface="Roboto" pitchFamily="34" charset="-120"/>
              </a:rPr>
              <a:t>GDELT</a:t>
            </a:r>
            <a:endParaRPr lang="en-US" sz="1500" dirty="0"/>
          </a:p>
        </p:txBody>
      </p:sp>
      <p:sp>
        <p:nvSpPr>
          <p:cNvPr id="22" name="Text 16"/>
          <p:cNvSpPr/>
          <p:nvPr/>
        </p:nvSpPr>
        <p:spPr>
          <a:xfrm>
            <a:off x="14479786" y="6381750"/>
            <a:ext cx="2434054" cy="204787"/>
          </a:xfrm>
          <a:prstGeom prst="rect">
            <a:avLst/>
          </a:prstGeom>
          <a:noFill/>
          <a:ln/>
        </p:spPr>
        <p:txBody>
          <a:bodyPr wrap="square" lIns="25400" tIns="25400" rIns="25400" bIns="25400" rtlCol="0" anchor="t">
            <a:normAutofit/>
          </a:bodyPr>
          <a:lstStyle/>
          <a:p>
            <a:pPr algn="l" indent="0" marL="0">
              <a:buNone/>
            </a:pPr>
            <a:r>
              <a:rPr lang="en-US" sz="1125" dirty="0">
                <a:solidFill>
                  <a:srgbClr val="64748B"/>
                </a:solidFill>
                <a:latin typeface="Roboto" pitchFamily="34" charset="0"/>
                <a:ea typeface="Roboto" pitchFamily="34" charset="-122"/>
                <a:cs typeface="Roboto" pitchFamily="34" charset="-120"/>
              </a:rPr>
              <a:t>global · no rate limit · 65 languages</a:t>
            </a:r>
            <a:endParaRPr lang="en-US" sz="1125" dirty="0"/>
          </a:p>
        </p:txBody>
      </p:sp>
      <p:sp>
        <p:nvSpPr>
          <p:cNvPr id="23" name="Text 17"/>
          <p:cNvSpPr/>
          <p:nvPr/>
        </p:nvSpPr>
        <p:spPr>
          <a:xfrm>
            <a:off x="8876854" y="7038975"/>
            <a:ext cx="674415" cy="204787"/>
          </a:xfrm>
          <a:prstGeom prst="rect">
            <a:avLst/>
          </a:prstGeom>
          <a:noFill/>
          <a:ln/>
        </p:spPr>
        <p:txBody>
          <a:bodyPr wrap="square" lIns="25400" tIns="25400" rIns="25400" bIns="25400" rtlCol="0" anchor="t">
            <a:normAutofit/>
          </a:bodyPr>
          <a:lstStyle/>
          <a:p>
            <a:pPr algn="l" indent="0" marL="0">
              <a:buNone/>
            </a:pPr>
            <a:r>
              <a:rPr lang="en-US" sz="1125" dirty="0">
                <a:solidFill>
                  <a:srgbClr val="64748B"/>
                </a:solidFill>
                <a:latin typeface="Roboto" pitchFamily="34" charset="0"/>
                <a:ea typeface="Roboto" pitchFamily="34" charset="-122"/>
                <a:cs typeface="Roboto" pitchFamily="34" charset="-120"/>
              </a:rPr>
              <a:t>New tool:</a:t>
            </a:r>
            <a:endParaRPr lang="en-US" sz="1125" dirty="0"/>
          </a:p>
        </p:txBody>
      </p:sp>
      <p:sp>
        <p:nvSpPr>
          <p:cNvPr id="24" name="Shape 18"/>
          <p:cNvSpPr/>
          <p:nvPr/>
        </p:nvSpPr>
        <p:spPr>
          <a:xfrm>
            <a:off x="9589368" y="6938963"/>
            <a:ext cx="2442567" cy="366713"/>
          </a:xfrm>
          <a:prstGeom prst="roundRect">
            <a:avLst>
              <a:gd name="adj" fmla="val 20779"/>
            </a:avLst>
          </a:prstGeom>
          <a:solidFill>
            <a:srgbClr val="E8F0FE"/>
          </a:solidFill>
          <a:ln/>
        </p:spPr>
      </p:sp>
      <p:sp>
        <p:nvSpPr>
          <p:cNvPr id="25" name="Text 19"/>
          <p:cNvSpPr/>
          <p:nvPr/>
        </p:nvSpPr>
        <p:spPr>
          <a:xfrm>
            <a:off x="9741768" y="7015163"/>
            <a:ext cx="2213967" cy="252413"/>
          </a:xfrm>
          <a:prstGeom prst="rect">
            <a:avLst/>
          </a:prstGeom>
          <a:noFill/>
          <a:ln/>
        </p:spPr>
        <p:txBody>
          <a:bodyPr wrap="square" lIns="25400" tIns="25400" rIns="25400" bIns="25400" rtlCol="0" anchor="t">
            <a:normAutofit/>
          </a:bodyPr>
          <a:lstStyle/>
          <a:p>
            <a:pPr algn="l" indent="0" marL="0">
              <a:buNone/>
            </a:pPr>
            <a:r>
              <a:rPr lang="en-US" sz="1275" dirty="0">
                <a:solidFill>
                  <a:srgbClr val="0047E5"/>
                </a:solidFill>
                <a:latin typeface="Roboto Mono" pitchFamily="34" charset="0"/>
                <a:ea typeface="Roboto Mono" pitchFamily="34" charset="-122"/>
                <a:cs typeface="Roboto Mono" pitchFamily="34" charset="-120"/>
              </a:rPr>
              <a:t>get_news_by_keywords()</a:t>
            </a:r>
            <a:endParaRPr lang="en-US" sz="1275" dirty="0"/>
          </a:p>
        </p:txBody>
      </p:sp>
      <p:sp>
        <p:nvSpPr>
          <p:cNvPr id="26" name="Shape 20"/>
          <p:cNvSpPr/>
          <p:nvPr/>
        </p:nvSpPr>
        <p:spPr>
          <a:xfrm>
            <a:off x="952500" y="9320213"/>
            <a:ext cx="16383000" cy="9525"/>
          </a:xfrm>
          <a:prstGeom prst="rect">
            <a:avLst/>
          </a:prstGeom>
          <a:solidFill>
            <a:srgbClr val="E2E8F0"/>
          </a:solidFill>
          <a:ln/>
        </p:spPr>
      </p:sp>
      <p:sp>
        <p:nvSpPr>
          <p:cNvPr id="27" name="Text 21"/>
          <p:cNvSpPr/>
          <p:nvPr/>
        </p:nvSpPr>
        <p:spPr>
          <a:xfrm>
            <a:off x="461010" y="9539288"/>
            <a:ext cx="16874490" cy="214313"/>
          </a:xfrm>
          <a:prstGeom prst="rect">
            <a:avLst/>
          </a:prstGeom>
          <a:noFill/>
          <a:ln/>
        </p:spPr>
        <p:txBody>
          <a:bodyPr wrap="square" lIns="25400" tIns="25400" rIns="25400" bIns="25400" rtlCol="0" anchor="ctr">
            <a:normAutofit/>
          </a:bodyPr>
          <a:lstStyle/>
          <a:p>
            <a:pPr algn="r" indent="0" marL="0">
              <a:buNone/>
            </a:pPr>
            <a:r>
              <a:rPr lang="en-US" sz="1050" dirty="0">
                <a:solidFill>
                  <a:srgbClr val="94A3B8"/>
                </a:solidFill>
                <a:latin typeface="Roboto Mono" pitchFamily="34" charset="0"/>
                <a:ea typeface="Roboto Mono" pitchFamily="34" charset="-122"/>
                <a:cs typeface="Roboto Mono" pitchFamily="34" charset="-120"/>
              </a:rPr>
              <a:t>Factored · Financial Assistant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704850"/>
            <a:ext cx="1387525" cy="323850"/>
          </a:xfrm>
          <a:prstGeom prst="rect">
            <a:avLst/>
          </a:prstGeom>
        </p:spPr>
      </p:pic>
      <p:sp>
        <p:nvSpPr>
          <p:cNvPr id="3" name="Text 0"/>
          <p:cNvSpPr/>
          <p:nvPr/>
        </p:nvSpPr>
        <p:spPr>
          <a:xfrm>
            <a:off x="15693703" y="783431"/>
            <a:ext cx="1805977"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047E5"/>
                </a:solidFill>
                <a:latin typeface="Roboto" pitchFamily="34" charset="0"/>
                <a:ea typeface="Roboto" pitchFamily="34" charset="-122"/>
                <a:cs typeface="Roboto" pitchFamily="34" charset="-120"/>
              </a:rPr>
              <a:t>WHAT'S NEXT · 03</a:t>
            </a:r>
            <a:endParaRPr lang="en-US" sz="1125" dirty="0"/>
          </a:p>
        </p:txBody>
      </p:sp>
      <p:sp>
        <p:nvSpPr>
          <p:cNvPr id="4" name="Text 1"/>
          <p:cNvSpPr/>
          <p:nvPr/>
        </p:nvSpPr>
        <p:spPr>
          <a:xfrm>
            <a:off x="952500" y="1409700"/>
            <a:ext cx="18021300" cy="628650"/>
          </a:xfrm>
          <a:prstGeom prst="rect">
            <a:avLst/>
          </a:prstGeom>
          <a:noFill/>
          <a:ln/>
        </p:spPr>
        <p:txBody>
          <a:bodyPr wrap="square" lIns="25400" tIns="25400" rIns="25400" bIns="25400" rtlCol="0" anchor="t">
            <a:normAutofit/>
          </a:bodyPr>
          <a:lstStyle/>
          <a:p>
            <a:pPr algn="l" indent="0" marL="0">
              <a:lnSpc>
                <a:spcPct val="100000"/>
              </a:lnSpc>
              <a:buNone/>
            </a:pPr>
            <a:r>
              <a:rPr lang="en-US" sz="4650" b="1" spc="-90" kern="0" dirty="0">
                <a:solidFill>
                  <a:srgbClr val="14254C"/>
                </a:solidFill>
                <a:latin typeface="Roboto" pitchFamily="34" charset="0"/>
                <a:ea typeface="Roboto" pitchFamily="34" charset="-122"/>
                <a:cs typeface="Roboto" pitchFamily="34" charset="-120"/>
              </a:rPr>
              <a:t>Close the security gaps</a:t>
            </a:r>
            <a:endParaRPr lang="en-US" sz="4650" dirty="0"/>
          </a:p>
        </p:txBody>
      </p:sp>
      <p:sp>
        <p:nvSpPr>
          <p:cNvPr id="5" name="Shape 2"/>
          <p:cNvSpPr/>
          <p:nvPr/>
        </p:nvSpPr>
        <p:spPr>
          <a:xfrm>
            <a:off x="952500" y="2362200"/>
            <a:ext cx="5295900" cy="6700838"/>
          </a:xfrm>
          <a:prstGeom prst="roundRect">
            <a:avLst>
              <a:gd name="adj" fmla="val 2878"/>
            </a:avLst>
          </a:prstGeom>
          <a:solidFill>
            <a:srgbClr val="FFFFFF"/>
          </a:solidFill>
          <a:ln w="14288">
            <a:solidFill>
              <a:srgbClr val="E2E8F0"/>
            </a:solidFill>
            <a:prstDash val="solid"/>
          </a:ln>
        </p:spPr>
      </p:sp>
      <p:pic>
        <p:nvPicPr>
          <p:cNvPr id="6" name="Image 1" descr="preencoded.png">    </p:cNvPr>
          <p:cNvPicPr>
            <a:picLocks noChangeAspect="1"/>
          </p:cNvPicPr>
          <p:nvPr/>
        </p:nvPicPr>
        <p:blipFill>
          <a:blip r:embed="rId2"/>
          <a:srcRect l="0" r="0" t="0" b="0"/>
          <a:stretch/>
        </p:blipFill>
        <p:spPr>
          <a:xfrm>
            <a:off x="1271588" y="2681288"/>
            <a:ext cx="342900" cy="342900"/>
          </a:xfrm>
          <a:prstGeom prst="rect">
            <a:avLst/>
          </a:prstGeom>
        </p:spPr>
      </p:pic>
      <p:sp>
        <p:nvSpPr>
          <p:cNvPr id="7" name="Shape 3"/>
          <p:cNvSpPr/>
          <p:nvPr/>
        </p:nvSpPr>
        <p:spPr>
          <a:xfrm>
            <a:off x="5047357" y="2724150"/>
            <a:ext cx="881955" cy="257175"/>
          </a:xfrm>
          <a:prstGeom prst="roundRect">
            <a:avLst>
              <a:gd name="adj" fmla="val 50000"/>
            </a:avLst>
          </a:prstGeom>
          <a:solidFill>
            <a:srgbClr val="FEF3DD"/>
          </a:solidFill>
          <a:ln/>
        </p:spPr>
      </p:sp>
      <p:sp>
        <p:nvSpPr>
          <p:cNvPr id="8" name="Text 4"/>
          <p:cNvSpPr/>
          <p:nvPr/>
        </p:nvSpPr>
        <p:spPr>
          <a:xfrm>
            <a:off x="5180707" y="2781300"/>
            <a:ext cx="691455" cy="180975"/>
          </a:xfrm>
          <a:prstGeom prst="rect">
            <a:avLst/>
          </a:prstGeom>
          <a:noFill/>
          <a:ln/>
        </p:spPr>
        <p:txBody>
          <a:bodyPr wrap="square" lIns="25400" tIns="25400" rIns="25400" bIns="25400" rtlCol="0" anchor="t">
            <a:normAutofit/>
          </a:bodyPr>
          <a:lstStyle/>
          <a:p>
            <a:pPr algn="l" indent="0" marL="0">
              <a:buNone/>
            </a:pPr>
            <a:r>
              <a:rPr lang="en-US" sz="975" b="1" spc="75" kern="0" dirty="0">
                <a:solidFill>
                  <a:srgbClr val="9A6700"/>
                </a:solidFill>
                <a:latin typeface="Roboto" pitchFamily="34" charset="0"/>
                <a:ea typeface="Roboto" pitchFamily="34" charset="-122"/>
                <a:cs typeface="Roboto" pitchFamily="34" charset="-120"/>
              </a:rPr>
              <a:t>CRITICAL</a:t>
            </a:r>
            <a:endParaRPr lang="en-US" sz="975" dirty="0"/>
          </a:p>
        </p:txBody>
      </p:sp>
      <p:sp>
        <p:nvSpPr>
          <p:cNvPr id="9" name="Text 5"/>
          <p:cNvSpPr/>
          <p:nvPr/>
        </p:nvSpPr>
        <p:spPr>
          <a:xfrm>
            <a:off x="1271588" y="3233738"/>
            <a:ext cx="5123498"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dirty="0">
                <a:solidFill>
                  <a:srgbClr val="14254C"/>
                </a:solidFill>
                <a:latin typeface="Roboto" pitchFamily="34" charset="0"/>
                <a:ea typeface="Roboto" pitchFamily="34" charset="-122"/>
                <a:cs typeface="Roboto" pitchFamily="34" charset="-120"/>
              </a:rPr>
              <a:t>Admin endpoints have no auth</a:t>
            </a:r>
            <a:endParaRPr lang="en-US" sz="1950" dirty="0"/>
          </a:p>
        </p:txBody>
      </p:sp>
      <p:sp>
        <p:nvSpPr>
          <p:cNvPr id="10" name="Text 6"/>
          <p:cNvSpPr/>
          <p:nvPr/>
        </p:nvSpPr>
        <p:spPr>
          <a:xfrm>
            <a:off x="1271588" y="3651870"/>
            <a:ext cx="4797457" cy="4415805"/>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64748B"/>
                </a:solidFill>
                <a:latin typeface="Roboto" pitchFamily="34" charset="0"/>
                <a:ea typeface="Roboto" pitchFamily="34" charset="-122"/>
                <a:cs typeface="Roboto" pitchFamily="34" charset="-120"/>
              </a:rPr>
              <a:t>Anyone can trigger destructive ingestion — overwrite the vector store or flood the DB.</a:t>
            </a:r>
            <a:endParaRPr lang="en-US" sz="1275" dirty="0"/>
          </a:p>
        </p:txBody>
      </p:sp>
      <p:sp>
        <p:nvSpPr>
          <p:cNvPr id="11" name="Shape 7"/>
          <p:cNvSpPr/>
          <p:nvPr/>
        </p:nvSpPr>
        <p:spPr>
          <a:xfrm>
            <a:off x="1271588" y="8181975"/>
            <a:ext cx="4657725" cy="9525"/>
          </a:xfrm>
          <a:prstGeom prst="rect">
            <a:avLst/>
          </a:prstGeom>
          <a:solidFill>
            <a:srgbClr val="E2E8F0"/>
          </a:solidFill>
          <a:ln/>
        </p:spPr>
      </p:sp>
      <p:sp>
        <p:nvSpPr>
          <p:cNvPr id="12" name="Text 8"/>
          <p:cNvSpPr/>
          <p:nvPr/>
        </p:nvSpPr>
        <p:spPr>
          <a:xfrm>
            <a:off x="1271588" y="8362950"/>
            <a:ext cx="270942" cy="195263"/>
          </a:xfrm>
          <a:prstGeom prst="rect">
            <a:avLst/>
          </a:prstGeom>
          <a:noFill/>
          <a:ln/>
        </p:spPr>
        <p:txBody>
          <a:bodyPr wrap="square" lIns="25400" tIns="25400" rIns="25400" bIns="25400" rtlCol="0" anchor="t">
            <a:normAutofit/>
          </a:bodyPr>
          <a:lstStyle/>
          <a:p>
            <a:pPr algn="l" indent="0" marL="0">
              <a:buNone/>
            </a:pPr>
            <a:r>
              <a:rPr lang="en-US" sz="1050" dirty="0">
                <a:solidFill>
                  <a:srgbClr val="94A3B8"/>
                </a:solidFill>
                <a:latin typeface="Roboto" pitchFamily="34" charset="0"/>
                <a:ea typeface="Roboto" pitchFamily="34" charset="-122"/>
                <a:cs typeface="Roboto" pitchFamily="34" charset="-120"/>
              </a:rPr>
              <a:t>FIX</a:t>
            </a:r>
            <a:endParaRPr lang="en-US" sz="1050" dirty="0"/>
          </a:p>
        </p:txBody>
      </p:sp>
      <p:sp>
        <p:nvSpPr>
          <p:cNvPr id="13" name="Text 9"/>
          <p:cNvSpPr/>
          <p:nvPr/>
        </p:nvSpPr>
        <p:spPr>
          <a:xfrm>
            <a:off x="1271588" y="8562975"/>
            <a:ext cx="5123498" cy="219075"/>
          </a:xfrm>
          <a:prstGeom prst="rect">
            <a:avLst/>
          </a:prstGeom>
          <a:noFill/>
          <a:ln/>
        </p:spPr>
        <p:txBody>
          <a:bodyPr wrap="square" lIns="25400" tIns="25400" rIns="25400" bIns="25400" rtlCol="0" anchor="t">
            <a:normAutofit/>
          </a:bodyPr>
          <a:lstStyle/>
          <a:p>
            <a:pPr algn="l" indent="0" marL="0">
              <a:buNone/>
            </a:pPr>
            <a:r>
              <a:rPr lang="en-US" sz="1200" dirty="0">
                <a:solidFill>
                  <a:srgbClr val="14254C"/>
                </a:solidFill>
                <a:latin typeface="Roboto" pitchFamily="34" charset="0"/>
                <a:ea typeface="Roboto" pitchFamily="34" charset="-122"/>
                <a:cs typeface="Roboto" pitchFamily="34" charset="-120"/>
              </a:rPr>
              <a:t>API-key dependency · </a:t>
            </a:r>
            <a:pPr algn="l" indent="0" marL="0">
              <a:buNone/>
            </a:pPr>
            <a:r>
              <a:rPr lang="en-US" sz="1200" b="1" dirty="0">
                <a:solidFill>
                  <a:srgbClr val="0047E5"/>
                </a:solidFill>
                <a:latin typeface="Roboto" pitchFamily="34" charset="0"/>
                <a:ea typeface="Roboto" pitchFamily="34" charset="-122"/>
                <a:cs typeface="Roboto" pitchFamily="34" charset="-120"/>
              </a:rPr>
              <a:t>Low effort</a:t>
            </a:r>
            <a:endParaRPr lang="en-US" sz="1200" dirty="0"/>
          </a:p>
        </p:txBody>
      </p:sp>
      <p:sp>
        <p:nvSpPr>
          <p:cNvPr id="14" name="Shape 10"/>
          <p:cNvSpPr/>
          <p:nvPr/>
        </p:nvSpPr>
        <p:spPr>
          <a:xfrm>
            <a:off x="6496050" y="2362200"/>
            <a:ext cx="5295900" cy="6700838"/>
          </a:xfrm>
          <a:prstGeom prst="roundRect">
            <a:avLst>
              <a:gd name="adj" fmla="val 2878"/>
            </a:avLst>
          </a:prstGeom>
          <a:solidFill>
            <a:srgbClr val="FFFFFF"/>
          </a:solidFill>
          <a:ln w="14288">
            <a:solidFill>
              <a:srgbClr val="E2E8F0"/>
            </a:solidFill>
            <a:prstDash val="solid"/>
          </a:ln>
        </p:spPr>
      </p:sp>
      <p:pic>
        <p:nvPicPr>
          <p:cNvPr id="15" name="Image 2" descr="preencoded.png">    </p:cNvPr>
          <p:cNvPicPr>
            <a:picLocks noChangeAspect="1"/>
          </p:cNvPicPr>
          <p:nvPr/>
        </p:nvPicPr>
        <p:blipFill>
          <a:blip r:embed="rId3"/>
          <a:srcRect l="0" r="0" t="0" b="0"/>
          <a:stretch/>
        </p:blipFill>
        <p:spPr>
          <a:xfrm>
            <a:off x="6815138" y="2681288"/>
            <a:ext cx="342900" cy="342900"/>
          </a:xfrm>
          <a:prstGeom prst="rect">
            <a:avLst/>
          </a:prstGeom>
        </p:spPr>
      </p:pic>
      <p:sp>
        <p:nvSpPr>
          <p:cNvPr id="16" name="Shape 11"/>
          <p:cNvSpPr/>
          <p:nvPr/>
        </p:nvSpPr>
        <p:spPr>
          <a:xfrm>
            <a:off x="10590907" y="2724150"/>
            <a:ext cx="881955" cy="257175"/>
          </a:xfrm>
          <a:prstGeom prst="roundRect">
            <a:avLst>
              <a:gd name="adj" fmla="val 50000"/>
            </a:avLst>
          </a:prstGeom>
          <a:solidFill>
            <a:srgbClr val="FEF3DD"/>
          </a:solidFill>
          <a:ln/>
        </p:spPr>
      </p:sp>
      <p:sp>
        <p:nvSpPr>
          <p:cNvPr id="17" name="Text 12"/>
          <p:cNvSpPr/>
          <p:nvPr/>
        </p:nvSpPr>
        <p:spPr>
          <a:xfrm>
            <a:off x="10724257" y="2781300"/>
            <a:ext cx="691455" cy="180975"/>
          </a:xfrm>
          <a:prstGeom prst="rect">
            <a:avLst/>
          </a:prstGeom>
          <a:noFill/>
          <a:ln/>
        </p:spPr>
        <p:txBody>
          <a:bodyPr wrap="square" lIns="25400" tIns="25400" rIns="25400" bIns="25400" rtlCol="0" anchor="t">
            <a:normAutofit/>
          </a:bodyPr>
          <a:lstStyle/>
          <a:p>
            <a:pPr algn="l" indent="0" marL="0">
              <a:buNone/>
            </a:pPr>
            <a:r>
              <a:rPr lang="en-US" sz="975" b="1" spc="75" kern="0" dirty="0">
                <a:solidFill>
                  <a:srgbClr val="9A6700"/>
                </a:solidFill>
                <a:latin typeface="Roboto" pitchFamily="34" charset="0"/>
                <a:ea typeface="Roboto" pitchFamily="34" charset="-122"/>
                <a:cs typeface="Roboto" pitchFamily="34" charset="-120"/>
              </a:rPr>
              <a:t>CRITICAL</a:t>
            </a:r>
            <a:endParaRPr lang="en-US" sz="975" dirty="0"/>
          </a:p>
        </p:txBody>
      </p:sp>
      <p:sp>
        <p:nvSpPr>
          <p:cNvPr id="18" name="Text 13"/>
          <p:cNvSpPr/>
          <p:nvPr/>
        </p:nvSpPr>
        <p:spPr>
          <a:xfrm>
            <a:off x="6815138" y="3233738"/>
            <a:ext cx="5123498"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dirty="0">
                <a:solidFill>
                  <a:srgbClr val="14254C"/>
                </a:solidFill>
                <a:latin typeface="Roboto" pitchFamily="34" charset="0"/>
                <a:ea typeface="Roboto" pitchFamily="34" charset="-122"/>
                <a:cs typeface="Roboto" pitchFamily="34" charset="-120"/>
              </a:rPr>
              <a:t>Phoenix UI is public on :6006</a:t>
            </a:r>
            <a:endParaRPr lang="en-US" sz="1950" dirty="0"/>
          </a:p>
        </p:txBody>
      </p:sp>
      <p:sp>
        <p:nvSpPr>
          <p:cNvPr id="19" name="Text 14"/>
          <p:cNvSpPr/>
          <p:nvPr/>
        </p:nvSpPr>
        <p:spPr>
          <a:xfrm>
            <a:off x="6815138" y="3651870"/>
            <a:ext cx="4797457" cy="4415805"/>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64748B"/>
                </a:solidFill>
                <a:latin typeface="Roboto" pitchFamily="34" charset="0"/>
                <a:ea typeface="Roboto" pitchFamily="34" charset="-122"/>
                <a:cs typeface="Roboto" pitchFamily="34" charset="-120"/>
              </a:rPr>
              <a:t>It stores full prompts and responses, including sensitive financial queries — exposed on the ALB.</a:t>
            </a:r>
            <a:endParaRPr lang="en-US" sz="1275" dirty="0"/>
          </a:p>
        </p:txBody>
      </p:sp>
      <p:sp>
        <p:nvSpPr>
          <p:cNvPr id="20" name="Shape 15"/>
          <p:cNvSpPr/>
          <p:nvPr/>
        </p:nvSpPr>
        <p:spPr>
          <a:xfrm>
            <a:off x="6815138" y="8181975"/>
            <a:ext cx="4657725" cy="9525"/>
          </a:xfrm>
          <a:prstGeom prst="rect">
            <a:avLst/>
          </a:prstGeom>
          <a:solidFill>
            <a:srgbClr val="E2E8F0"/>
          </a:solidFill>
          <a:ln/>
        </p:spPr>
      </p:sp>
      <p:sp>
        <p:nvSpPr>
          <p:cNvPr id="21" name="Text 16"/>
          <p:cNvSpPr/>
          <p:nvPr/>
        </p:nvSpPr>
        <p:spPr>
          <a:xfrm>
            <a:off x="6815138" y="8362950"/>
            <a:ext cx="270942" cy="195263"/>
          </a:xfrm>
          <a:prstGeom prst="rect">
            <a:avLst/>
          </a:prstGeom>
          <a:noFill/>
          <a:ln/>
        </p:spPr>
        <p:txBody>
          <a:bodyPr wrap="square" lIns="25400" tIns="25400" rIns="25400" bIns="25400" rtlCol="0" anchor="t">
            <a:normAutofit/>
          </a:bodyPr>
          <a:lstStyle/>
          <a:p>
            <a:pPr algn="l" indent="0" marL="0">
              <a:buNone/>
            </a:pPr>
            <a:r>
              <a:rPr lang="en-US" sz="1050" dirty="0">
                <a:solidFill>
                  <a:srgbClr val="94A3B8"/>
                </a:solidFill>
                <a:latin typeface="Roboto" pitchFamily="34" charset="0"/>
                <a:ea typeface="Roboto" pitchFamily="34" charset="-122"/>
                <a:cs typeface="Roboto" pitchFamily="34" charset="-120"/>
              </a:rPr>
              <a:t>FIX</a:t>
            </a:r>
            <a:endParaRPr lang="en-US" sz="1050" dirty="0"/>
          </a:p>
        </p:txBody>
      </p:sp>
      <p:sp>
        <p:nvSpPr>
          <p:cNvPr id="22" name="Text 17"/>
          <p:cNvSpPr/>
          <p:nvPr/>
        </p:nvSpPr>
        <p:spPr>
          <a:xfrm>
            <a:off x="6815138" y="8562975"/>
            <a:ext cx="5123498" cy="219075"/>
          </a:xfrm>
          <a:prstGeom prst="rect">
            <a:avLst/>
          </a:prstGeom>
          <a:noFill/>
          <a:ln/>
        </p:spPr>
        <p:txBody>
          <a:bodyPr wrap="square" lIns="25400" tIns="25400" rIns="25400" bIns="25400" rtlCol="0" anchor="t">
            <a:normAutofit/>
          </a:bodyPr>
          <a:lstStyle/>
          <a:p>
            <a:pPr algn="l" indent="0" marL="0">
              <a:buNone/>
            </a:pPr>
            <a:r>
              <a:rPr lang="en-US" sz="1200" dirty="0">
                <a:solidFill>
                  <a:srgbClr val="14254C"/>
                </a:solidFill>
                <a:latin typeface="Roboto" pitchFamily="34" charset="0"/>
                <a:ea typeface="Roboto" pitchFamily="34" charset="-122"/>
                <a:cs typeface="Roboto" pitchFamily="34" charset="-120"/>
              </a:rPr>
              <a:t>Restrict to VPN CIDR · </a:t>
            </a:r>
            <a:pPr algn="l" indent="0" marL="0">
              <a:buNone/>
            </a:pPr>
            <a:r>
              <a:rPr lang="en-US" sz="1200" b="1" dirty="0">
                <a:solidFill>
                  <a:srgbClr val="0047E5"/>
                </a:solidFill>
                <a:latin typeface="Roboto" pitchFamily="34" charset="0"/>
                <a:ea typeface="Roboto" pitchFamily="34" charset="-122"/>
                <a:cs typeface="Roboto" pitchFamily="34" charset="-120"/>
              </a:rPr>
              <a:t>Low effort</a:t>
            </a:r>
            <a:endParaRPr lang="en-US" sz="1200" dirty="0"/>
          </a:p>
        </p:txBody>
      </p:sp>
      <p:sp>
        <p:nvSpPr>
          <p:cNvPr id="23" name="Shape 18"/>
          <p:cNvSpPr/>
          <p:nvPr/>
        </p:nvSpPr>
        <p:spPr>
          <a:xfrm>
            <a:off x="12039600" y="2362200"/>
            <a:ext cx="5295900" cy="6700838"/>
          </a:xfrm>
          <a:prstGeom prst="roundRect">
            <a:avLst>
              <a:gd name="adj" fmla="val 2878"/>
            </a:avLst>
          </a:prstGeom>
          <a:solidFill>
            <a:srgbClr val="FFFFFF"/>
          </a:solidFill>
          <a:ln w="14288">
            <a:solidFill>
              <a:srgbClr val="E2E8F0"/>
            </a:solidFill>
            <a:prstDash val="solid"/>
          </a:ln>
        </p:spPr>
      </p:sp>
      <p:pic>
        <p:nvPicPr>
          <p:cNvPr id="24" name="Image 3" descr="preencoded.png">    </p:cNvPr>
          <p:cNvPicPr>
            <a:picLocks noChangeAspect="1"/>
          </p:cNvPicPr>
          <p:nvPr/>
        </p:nvPicPr>
        <p:blipFill>
          <a:blip r:embed="rId4"/>
          <a:srcRect l="0" r="0" t="0" b="0"/>
          <a:stretch/>
        </p:blipFill>
        <p:spPr>
          <a:xfrm>
            <a:off x="12358688" y="2681288"/>
            <a:ext cx="342900" cy="342900"/>
          </a:xfrm>
          <a:prstGeom prst="rect">
            <a:avLst/>
          </a:prstGeom>
        </p:spPr>
      </p:pic>
      <p:sp>
        <p:nvSpPr>
          <p:cNvPr id="25" name="Shape 19"/>
          <p:cNvSpPr/>
          <p:nvPr/>
        </p:nvSpPr>
        <p:spPr>
          <a:xfrm>
            <a:off x="16416114" y="2724150"/>
            <a:ext cx="600298" cy="257175"/>
          </a:xfrm>
          <a:prstGeom prst="roundRect">
            <a:avLst>
              <a:gd name="adj" fmla="val 50000"/>
            </a:avLst>
          </a:prstGeom>
          <a:solidFill>
            <a:srgbClr val="EEF1F6"/>
          </a:solidFill>
          <a:ln/>
        </p:spPr>
      </p:sp>
      <p:sp>
        <p:nvSpPr>
          <p:cNvPr id="26" name="Text 20"/>
          <p:cNvSpPr/>
          <p:nvPr/>
        </p:nvSpPr>
        <p:spPr>
          <a:xfrm>
            <a:off x="16549464" y="2781300"/>
            <a:ext cx="409798" cy="180975"/>
          </a:xfrm>
          <a:prstGeom prst="rect">
            <a:avLst/>
          </a:prstGeom>
          <a:noFill/>
          <a:ln/>
        </p:spPr>
        <p:txBody>
          <a:bodyPr wrap="square" lIns="25400" tIns="25400" rIns="25400" bIns="25400" rtlCol="0" anchor="t">
            <a:normAutofit/>
          </a:bodyPr>
          <a:lstStyle/>
          <a:p>
            <a:pPr algn="l" indent="0" marL="0">
              <a:buNone/>
            </a:pPr>
            <a:r>
              <a:rPr lang="en-US" sz="975" b="1" spc="75" kern="0" dirty="0">
                <a:solidFill>
                  <a:srgbClr val="475569"/>
                </a:solidFill>
                <a:latin typeface="Roboto" pitchFamily="34" charset="0"/>
                <a:ea typeface="Roboto" pitchFamily="34" charset="-122"/>
                <a:cs typeface="Roboto" pitchFamily="34" charset="-120"/>
              </a:rPr>
              <a:t>HIGH</a:t>
            </a:r>
            <a:endParaRPr lang="en-US" sz="975" dirty="0"/>
          </a:p>
        </p:txBody>
      </p:sp>
      <p:sp>
        <p:nvSpPr>
          <p:cNvPr id="27" name="Text 21"/>
          <p:cNvSpPr/>
          <p:nvPr/>
        </p:nvSpPr>
        <p:spPr>
          <a:xfrm>
            <a:off x="12358688" y="3233738"/>
            <a:ext cx="5123498"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dirty="0">
                <a:solidFill>
                  <a:srgbClr val="14254C"/>
                </a:solidFill>
                <a:latin typeface="Roboto" pitchFamily="34" charset="0"/>
                <a:ea typeface="Roboto" pitchFamily="34" charset="-122"/>
                <a:cs typeface="Roboto" pitchFamily="34" charset="-120"/>
              </a:rPr>
              <a:t>No rate limit on /decision</a:t>
            </a:r>
            <a:endParaRPr lang="en-US" sz="1950" dirty="0"/>
          </a:p>
        </p:txBody>
      </p:sp>
      <p:sp>
        <p:nvSpPr>
          <p:cNvPr id="28" name="Text 22"/>
          <p:cNvSpPr/>
          <p:nvPr/>
        </p:nvSpPr>
        <p:spPr>
          <a:xfrm>
            <a:off x="12358688" y="3651870"/>
            <a:ext cx="4797457" cy="439199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64748B"/>
                </a:solidFill>
                <a:latin typeface="Roboto" pitchFamily="34" charset="0"/>
                <a:ea typeface="Roboto" pitchFamily="34" charset="-122"/>
                <a:cs typeface="Roboto" pitchFamily="34" charset="-120"/>
              </a:rPr>
              <a:t>One query can fan out to ~16 LLM calls — a single user can exhaust the quota and run up cost.</a:t>
            </a:r>
            <a:endParaRPr lang="en-US" sz="1275" dirty="0"/>
          </a:p>
        </p:txBody>
      </p:sp>
      <p:sp>
        <p:nvSpPr>
          <p:cNvPr id="29" name="Shape 23"/>
          <p:cNvSpPr/>
          <p:nvPr/>
        </p:nvSpPr>
        <p:spPr>
          <a:xfrm>
            <a:off x="12358688" y="8158163"/>
            <a:ext cx="4657725" cy="9525"/>
          </a:xfrm>
          <a:prstGeom prst="rect">
            <a:avLst/>
          </a:prstGeom>
          <a:solidFill>
            <a:srgbClr val="E2E8F0"/>
          </a:solidFill>
          <a:ln/>
        </p:spPr>
      </p:sp>
      <p:sp>
        <p:nvSpPr>
          <p:cNvPr id="30" name="Text 24"/>
          <p:cNvSpPr/>
          <p:nvPr/>
        </p:nvSpPr>
        <p:spPr>
          <a:xfrm>
            <a:off x="12358688" y="8339137"/>
            <a:ext cx="270942" cy="195263"/>
          </a:xfrm>
          <a:prstGeom prst="rect">
            <a:avLst/>
          </a:prstGeom>
          <a:noFill/>
          <a:ln/>
        </p:spPr>
        <p:txBody>
          <a:bodyPr wrap="square" lIns="25400" tIns="25400" rIns="25400" bIns="25400" rtlCol="0" anchor="t">
            <a:normAutofit/>
          </a:bodyPr>
          <a:lstStyle/>
          <a:p>
            <a:pPr algn="l" indent="0" marL="0">
              <a:buNone/>
            </a:pPr>
            <a:r>
              <a:rPr lang="en-US" sz="1050" dirty="0">
                <a:solidFill>
                  <a:srgbClr val="94A3B8"/>
                </a:solidFill>
                <a:latin typeface="Roboto" pitchFamily="34" charset="0"/>
                <a:ea typeface="Roboto" pitchFamily="34" charset="-122"/>
                <a:cs typeface="Roboto" pitchFamily="34" charset="-120"/>
              </a:rPr>
              <a:t>FIX</a:t>
            </a:r>
            <a:endParaRPr lang="en-US" sz="1050" dirty="0"/>
          </a:p>
        </p:txBody>
      </p:sp>
      <p:sp>
        <p:nvSpPr>
          <p:cNvPr id="31" name="Text 25"/>
          <p:cNvSpPr/>
          <p:nvPr/>
        </p:nvSpPr>
        <p:spPr>
          <a:xfrm>
            <a:off x="12358688" y="8539163"/>
            <a:ext cx="5123498" cy="242888"/>
          </a:xfrm>
          <a:prstGeom prst="rect">
            <a:avLst/>
          </a:prstGeom>
          <a:noFill/>
          <a:ln/>
        </p:spPr>
        <p:txBody>
          <a:bodyPr wrap="square" lIns="25400" tIns="25400" rIns="25400" bIns="25400" rtlCol="0" anchor="t">
            <a:normAutofit/>
          </a:bodyPr>
          <a:lstStyle/>
          <a:p>
            <a:pPr algn="l" indent="0" marL="0">
              <a:buNone/>
            </a:pPr>
            <a:r>
              <a:rPr lang="en-US" sz="1200" dirty="0">
                <a:solidFill>
                  <a:srgbClr val="14254C"/>
                </a:solidFill>
                <a:latin typeface="Roboto Mono" pitchFamily="34" charset="0"/>
                <a:ea typeface="Roboto Mono" pitchFamily="34" charset="-122"/>
                <a:cs typeface="Roboto Mono" pitchFamily="34" charset="-120"/>
              </a:rPr>
              <a:t>slowapi </a:t>
            </a:r>
            <a:pPr algn="l" indent="0" marL="0">
              <a:buNone/>
            </a:pPr>
            <a:r>
              <a:rPr lang="en-US" sz="1200" dirty="0">
                <a:solidFill>
                  <a:srgbClr val="14254C"/>
                </a:solidFill>
                <a:latin typeface="Roboto" pitchFamily="34" charset="0"/>
                <a:ea typeface="Roboto" pitchFamily="34" charset="-122"/>
                <a:cs typeface="Roboto" pitchFamily="34" charset="-120"/>
              </a:rPr>
              <a:t>10/min · </a:t>
            </a:r>
            <a:pPr algn="l" indent="0" marL="0">
              <a:buNone/>
            </a:pPr>
            <a:r>
              <a:rPr lang="en-US" sz="1200" b="1" dirty="0">
                <a:solidFill>
                  <a:srgbClr val="0047E5"/>
                </a:solidFill>
                <a:latin typeface="Roboto" pitchFamily="34" charset="0"/>
                <a:ea typeface="Roboto" pitchFamily="34" charset="-122"/>
                <a:cs typeface="Roboto" pitchFamily="34" charset="-120"/>
              </a:rPr>
              <a:t>Medium</a:t>
            </a:r>
            <a:endParaRPr lang="en-US" sz="1200" dirty="0"/>
          </a:p>
        </p:txBody>
      </p:sp>
      <p:sp>
        <p:nvSpPr>
          <p:cNvPr id="32" name="Shape 26"/>
          <p:cNvSpPr/>
          <p:nvPr/>
        </p:nvSpPr>
        <p:spPr>
          <a:xfrm>
            <a:off x="952500" y="9291638"/>
            <a:ext cx="16383000" cy="9525"/>
          </a:xfrm>
          <a:prstGeom prst="rect">
            <a:avLst/>
          </a:prstGeom>
          <a:solidFill>
            <a:srgbClr val="E2E8F0"/>
          </a:solidFill>
          <a:ln/>
        </p:spPr>
      </p:sp>
      <p:sp>
        <p:nvSpPr>
          <p:cNvPr id="33" name="Text 27"/>
          <p:cNvSpPr/>
          <p:nvPr/>
        </p:nvSpPr>
        <p:spPr>
          <a:xfrm>
            <a:off x="952500" y="9510713"/>
            <a:ext cx="6351903" cy="242888"/>
          </a:xfrm>
          <a:prstGeom prst="rect">
            <a:avLst/>
          </a:prstGeom>
          <a:noFill/>
          <a:ln/>
        </p:spPr>
        <p:txBody>
          <a:bodyPr wrap="square" lIns="25400" tIns="25400" rIns="25400" bIns="25400" rtlCol="0" anchor="t">
            <a:normAutofit/>
          </a:bodyPr>
          <a:lstStyle/>
          <a:p>
            <a:pPr algn="l" indent="0" marL="0">
              <a:buNone/>
            </a:pPr>
            <a:r>
              <a:rPr lang="en-US" sz="1200" dirty="0">
                <a:solidFill>
                  <a:srgbClr val="64748B"/>
                </a:solidFill>
                <a:latin typeface="Roboto" pitchFamily="34" charset="0"/>
                <a:ea typeface="Roboto" pitchFamily="34" charset="-122"/>
                <a:cs typeface="Roboto" pitchFamily="34" charset="-120"/>
              </a:rPr>
              <a:t>Also queued: real SEC </a:t>
            </a:r>
            <a:pPr algn="l" indent="0" marL="0">
              <a:buNone/>
            </a:pPr>
            <a:r>
              <a:rPr lang="en-US" sz="1200" dirty="0">
                <a:solidFill>
                  <a:srgbClr val="64748B"/>
                </a:solidFill>
                <a:latin typeface="Roboto Mono" pitchFamily="34" charset="0"/>
                <a:ea typeface="Roboto Mono" pitchFamily="34" charset="-122"/>
                <a:cs typeface="Roboto Mono" pitchFamily="34" charset="-120"/>
              </a:rPr>
              <a:t>User-Agent </a:t>
            </a:r>
            <a:pPr algn="l" indent="0" marL="0">
              <a:buNone/>
            </a:pPr>
            <a:r>
              <a:rPr lang="en-US" sz="1200" dirty="0">
                <a:solidFill>
                  <a:srgbClr val="64748B"/>
                </a:solidFill>
                <a:latin typeface="Roboto" pitchFamily="34" charset="0"/>
                <a:ea typeface="Roboto" pitchFamily="34" charset="-122"/>
                <a:cs typeface="Roboto" pitchFamily="34" charset="-120"/>
              </a:rPr>
              <a:t>email (trivial) · CORS hardening · LLM-cache TTL.</a:t>
            </a:r>
            <a:endParaRPr lang="en-US" sz="1200" dirty="0"/>
          </a:p>
        </p:txBody>
      </p:sp>
      <p:sp>
        <p:nvSpPr>
          <p:cNvPr id="34" name="Text 28"/>
          <p:cNvSpPr/>
          <p:nvPr/>
        </p:nvSpPr>
        <p:spPr>
          <a:xfrm>
            <a:off x="14934754" y="9525000"/>
            <a:ext cx="2640821" cy="214313"/>
          </a:xfrm>
          <a:prstGeom prst="rect">
            <a:avLst/>
          </a:prstGeom>
          <a:noFill/>
          <a:ln/>
        </p:spPr>
        <p:txBody>
          <a:bodyPr wrap="square" lIns="25400" tIns="25400" rIns="25400" bIns="25400" rtlCol="0" anchor="t">
            <a:normAutofit/>
          </a:bodyPr>
          <a:lstStyle/>
          <a:p>
            <a:pPr algn="l" indent="0" marL="0">
              <a:buNone/>
            </a:pPr>
            <a:r>
              <a:rPr lang="en-US" sz="1050" dirty="0">
                <a:solidFill>
                  <a:srgbClr val="94A3B8"/>
                </a:solidFill>
                <a:latin typeface="Roboto Mono" pitchFamily="34" charset="0"/>
                <a:ea typeface="Roboto Mono" pitchFamily="34" charset="-122"/>
                <a:cs typeface="Roboto Mono" pitchFamily="34" charset="-120"/>
              </a:rPr>
              <a:t>Factored · Financial Assistant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704850"/>
            <a:ext cx="1387525" cy="323850"/>
          </a:xfrm>
          <a:prstGeom prst="rect">
            <a:avLst/>
          </a:prstGeom>
        </p:spPr>
      </p:pic>
      <p:sp>
        <p:nvSpPr>
          <p:cNvPr id="3" name="Text 0"/>
          <p:cNvSpPr/>
          <p:nvPr/>
        </p:nvSpPr>
        <p:spPr>
          <a:xfrm>
            <a:off x="15631641" y="783431"/>
            <a:ext cx="1874245" cy="204787"/>
          </a:xfrm>
          <a:prstGeom prst="rect">
            <a:avLst/>
          </a:prstGeom>
          <a:noFill/>
          <a:ln/>
        </p:spPr>
        <p:txBody>
          <a:bodyPr wrap="square" lIns="25400" tIns="25400" rIns="25400" bIns="25400" rtlCol="0" anchor="t">
            <a:normAutofit/>
          </a:bodyPr>
          <a:lstStyle/>
          <a:p>
            <a:pPr algn="l" indent="0" marL="0">
              <a:buNone/>
            </a:pPr>
            <a:r>
              <a:rPr lang="en-US" sz="1125" b="1" spc="225" kern="0" dirty="0">
                <a:solidFill>
                  <a:srgbClr val="0047E5"/>
                </a:solidFill>
                <a:latin typeface="Roboto" pitchFamily="34" charset="0"/>
                <a:ea typeface="Roboto" pitchFamily="34" charset="-122"/>
                <a:cs typeface="Roboto" pitchFamily="34" charset="-120"/>
              </a:rPr>
              <a:t>RECOMMENDATION</a:t>
            </a:r>
            <a:endParaRPr lang="en-US" sz="1125" dirty="0"/>
          </a:p>
        </p:txBody>
      </p:sp>
      <p:sp>
        <p:nvSpPr>
          <p:cNvPr id="4" name="Text 1"/>
          <p:cNvSpPr/>
          <p:nvPr/>
        </p:nvSpPr>
        <p:spPr>
          <a:xfrm>
            <a:off x="952500" y="1428750"/>
            <a:ext cx="18021300" cy="666750"/>
          </a:xfrm>
          <a:prstGeom prst="rect">
            <a:avLst/>
          </a:prstGeom>
          <a:noFill/>
          <a:ln/>
        </p:spPr>
        <p:txBody>
          <a:bodyPr wrap="square" lIns="25400" tIns="25400" rIns="25400" bIns="25400" rtlCol="0" anchor="t">
            <a:normAutofit/>
          </a:bodyPr>
          <a:lstStyle/>
          <a:p>
            <a:pPr algn="l" indent="0" marL="0">
              <a:lnSpc>
                <a:spcPct val="100000"/>
              </a:lnSpc>
              <a:buNone/>
            </a:pPr>
            <a:r>
              <a:rPr lang="en-US" sz="4950" b="1" spc="-112" kern="0" dirty="0">
                <a:solidFill>
                  <a:srgbClr val="14254C"/>
                </a:solidFill>
                <a:latin typeface="Roboto" pitchFamily="34" charset="0"/>
                <a:ea typeface="Roboto" pitchFamily="34" charset="-122"/>
                <a:cs typeface="Roboto" pitchFamily="34" charset="-120"/>
              </a:rPr>
              <a:t>Where I'm focused next</a:t>
            </a:r>
            <a:endParaRPr lang="en-US" sz="4950" dirty="0"/>
          </a:p>
        </p:txBody>
      </p:sp>
      <p:sp>
        <p:nvSpPr>
          <p:cNvPr id="5" name="Shape 2"/>
          <p:cNvSpPr/>
          <p:nvPr/>
        </p:nvSpPr>
        <p:spPr>
          <a:xfrm>
            <a:off x="952500" y="4564856"/>
            <a:ext cx="14287500" cy="9525"/>
          </a:xfrm>
          <a:prstGeom prst="rect">
            <a:avLst/>
          </a:prstGeom>
          <a:solidFill>
            <a:srgbClr val="E2E8F0"/>
          </a:solidFill>
          <a:ln/>
        </p:spPr>
      </p:sp>
      <p:sp>
        <p:nvSpPr>
          <p:cNvPr id="6" name="Shape 3"/>
          <p:cNvSpPr/>
          <p:nvPr/>
        </p:nvSpPr>
        <p:spPr>
          <a:xfrm>
            <a:off x="952500" y="3840956"/>
            <a:ext cx="495300" cy="495300"/>
          </a:xfrm>
          <a:prstGeom prst="ellipse">
            <a:avLst/>
          </a:prstGeom>
          <a:solidFill>
            <a:srgbClr val="0047E5"/>
          </a:solidFill>
          <a:ln/>
        </p:spPr>
      </p:sp>
      <p:sp>
        <p:nvSpPr>
          <p:cNvPr id="7" name="Text 4"/>
          <p:cNvSpPr/>
          <p:nvPr/>
        </p:nvSpPr>
        <p:spPr>
          <a:xfrm>
            <a:off x="914400" y="3840956"/>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8" name="Text 5"/>
          <p:cNvSpPr/>
          <p:nvPr/>
        </p:nvSpPr>
        <p:spPr>
          <a:xfrm>
            <a:off x="1771650" y="3919537"/>
            <a:ext cx="12691048" cy="376238"/>
          </a:xfrm>
          <a:prstGeom prst="rect">
            <a:avLst/>
          </a:prstGeom>
          <a:noFill/>
          <a:ln/>
        </p:spPr>
        <p:txBody>
          <a:bodyPr wrap="square" lIns="25400" tIns="25400" rIns="25400" bIns="25400" rtlCol="0" anchor="t">
            <a:normAutofit/>
          </a:bodyPr>
          <a:lstStyle/>
          <a:p>
            <a:pPr algn="l" indent="0" marL="0">
              <a:buNone/>
            </a:pPr>
            <a:r>
              <a:rPr lang="en-US" sz="2250" b="1" dirty="0">
                <a:solidFill>
                  <a:srgbClr val="14254C"/>
                </a:solidFill>
                <a:latin typeface="Roboto" pitchFamily="34" charset="0"/>
                <a:ea typeface="Roboto" pitchFamily="34" charset="-122"/>
                <a:cs typeface="Roboto" pitchFamily="34" charset="-120"/>
              </a:rPr>
              <a:t>Security quick wins </a:t>
            </a:r>
            <a:pPr algn="l" indent="0" marL="0">
              <a:buNone/>
            </a:pPr>
            <a:r>
              <a:rPr lang="en-US" sz="1575" dirty="0">
                <a:solidFill>
                  <a:srgbClr val="64748B"/>
                </a:solidFill>
                <a:latin typeface="Roboto" pitchFamily="34" charset="0"/>
                <a:ea typeface="Roboto" pitchFamily="34" charset="-122"/>
                <a:cs typeface="Roboto" pitchFamily="34" charset="-120"/>
              </a:rPr>
              <a:t>— admin auth + Phoenix lockdown</a:t>
            </a:r>
            <a:endParaRPr lang="en-US" sz="1200" dirty="0"/>
          </a:p>
        </p:txBody>
      </p:sp>
      <p:sp>
        <p:nvSpPr>
          <p:cNvPr id="9" name="Text 6"/>
          <p:cNvSpPr/>
          <p:nvPr/>
        </p:nvSpPr>
        <p:spPr>
          <a:xfrm>
            <a:off x="14416906" y="3986213"/>
            <a:ext cx="899294" cy="242888"/>
          </a:xfrm>
          <a:prstGeom prst="rect">
            <a:avLst/>
          </a:prstGeom>
          <a:noFill/>
          <a:ln/>
        </p:spPr>
        <p:txBody>
          <a:bodyPr wrap="square" lIns="25400" tIns="25400" rIns="25400" bIns="25400" rtlCol="0" anchor="t">
            <a:normAutofit/>
          </a:bodyPr>
          <a:lstStyle/>
          <a:p>
            <a:pPr algn="l" indent="0" marL="0">
              <a:buNone/>
            </a:pPr>
            <a:r>
              <a:rPr lang="en-US" sz="1200" dirty="0">
                <a:solidFill>
                  <a:srgbClr val="0047E5"/>
                </a:solidFill>
                <a:latin typeface="Roboto Mono" pitchFamily="34" charset="0"/>
                <a:ea typeface="Roboto Mono" pitchFamily="34" charset="-122"/>
                <a:cs typeface="Roboto Mono" pitchFamily="34" charset="-120"/>
              </a:rPr>
              <a:t>this week</a:t>
            </a:r>
            <a:endParaRPr lang="en-US" sz="1200" dirty="0"/>
          </a:p>
        </p:txBody>
      </p:sp>
      <p:sp>
        <p:nvSpPr>
          <p:cNvPr id="10" name="Shape 7"/>
          <p:cNvSpPr/>
          <p:nvPr/>
        </p:nvSpPr>
        <p:spPr>
          <a:xfrm>
            <a:off x="952500" y="5660231"/>
            <a:ext cx="14287500" cy="9525"/>
          </a:xfrm>
          <a:prstGeom prst="rect">
            <a:avLst/>
          </a:prstGeom>
          <a:solidFill>
            <a:srgbClr val="E2E8F0"/>
          </a:solidFill>
          <a:ln/>
        </p:spPr>
      </p:sp>
      <p:sp>
        <p:nvSpPr>
          <p:cNvPr id="11" name="Shape 8"/>
          <p:cNvSpPr/>
          <p:nvPr/>
        </p:nvSpPr>
        <p:spPr>
          <a:xfrm>
            <a:off x="952500" y="4936331"/>
            <a:ext cx="495300" cy="495300"/>
          </a:xfrm>
          <a:prstGeom prst="ellipse">
            <a:avLst/>
          </a:prstGeom>
          <a:solidFill>
            <a:srgbClr val="0047E5"/>
          </a:solidFill>
          <a:ln/>
        </p:spPr>
      </p:sp>
      <p:sp>
        <p:nvSpPr>
          <p:cNvPr id="12" name="Text 9"/>
          <p:cNvSpPr/>
          <p:nvPr/>
        </p:nvSpPr>
        <p:spPr>
          <a:xfrm>
            <a:off x="914400" y="4936331"/>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13" name="Text 10"/>
          <p:cNvSpPr/>
          <p:nvPr/>
        </p:nvSpPr>
        <p:spPr>
          <a:xfrm>
            <a:off x="1771650" y="5014913"/>
            <a:ext cx="12596850" cy="376238"/>
          </a:xfrm>
          <a:prstGeom prst="rect">
            <a:avLst/>
          </a:prstGeom>
          <a:noFill/>
          <a:ln/>
        </p:spPr>
        <p:txBody>
          <a:bodyPr wrap="square" lIns="25400" tIns="25400" rIns="25400" bIns="25400" rtlCol="0" anchor="t">
            <a:normAutofit/>
          </a:bodyPr>
          <a:lstStyle/>
          <a:p>
            <a:pPr algn="l" indent="0" marL="0">
              <a:buNone/>
            </a:pPr>
            <a:r>
              <a:rPr lang="en-US" sz="2250" b="1" dirty="0">
                <a:solidFill>
                  <a:srgbClr val="14254C"/>
                </a:solidFill>
                <a:latin typeface="Roboto" pitchFamily="34" charset="0"/>
                <a:ea typeface="Roboto" pitchFamily="34" charset="-122"/>
                <a:cs typeface="Roboto" pitchFamily="34" charset="-120"/>
              </a:rPr>
              <a:t>Parallel agent execution </a:t>
            </a:r>
            <a:pPr algn="l" indent="0" marL="0">
              <a:buNone/>
            </a:pPr>
            <a:r>
              <a:rPr lang="en-US" sz="1575" dirty="0">
                <a:solidFill>
                  <a:srgbClr val="64748B"/>
                </a:solidFill>
                <a:latin typeface="Roboto" pitchFamily="34" charset="0"/>
                <a:ea typeface="Roboto" pitchFamily="34" charset="-122"/>
                <a:cs typeface="Roboto" pitchFamily="34" charset="-120"/>
              </a:rPr>
              <a:t>— 60s → 35s, ~10 lines</a:t>
            </a:r>
            <a:endParaRPr lang="en-US" sz="1200" dirty="0"/>
          </a:p>
        </p:txBody>
      </p:sp>
      <p:sp>
        <p:nvSpPr>
          <p:cNvPr id="14" name="Text 11"/>
          <p:cNvSpPr/>
          <p:nvPr/>
        </p:nvSpPr>
        <p:spPr>
          <a:xfrm>
            <a:off x="14325451" y="5081588"/>
            <a:ext cx="990749" cy="242888"/>
          </a:xfrm>
          <a:prstGeom prst="rect">
            <a:avLst/>
          </a:prstGeom>
          <a:noFill/>
          <a:ln/>
        </p:spPr>
        <p:txBody>
          <a:bodyPr wrap="square" lIns="25400" tIns="25400" rIns="25400" bIns="25400" rtlCol="0" anchor="t">
            <a:normAutofit/>
          </a:bodyPr>
          <a:lstStyle/>
          <a:p>
            <a:pPr algn="l" indent="0" marL="0">
              <a:buNone/>
            </a:pPr>
            <a:r>
              <a:rPr lang="en-US" sz="1200" dirty="0">
                <a:solidFill>
                  <a:srgbClr val="0047E5"/>
                </a:solidFill>
                <a:latin typeface="Roboto Mono" pitchFamily="34" charset="0"/>
                <a:ea typeface="Roboto Mono" pitchFamily="34" charset="-122"/>
                <a:cs typeface="Roboto Mono" pitchFamily="34" charset="-120"/>
              </a:rPr>
              <a:t>low effort</a:t>
            </a:r>
            <a:endParaRPr lang="en-US" sz="1200" dirty="0"/>
          </a:p>
        </p:txBody>
      </p:sp>
      <p:sp>
        <p:nvSpPr>
          <p:cNvPr id="15" name="Shape 12"/>
          <p:cNvSpPr/>
          <p:nvPr/>
        </p:nvSpPr>
        <p:spPr>
          <a:xfrm>
            <a:off x="952500" y="6755606"/>
            <a:ext cx="14287500" cy="9525"/>
          </a:xfrm>
          <a:prstGeom prst="rect">
            <a:avLst/>
          </a:prstGeom>
          <a:solidFill>
            <a:srgbClr val="E2E8F0"/>
          </a:solidFill>
          <a:ln/>
        </p:spPr>
      </p:sp>
      <p:sp>
        <p:nvSpPr>
          <p:cNvPr id="16" name="Shape 13"/>
          <p:cNvSpPr/>
          <p:nvPr/>
        </p:nvSpPr>
        <p:spPr>
          <a:xfrm>
            <a:off x="952500" y="6031706"/>
            <a:ext cx="495300" cy="495300"/>
          </a:xfrm>
          <a:prstGeom prst="ellipse">
            <a:avLst/>
          </a:prstGeom>
          <a:solidFill>
            <a:srgbClr val="0047E5"/>
          </a:solidFill>
          <a:ln/>
        </p:spPr>
      </p:sp>
      <p:sp>
        <p:nvSpPr>
          <p:cNvPr id="17" name="Text 14"/>
          <p:cNvSpPr/>
          <p:nvPr/>
        </p:nvSpPr>
        <p:spPr>
          <a:xfrm>
            <a:off x="914400" y="6031706"/>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18" name="Text 15"/>
          <p:cNvSpPr/>
          <p:nvPr/>
        </p:nvSpPr>
        <p:spPr>
          <a:xfrm>
            <a:off x="1771650" y="6110288"/>
            <a:ext cx="12973644" cy="376238"/>
          </a:xfrm>
          <a:prstGeom prst="rect">
            <a:avLst/>
          </a:prstGeom>
          <a:noFill/>
          <a:ln/>
        </p:spPr>
        <p:txBody>
          <a:bodyPr wrap="square" lIns="25400" tIns="25400" rIns="25400" bIns="25400" rtlCol="0" anchor="t">
            <a:normAutofit/>
          </a:bodyPr>
          <a:lstStyle/>
          <a:p>
            <a:pPr algn="l" indent="0" marL="0">
              <a:buNone/>
            </a:pPr>
            <a:r>
              <a:rPr lang="en-US" sz="2250" b="1" dirty="0">
                <a:solidFill>
                  <a:srgbClr val="14254C"/>
                </a:solidFill>
                <a:latin typeface="Roboto" pitchFamily="34" charset="0"/>
                <a:ea typeface="Roboto" pitchFamily="34" charset="-122"/>
                <a:cs typeface="Roboto" pitchFamily="34" charset="-120"/>
              </a:rPr>
              <a:t>News aggregator </a:t>
            </a:r>
            <a:pPr algn="l" indent="0" marL="0">
              <a:buNone/>
            </a:pPr>
            <a:r>
              <a:rPr lang="en-US" sz="1575" dirty="0">
                <a:solidFill>
                  <a:srgbClr val="64748B"/>
                </a:solidFill>
                <a:latin typeface="Roboto" pitchFamily="34" charset="0"/>
                <a:ea typeface="Roboto" pitchFamily="34" charset="-122"/>
                <a:cs typeface="Roboto" pitchFamily="34" charset="-120"/>
              </a:rPr>
              <a:t>— topic-level news, multi-source</a:t>
            </a:r>
            <a:endParaRPr lang="en-US" sz="1200" dirty="0"/>
          </a:p>
        </p:txBody>
      </p:sp>
      <p:sp>
        <p:nvSpPr>
          <p:cNvPr id="19" name="Text 16"/>
          <p:cNvSpPr/>
          <p:nvPr/>
        </p:nvSpPr>
        <p:spPr>
          <a:xfrm>
            <a:off x="14691271" y="6176963"/>
            <a:ext cx="624929" cy="242888"/>
          </a:xfrm>
          <a:prstGeom prst="rect">
            <a:avLst/>
          </a:prstGeom>
          <a:noFill/>
          <a:ln/>
        </p:spPr>
        <p:txBody>
          <a:bodyPr wrap="square" lIns="25400" tIns="25400" rIns="25400" bIns="25400" rtlCol="0" anchor="t">
            <a:normAutofit/>
          </a:bodyPr>
          <a:lstStyle/>
          <a:p>
            <a:pPr algn="l" indent="0" marL="0">
              <a:buNone/>
            </a:pPr>
            <a:r>
              <a:rPr lang="en-US" sz="1200" dirty="0">
                <a:solidFill>
                  <a:srgbClr val="0047E5"/>
                </a:solidFill>
                <a:latin typeface="Roboto Mono" pitchFamily="34" charset="0"/>
                <a:ea typeface="Roboto Mono" pitchFamily="34" charset="-122"/>
                <a:cs typeface="Roboto Mono" pitchFamily="34" charset="-120"/>
              </a:rPr>
              <a:t>medium</a:t>
            </a:r>
            <a:endParaRPr lang="en-US" sz="1200" dirty="0"/>
          </a:p>
        </p:txBody>
      </p:sp>
      <p:pic>
        <p:nvPicPr>
          <p:cNvPr id="20" name="Image 1" descr="preencoded.png">    </p:cNvPr>
          <p:cNvPicPr>
            <a:picLocks noChangeAspect="1"/>
          </p:cNvPicPr>
          <p:nvPr/>
        </p:nvPicPr>
        <p:blipFill>
          <a:blip r:embed="rId2"/>
          <a:srcRect l="0" r="0" t="0" b="0"/>
          <a:stretch/>
        </p:blipFill>
        <p:spPr>
          <a:xfrm>
            <a:off x="952500" y="7127081"/>
            <a:ext cx="495300" cy="495300"/>
          </a:xfrm>
          <a:prstGeom prst="rect">
            <a:avLst/>
          </a:prstGeom>
        </p:spPr>
      </p:pic>
      <p:sp>
        <p:nvSpPr>
          <p:cNvPr id="21" name="Text 17"/>
          <p:cNvSpPr/>
          <p:nvPr/>
        </p:nvSpPr>
        <p:spPr>
          <a:xfrm>
            <a:off x="1771650" y="7205663"/>
            <a:ext cx="12785247" cy="376238"/>
          </a:xfrm>
          <a:prstGeom prst="rect">
            <a:avLst/>
          </a:prstGeom>
          <a:noFill/>
          <a:ln/>
        </p:spPr>
        <p:txBody>
          <a:bodyPr wrap="square" lIns="25400" tIns="25400" rIns="25400" bIns="25400" rtlCol="0" anchor="t">
            <a:normAutofit/>
          </a:bodyPr>
          <a:lstStyle/>
          <a:p>
            <a:pPr algn="l" indent="0" marL="0">
              <a:buNone/>
            </a:pPr>
            <a:r>
              <a:rPr lang="en-US" sz="2250" b="1" dirty="0">
                <a:solidFill>
                  <a:srgbClr val="14254C"/>
                </a:solidFill>
                <a:latin typeface="Roboto" pitchFamily="34" charset="0"/>
                <a:ea typeface="Roboto" pitchFamily="34" charset="-122"/>
                <a:cs typeface="Roboto" pitchFamily="34" charset="-120"/>
              </a:rPr>
              <a:t>Vespa spike on a real client use case </a:t>
            </a:r>
            <a:pPr algn="l" indent="0" marL="0">
              <a:buNone/>
            </a:pPr>
            <a:r>
              <a:rPr lang="en-US" sz="1575" dirty="0">
                <a:solidFill>
                  <a:srgbClr val="64748B"/>
                </a:solidFill>
                <a:latin typeface="Roboto" pitchFamily="34" charset="0"/>
                <a:ea typeface="Roboto" pitchFamily="34" charset="-122"/>
                <a:cs typeface="Roboto" pitchFamily="34" charset="-120"/>
              </a:rPr>
              <a:t>— RAG at scale or search consolidation</a:t>
            </a:r>
            <a:endParaRPr lang="en-US" sz="1200" dirty="0"/>
          </a:p>
        </p:txBody>
      </p:sp>
      <p:sp>
        <p:nvSpPr>
          <p:cNvPr id="22" name="Text 18"/>
          <p:cNvSpPr/>
          <p:nvPr/>
        </p:nvSpPr>
        <p:spPr>
          <a:xfrm>
            <a:off x="14508361" y="7272338"/>
            <a:ext cx="807839" cy="242888"/>
          </a:xfrm>
          <a:prstGeom prst="rect">
            <a:avLst/>
          </a:prstGeom>
          <a:noFill/>
          <a:ln/>
        </p:spPr>
        <p:txBody>
          <a:bodyPr wrap="square" lIns="25400" tIns="25400" rIns="25400" bIns="25400" rtlCol="0" anchor="t">
            <a:normAutofit/>
          </a:bodyPr>
          <a:lstStyle/>
          <a:p>
            <a:pPr algn="l" indent="0" marL="0">
              <a:buNone/>
            </a:pPr>
            <a:r>
              <a:rPr lang="en-US" sz="1200" dirty="0">
                <a:solidFill>
                  <a:srgbClr val="94A3B8"/>
                </a:solidFill>
                <a:latin typeface="Roboto Mono" pitchFamily="34" charset="0"/>
                <a:ea typeface="Roboto Mono" pitchFamily="34" charset="-122"/>
                <a:cs typeface="Roboto Mono" pitchFamily="34" charset="-120"/>
              </a:rPr>
              <a:t>proposed</a:t>
            </a:r>
            <a:endParaRPr lang="en-US" sz="1200" dirty="0"/>
          </a:p>
        </p:txBody>
      </p:sp>
      <p:sp>
        <p:nvSpPr>
          <p:cNvPr id="23" name="Text 19"/>
          <p:cNvSpPr/>
          <p:nvPr/>
        </p:nvSpPr>
        <p:spPr>
          <a:xfrm>
            <a:off x="-685800" y="9501188"/>
            <a:ext cx="18021300" cy="214313"/>
          </a:xfrm>
          <a:prstGeom prst="rect">
            <a:avLst/>
          </a:prstGeom>
          <a:noFill/>
          <a:ln/>
        </p:spPr>
        <p:txBody>
          <a:bodyPr wrap="square" lIns="25400" tIns="25400" rIns="25400" bIns="25400" rtlCol="0" anchor="ctr">
            <a:normAutofit/>
          </a:bodyPr>
          <a:lstStyle/>
          <a:p>
            <a:pPr algn="r" indent="0" marL="0">
              <a:buNone/>
            </a:pPr>
            <a:r>
              <a:rPr lang="en-US" sz="1050" dirty="0">
                <a:solidFill>
                  <a:srgbClr val="94A3B8"/>
                </a:solidFill>
                <a:latin typeface="Roboto Mono" pitchFamily="34" charset="0"/>
                <a:ea typeface="Roboto Mono" pitchFamily="34" charset="-122"/>
                <a:cs typeface="Roboto Mono" pitchFamily="34" charset="-120"/>
              </a:rPr>
              <a:t>Factored · Technical review</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47E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6528" b="6528"/>
          <a:stretch/>
        </p:blipFill>
        <p:spPr>
          <a:xfrm>
            <a:off x="0" y="0"/>
            <a:ext cx="18288000" cy="10287000"/>
          </a:xfrm>
          <a:prstGeom prst="rect">
            <a:avLst/>
          </a:prstGeom>
        </p:spPr>
      </p:pic>
      <p:pic>
        <p:nvPicPr>
          <p:cNvPr id="3" name="Image 1" descr="preencoded.png">    </p:cNvPr>
          <p:cNvPicPr>
            <a:picLocks noChangeAspect="1"/>
          </p:cNvPicPr>
          <p:nvPr/>
        </p:nvPicPr>
        <p:blipFill>
          <a:blip r:embed="rId2"/>
          <a:stretch>
            <a:fillRect/>
          </a:stretch>
        </p:blipFill>
        <p:spPr>
          <a:xfrm>
            <a:off x="952500" y="800100"/>
            <a:ext cx="1550715" cy="361950"/>
          </a:xfrm>
          <a:prstGeom prst="rect">
            <a:avLst/>
          </a:prstGeom>
        </p:spPr>
      </p:pic>
      <p:sp>
        <p:nvSpPr>
          <p:cNvPr id="4" name="Text 0"/>
          <p:cNvSpPr/>
          <p:nvPr/>
        </p:nvSpPr>
        <p:spPr>
          <a:xfrm>
            <a:off x="952500" y="4448175"/>
            <a:ext cx="18021300" cy="1066800"/>
          </a:xfrm>
          <a:prstGeom prst="rect">
            <a:avLst/>
          </a:prstGeom>
          <a:noFill/>
          <a:ln/>
        </p:spPr>
        <p:txBody>
          <a:bodyPr wrap="square" lIns="25400" tIns="25400" rIns="25400" bIns="25400" rtlCol="0" anchor="t">
            <a:normAutofit/>
          </a:bodyPr>
          <a:lstStyle/>
          <a:p>
            <a:pPr algn="l" indent="0" marL="0">
              <a:lnSpc>
                <a:spcPct val="100000"/>
              </a:lnSpc>
              <a:buNone/>
            </a:pPr>
            <a:r>
              <a:rPr lang="en-US" sz="8100" b="1" spc="-150" kern="0" dirty="0">
                <a:solidFill>
                  <a:srgbClr val="FFFFFF"/>
                </a:solidFill>
                <a:latin typeface="Roboto" pitchFamily="34" charset="0"/>
                <a:ea typeface="Roboto" pitchFamily="34" charset="-122"/>
                <a:cs typeface="Roboto" pitchFamily="34" charset="-120"/>
              </a:rPr>
              <a:t>Thank you.</a:t>
            </a:r>
            <a:endParaRPr lang="en-US" sz="8100" dirty="0"/>
          </a:p>
        </p:txBody>
      </p:sp>
      <p:sp>
        <p:nvSpPr>
          <p:cNvPr id="5" name="Text 1"/>
          <p:cNvSpPr/>
          <p:nvPr/>
        </p:nvSpPr>
        <p:spPr>
          <a:xfrm>
            <a:off x="952500" y="5705475"/>
            <a:ext cx="1802130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FFFFFF">
                    <a:alpha val="85000"/>
                  </a:srgbClr>
                </a:solidFill>
                <a:latin typeface="Roboto" pitchFamily="34" charset="0"/>
                <a:ea typeface="Roboto" pitchFamily="34" charset="-122"/>
                <a:cs typeface="Roboto" pitchFamily="34" charset="-120"/>
              </a:rPr>
              <a:t>Questions welcome.</a:t>
            </a:r>
            <a:endParaRPr lang="en-US" sz="1950" dirty="0"/>
          </a:p>
        </p:txBody>
      </p:sp>
      <p:sp>
        <p:nvSpPr>
          <p:cNvPr id="6" name="Text 2"/>
          <p:cNvSpPr/>
          <p:nvPr/>
        </p:nvSpPr>
        <p:spPr>
          <a:xfrm>
            <a:off x="952500" y="9282113"/>
            <a:ext cx="1710206" cy="242888"/>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85000"/>
                  </a:srgbClr>
                </a:solidFill>
                <a:latin typeface="Roboto Mono" pitchFamily="34" charset="0"/>
                <a:ea typeface="Roboto Mono" pitchFamily="34" charset="-122"/>
                <a:cs typeface="Roboto Mono" pitchFamily="34" charset="-120"/>
              </a:rPr>
              <a:t>Daniel Montenegro</a:t>
            </a:r>
            <a:endParaRPr lang="en-US" sz="1200" dirty="0"/>
          </a:p>
        </p:txBody>
      </p:sp>
      <p:sp>
        <p:nvSpPr>
          <p:cNvPr id="7" name="Text 3"/>
          <p:cNvSpPr/>
          <p:nvPr/>
        </p:nvSpPr>
        <p:spPr>
          <a:xfrm>
            <a:off x="15963677" y="9282113"/>
            <a:ext cx="1509006" cy="242888"/>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85000"/>
                  </a:srgbClr>
                </a:solidFill>
                <a:latin typeface="Roboto Mono" pitchFamily="34" charset="0"/>
                <a:ea typeface="Roboto Mono" pitchFamily="34" charset="-122"/>
                <a:cs typeface="Roboto Mono" pitchFamily="34" charset="-120"/>
              </a:rPr>
              <a:t>www.factored.ai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2026-06-29T14:30:41Z</dcterms:created>
  <dcterms:modified xsi:type="dcterms:W3CDTF">2026-06-29T14:30:41Z</dcterms:modified>
</cp:coreProperties>
</file>